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dat" ContentType="application/x-fontdata"/>
  <Default Extension="bin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media/image3.bin" ContentType="image/jpe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media/image15.bin" ContentType="image/svg+xml"/>
  <Override PartName="/ppt/slides/slide4.xml" ContentType="application/vnd.openxmlformats-officedocument.presentationml.slide+xml"/>
  <Override PartName="/ppt/media/image19.bin" ContentType="image/svg+xml"/>
  <Override PartName="/ppt/slides/slide5.xml" ContentType="application/vnd.openxmlformats-officedocument.presentationml.slide+xml"/>
  <Override PartName="/ppt/media/image24.bin" ContentType="image/svg+xml"/>
  <Override PartName="/ppt/media/image31.bin" ContentType="image/svg+xml"/>
  <Override PartName="/ppt/media/image38.bin" ContentType="image/svg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media/image92.bin" ContentType="image/svg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embedTrueTypeFonts="1" saveSubsetFonts="0">
  <p:sldMasterIdLst>
    <p:sldMasterId id="2147483672" r:id="rId1"/>
  </p:sldMasterIdLst>
  <p:sldIdLst>
    <p:sldId id="301" r:id="rId9"/>
    <p:sldId id="321" r:id="rId23"/>
    <p:sldId id="369" r:id="rId39"/>
    <p:sldId id="383" r:id="rId46"/>
    <p:sldId id="422" r:id="rId55"/>
    <p:sldId id="469" r:id="rId100"/>
    <p:sldId id="516" r:id="rId110"/>
    <p:sldId id="552" r:id="rId144"/>
    <p:sldId id="592" r:id="rId182"/>
    <p:sldId id="648" r:id="rId200"/>
  </p:sldIdLst>
  <p:sldSz cx="18288000" cy="10287000"/>
  <p:notesSz cx="18288000" cy="10287000"/>
  <p:embeddedFontLst>
    <p:embeddedFont>
      <p:font typeface="Lexend Medium" pitchFamily="2" charset="77"/>
      <p:regular r:id="rId6"/>
    </p:embeddedFont>
    <p:embeddedFont>
      <p:font typeface="Inter" pitchFamily="2" charset="77"/>
      <p:regular r:id="rId7"/>
    </p:embeddedFont>
    <p:embeddedFont>
      <p:font typeface="Lexend" pitchFamily="2" charset="77"/>
      <p:bold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viewProps" Target="viewProps.xml" Id="rId3" /><Relationship Type="http://schemas.openxmlformats.org/officeDocument/2006/relationships/presProps" Target="presProps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5" /><Relationship Type="http://schemas.openxmlformats.org/officeDocument/2006/relationships/theme" Target="theme/theme1.xml" Id="rId4" /><Relationship Type="http://schemas.openxmlformats.org/officeDocument/2006/relationships/font" Target="/ppt/fonts/font.dat" Id="rId6" /><Relationship Type="http://schemas.openxmlformats.org/officeDocument/2006/relationships/font" Target="/ppt/fonts/font2.dat" Id="rId7" /><Relationship Type="http://schemas.openxmlformats.org/officeDocument/2006/relationships/font" Target="/ppt/fonts/font3.dat" Id="rId8" /><Relationship Type="http://schemas.openxmlformats.org/officeDocument/2006/relationships/slide" Target="/ppt/slides/slide1.xml" Id="rId9" /><Relationship Type="http://schemas.openxmlformats.org/officeDocument/2006/relationships/slide" Target="/ppt/slides/slide2.xml" Id="rId23" /><Relationship Type="http://schemas.openxmlformats.org/officeDocument/2006/relationships/slide" Target="/ppt/slides/slide3.xml" Id="rId39" /><Relationship Type="http://schemas.openxmlformats.org/officeDocument/2006/relationships/slide" Target="/ppt/slides/slide4.xml" Id="rId46" /><Relationship Type="http://schemas.openxmlformats.org/officeDocument/2006/relationships/slide" Target="/ppt/slides/slide5.xml" Id="rId55" /><Relationship Type="http://schemas.openxmlformats.org/officeDocument/2006/relationships/slide" Target="/ppt/slides/slide6.xml" Id="rId100" /><Relationship Type="http://schemas.openxmlformats.org/officeDocument/2006/relationships/slide" Target="/ppt/slides/slide7.xml" Id="rId110" /><Relationship Type="http://schemas.openxmlformats.org/officeDocument/2006/relationships/slide" Target="/ppt/slides/slide8.xml" Id="rId144" /><Relationship Type="http://schemas.openxmlformats.org/officeDocument/2006/relationships/slide" Target="/ppt/slides/slide9.xml" Id="rId182" /><Relationship Type="http://schemas.openxmlformats.org/officeDocument/2006/relationships/slide" Target="/ppt/slides/slide10.xml" Id="rId200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757450"/>
      </p:ext>
    </p:extLst>
  </p:cSld>
  <p:clrMapOvr>
    <a:masterClrMapping/>
  </p:clrMapOvr>
</p:sldLayout>
</file>

<file path=ppt/slideLayouts/slideLayout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595789"/>
      </p:ext>
    </p:extLst>
  </p:cSld>
  <p:clrMapOvr>
    <a:masterClrMapping/>
  </p:clrMapOvr>
</p:sldLayout>
</file>

<file path=ppt/slideLayouts/slideLayout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559282"/>
      </p:ext>
    </p:extLst>
  </p:cSld>
  <p:clrMapOvr>
    <a:masterClrMapping/>
  </p:clrMapOvr>
</p:sldLayout>
</file>

<file path=ppt/slideLayouts/slideLayout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65825"/>
      </p:ext>
    </p:extLst>
  </p:cSld>
  <p:clrMapOvr>
    <a:masterClrMapping/>
  </p:clrMapOvr>
</p:sldLayout>
</file>

<file path=ppt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391113"/>
      </p:ext>
    </p:extLst>
  </p:cSld>
  <p:clrMapOvr>
    <a:masterClrMapping/>
  </p:clrMapOvr>
</p:sldLayout>
</file>

<file path=ppt/slideLayouts/slideLayout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817637"/>
      </p:ext>
    </p:extLst>
  </p:cSld>
  <p:clrMapOvr>
    <a:masterClrMapping/>
  </p:clrMapOvr>
</p:sldLayout>
</file>

<file path=ppt/slideLayouts/slideLayout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754893"/>
      </p:ext>
    </p:extLst>
  </p:cSld>
  <p:clrMapOvr>
    <a:masterClrMapping/>
  </p:clrMapOvr>
</p:sldLayout>
</file>

<file path=ppt/slideLayouts/slideLayout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941404"/>
      </p:ext>
    </p:extLst>
  </p:cSld>
  <p:clrMapOvr>
    <a:masterClrMapping/>
  </p:clrMapOvr>
</p:sldLayout>
</file>

<file path=ppt/slideLayouts/slideLayout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80297"/>
      </p:ext>
    </p:extLst>
  </p:cSld>
  <p:clrMapOvr>
    <a:masterClrMapping/>
  </p:clrMapOvr>
</p:sldLayout>
</file>

<file path=ppt/slideLayouts/slideLayout10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150442"/>
      </p:ext>
    </p:extLst>
  </p:cSld>
  <p:clrMapOvr>
    <a:masterClrMapping/>
  </p:clrMapOvr>
</p:sldLayout>
</file>

<file path=ppt/slideLayouts/slideLayout1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084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0" /><Relationship Type="http://schemas.openxmlformats.org/officeDocument/2006/relationships/image" Target="/ppt/media/image.bin" Id="rId12" /><Relationship Type="http://schemas.openxmlformats.org/officeDocument/2006/relationships/image" Target="/ppt/media/image2.bin" Id="rId14" /><Relationship Type="http://schemas.openxmlformats.org/officeDocument/2006/relationships/image" Target="/ppt/media/image3.bin" Id="rId16" /><Relationship Type="http://schemas.openxmlformats.org/officeDocument/2006/relationships/image" Target="/ppt/media/image4.bin" Id="rId18" /><Relationship Type="http://schemas.openxmlformats.org/officeDocument/2006/relationships/image" Target="/ppt/media/image5.bin" Id="rId20" /><Relationship Type="http://schemas.openxmlformats.org/officeDocument/2006/relationships/image" Target="/ppt/media/image6.bin" Id="rId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24" /><Relationship Type="http://schemas.openxmlformats.org/officeDocument/2006/relationships/image" Target="/ppt/media/image7.bin" Id="rId26" /><Relationship Type="http://schemas.openxmlformats.org/officeDocument/2006/relationships/image" Target="/ppt/media/image8.bin" Id="rId28" /><Relationship Type="http://schemas.openxmlformats.org/officeDocument/2006/relationships/image" Target="/ppt/media/image9.bin" Id="rId30" /><Relationship Type="http://schemas.openxmlformats.org/officeDocument/2006/relationships/image" Target="/ppt/media/image10.bin" Id="rId32" /><Relationship Type="http://schemas.openxmlformats.org/officeDocument/2006/relationships/image" Target="/ppt/media/image11.bin" Id="rId34" /><Relationship Type="http://schemas.openxmlformats.org/officeDocument/2006/relationships/image" Target="/ppt/media/image12.bin" Id="rId36" /><Relationship Type="http://schemas.openxmlformats.org/officeDocument/2006/relationships/image" Target="/ppt/media/image13.bin" Id="rId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40" /><Relationship Type="http://schemas.openxmlformats.org/officeDocument/2006/relationships/image" Target="/ppt/media/image14.bin" Id="rId42" /><Relationship Type="http://schemas.openxmlformats.org/officeDocument/2006/relationships/image" Target="/ppt/media/image15.bin" Id="rId44" /><Relationship Type="http://schemas.openxmlformats.org/officeDocument/2006/relationships/image" Target="/ppt/media/image16.bin" Id="rId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47" /><Relationship Type="http://schemas.openxmlformats.org/officeDocument/2006/relationships/image" Target="/ppt/media/image17.bin" Id="rId49" /><Relationship Type="http://schemas.openxmlformats.org/officeDocument/2006/relationships/image" Target="/ppt/media/image18.bin" Id="rId51" /><Relationship Type="http://schemas.openxmlformats.org/officeDocument/2006/relationships/image" Target="/ppt/media/image19.bin" Id="rId53" /><Relationship Type="http://schemas.openxmlformats.org/officeDocument/2006/relationships/image" Target="/ppt/media/image20.bin" Id="rId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56" /><Relationship Type="http://schemas.openxmlformats.org/officeDocument/2006/relationships/image" Target="/ppt/media/image21.bin" Id="rId58" /><Relationship Type="http://schemas.openxmlformats.org/officeDocument/2006/relationships/image" Target="/ppt/media/image22.bin" Id="rId60" /><Relationship Type="http://schemas.openxmlformats.org/officeDocument/2006/relationships/image" Target="/ppt/media/image23.bin" Id="rId62" /><Relationship Type="http://schemas.openxmlformats.org/officeDocument/2006/relationships/image" Target="/ppt/media/image24.bin" Id="rId64" /><Relationship Type="http://schemas.openxmlformats.org/officeDocument/2006/relationships/image" Target="/ppt/media/image25.bin" Id="rId65" /><Relationship Type="http://schemas.openxmlformats.org/officeDocument/2006/relationships/image" Target="/ppt/media/image26.bin" Id="rId67" /><Relationship Type="http://schemas.openxmlformats.org/officeDocument/2006/relationships/image" Target="/ppt/media/image27.bin" Id="rId69" /><Relationship Type="http://schemas.openxmlformats.org/officeDocument/2006/relationships/image" Target="/ppt/media/image28.bin" Id="rId71" /><Relationship Type="http://schemas.openxmlformats.org/officeDocument/2006/relationships/image" Target="/ppt/media/image29.bin" Id="rId73" /><Relationship Type="http://schemas.openxmlformats.org/officeDocument/2006/relationships/image" Target="/ppt/media/image30.bin" Id="rId75" /><Relationship Type="http://schemas.openxmlformats.org/officeDocument/2006/relationships/image" Target="/ppt/media/image31.bin" Id="rId77" /><Relationship Type="http://schemas.openxmlformats.org/officeDocument/2006/relationships/image" Target="/ppt/media/image32.bin" Id="rId78" /><Relationship Type="http://schemas.openxmlformats.org/officeDocument/2006/relationships/image" Target="/ppt/media/image33.bin" Id="rId80" /><Relationship Type="http://schemas.openxmlformats.org/officeDocument/2006/relationships/image" Target="/ppt/media/image34.bin" Id="rId82" /><Relationship Type="http://schemas.openxmlformats.org/officeDocument/2006/relationships/image" Target="/ppt/media/image35.bin" Id="rId84" /><Relationship Type="http://schemas.openxmlformats.org/officeDocument/2006/relationships/image" Target="/ppt/media/image36.bin" Id="rId86" /><Relationship Type="http://schemas.openxmlformats.org/officeDocument/2006/relationships/image" Target="/ppt/media/image37.bin" Id="rId88" /><Relationship Type="http://schemas.openxmlformats.org/officeDocument/2006/relationships/image" Target="/ppt/media/image38.bin" Id="rId90" /><Relationship Type="http://schemas.openxmlformats.org/officeDocument/2006/relationships/image" Target="/ppt/media/image39.bin" Id="rId91" /><Relationship Type="http://schemas.openxmlformats.org/officeDocument/2006/relationships/image" Target="/ppt/media/image40.bin" Id="rId93" /><Relationship Type="http://schemas.openxmlformats.org/officeDocument/2006/relationships/image" Target="/ppt/media/image41.bin" Id="rId95" /><Relationship Type="http://schemas.openxmlformats.org/officeDocument/2006/relationships/image" Target="/ppt/media/image42.bin" Id="rId97" /><Relationship Type="http://schemas.openxmlformats.org/officeDocument/2006/relationships/image" Target="/ppt/media/image43.bin" Id="rId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01" /><Relationship Type="http://schemas.openxmlformats.org/officeDocument/2006/relationships/image" Target="/ppt/media/image44.bin" Id="rId103" /><Relationship Type="http://schemas.openxmlformats.org/officeDocument/2006/relationships/image" Target="/ppt/media/image45.bin" Id="rId105" /><Relationship Type="http://schemas.openxmlformats.org/officeDocument/2006/relationships/image" Target="/ppt/media/image46.bin" Id="rId107" /><Relationship Type="http://schemas.openxmlformats.org/officeDocument/2006/relationships/image" Target="/ppt/media/image47.bin" Id="rId1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11" /><Relationship Type="http://schemas.openxmlformats.org/officeDocument/2006/relationships/image" Target="/ppt/media/image48.bin" Id="rId113" /><Relationship Type="http://schemas.openxmlformats.org/officeDocument/2006/relationships/image" Target="/ppt/media/image49.bin" Id="rId115" /><Relationship Type="http://schemas.openxmlformats.org/officeDocument/2006/relationships/image" Target="/ppt/media/image50.bin" Id="rId117" /><Relationship Type="http://schemas.openxmlformats.org/officeDocument/2006/relationships/image" Target="/ppt/media/image51.bin" Id="rId119" /><Relationship Type="http://schemas.openxmlformats.org/officeDocument/2006/relationships/image" Target="/ppt/media/image52.bin" Id="rId121" /><Relationship Type="http://schemas.openxmlformats.org/officeDocument/2006/relationships/image" Target="/ppt/media/image53.bin" Id="rId123" /><Relationship Type="http://schemas.openxmlformats.org/officeDocument/2006/relationships/image" Target="/ppt/media/image54.bin" Id="rId125" /><Relationship Type="http://schemas.openxmlformats.org/officeDocument/2006/relationships/image" Target="/ppt/media/image55.bin" Id="rId127" /><Relationship Type="http://schemas.openxmlformats.org/officeDocument/2006/relationships/image" Target="/ppt/media/image56.bin" Id="rId129" /><Relationship Type="http://schemas.openxmlformats.org/officeDocument/2006/relationships/image" Target="/ppt/media/image57.bin" Id="rId131" /><Relationship Type="http://schemas.openxmlformats.org/officeDocument/2006/relationships/image" Target="/ppt/media/image58.bin" Id="rId133" /><Relationship Type="http://schemas.openxmlformats.org/officeDocument/2006/relationships/image" Target="/ppt/media/image59.bin" Id="rId135" /><Relationship Type="http://schemas.openxmlformats.org/officeDocument/2006/relationships/image" Target="/ppt/media/image60.bin" Id="rId137" /><Relationship Type="http://schemas.openxmlformats.org/officeDocument/2006/relationships/image" Target="/ppt/media/image61.bin" Id="rId139" /><Relationship Type="http://schemas.openxmlformats.org/officeDocument/2006/relationships/image" Target="/ppt/media/image62.bin" Id="rId141" /><Relationship Type="http://schemas.openxmlformats.org/officeDocument/2006/relationships/image" Target="/ppt/media/image63.bin" Id="rId1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45" /><Relationship Type="http://schemas.openxmlformats.org/officeDocument/2006/relationships/image" Target="/ppt/media/image64.bin" Id="rId147" /><Relationship Type="http://schemas.openxmlformats.org/officeDocument/2006/relationships/image" Target="/ppt/media/image65.bin" Id="rId149" /><Relationship Type="http://schemas.openxmlformats.org/officeDocument/2006/relationships/image" Target="/ppt/media/image66.bin" Id="rId151" /><Relationship Type="http://schemas.openxmlformats.org/officeDocument/2006/relationships/image" Target="/ppt/media/image67.bin" Id="rId153" /><Relationship Type="http://schemas.openxmlformats.org/officeDocument/2006/relationships/image" Target="/ppt/media/image68.bin" Id="rId155" /><Relationship Type="http://schemas.openxmlformats.org/officeDocument/2006/relationships/image" Target="/ppt/media/image69.bin" Id="rId157" /><Relationship Type="http://schemas.openxmlformats.org/officeDocument/2006/relationships/image" Target="/ppt/media/image70.bin" Id="rId159" /><Relationship Type="http://schemas.openxmlformats.org/officeDocument/2006/relationships/image" Target="/ppt/media/image71.bin" Id="rId161" /><Relationship Type="http://schemas.openxmlformats.org/officeDocument/2006/relationships/image" Target="/ppt/media/image72.bin" Id="rId163" /><Relationship Type="http://schemas.openxmlformats.org/officeDocument/2006/relationships/image" Target="/ppt/media/image73.bin" Id="rId165" /><Relationship Type="http://schemas.openxmlformats.org/officeDocument/2006/relationships/image" Target="/ppt/media/image74.bin" Id="rId167" /><Relationship Type="http://schemas.openxmlformats.org/officeDocument/2006/relationships/image" Target="/ppt/media/image75.bin" Id="rId169" /><Relationship Type="http://schemas.openxmlformats.org/officeDocument/2006/relationships/image" Target="/ppt/media/image76.bin" Id="rId171" /><Relationship Type="http://schemas.openxmlformats.org/officeDocument/2006/relationships/image" Target="/ppt/media/image77.bin" Id="rId173" /><Relationship Type="http://schemas.openxmlformats.org/officeDocument/2006/relationships/image" Target="/ppt/media/image78.bin" Id="rId175" /><Relationship Type="http://schemas.openxmlformats.org/officeDocument/2006/relationships/image" Target="/ppt/media/image79.bin" Id="rId177" /><Relationship Type="http://schemas.openxmlformats.org/officeDocument/2006/relationships/image" Target="/ppt/media/image80.bin" Id="rId179" /><Relationship Type="http://schemas.openxmlformats.org/officeDocument/2006/relationships/image" Target="/ppt/media/image81.bin" Id="rId1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83" /><Relationship Type="http://schemas.openxmlformats.org/officeDocument/2006/relationships/image" Target="/ppt/media/image82.bin" Id="rId185" /><Relationship Type="http://schemas.openxmlformats.org/officeDocument/2006/relationships/image" Target="/ppt/media/image83.bin" Id="rId187" /><Relationship Type="http://schemas.openxmlformats.org/officeDocument/2006/relationships/image" Target="/ppt/media/image84.bin" Id="rId189" /><Relationship Type="http://schemas.openxmlformats.org/officeDocument/2006/relationships/image" Target="/ppt/media/image85.bin" Id="rId191" /><Relationship Type="http://schemas.openxmlformats.org/officeDocument/2006/relationships/image" Target="/ppt/media/image86.bin" Id="rId193" /><Relationship Type="http://schemas.openxmlformats.org/officeDocument/2006/relationships/image" Target="/ppt/media/image87.bin" Id="rId195" /><Relationship Type="http://schemas.openxmlformats.org/officeDocument/2006/relationships/image" Target="/ppt/media/image88.bin" Id="rId197" /><Relationship Type="http://schemas.openxmlformats.org/officeDocument/2006/relationships/image" Target="/ppt/media/image89.bin" Id="rId1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201" /><Relationship Type="http://schemas.openxmlformats.org/officeDocument/2006/relationships/image" Target="/ppt/media/image90.bin" Id="rId203" /><Relationship Type="http://schemas.openxmlformats.org/officeDocument/2006/relationships/image" Target="/ppt/media/image91.bin" Id="rId205" /><Relationship Type="http://schemas.openxmlformats.org/officeDocument/2006/relationships/image" Target="/ppt/media/image92.bin" Id="rId207" /><Relationship Type="http://schemas.openxmlformats.org/officeDocument/2006/relationships/image" Target="/ppt/media/image93.bin" Id="rId208" 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0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 amt="100000"/>
          </a:blip>
          <a:stretch/>
        </p:blipFill>
        <p:spPr>
          <a:xfrm>
            <a:off x="3315593" y="0"/>
            <a:ext cx="14972405" cy="10287000"/>
          </a:xfrm>
          <a:prstGeom prst="rect">
            <a:avLst/>
          </a:prstGeom>
        </p:spPr>
      </p:pic>
      <p:pic>
        <p:nvPicPr>
          <p:cNvPr id="304" name="coverimag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6">
            <a:alphaModFix amt="100000"/>
          </a:blip>
          <a:stretch/>
        </p:blipFill>
        <p:spPr>
          <a:xfrm>
            <a:off x="761905" y="761905"/>
            <a:ext cx="16764000" cy="8763000"/>
          </a:xfrm>
          <a:prstGeom prst="rect">
            <a:avLst/>
          </a:prstGeom>
        </p:spPr>
      </p:pic>
      <p:pic>
        <p:nvPicPr>
          <p:cNvPr id="30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alphaModFix amt="60000"/>
          </a:blip>
          <a:stretch/>
        </p:blipFill>
        <p:spPr>
          <a:xfrm>
            <a:off x="761905" y="761905"/>
            <a:ext cx="16764000" cy="8763000"/>
          </a:xfrm>
          <a:prstGeom prst="rect">
            <a:avLst/>
          </a:prstGeom>
        </p:spPr>
      </p:pic>
      <p:sp>
        <p:nvSpPr>
          <p:cNvPr id="308" name="Presenter Name-478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23905" y="7840885"/>
            <a:ext cx="152733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FFFFFF">
                    <a:alpha val="100000"/>
                  </a:srgbClr>
                </a:solidFill>
                <a:latin typeface="Lexend Medium" panose="00000700000000000000" pitchFamily="2" charset="0"/>
              </a:rPr>
              <a:t>Skandan </a:t>
            </a:r>
          </a:p>
        </p:txBody>
      </p:sp>
      <p:sp>
        <p:nvSpPr>
          <p:cNvPr id="310" name="Presenter Designation-497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23905" y="8160925"/>
            <a:ext cx="15273338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AI/ML Engineer</a:t>
            </a:r>
          </a:p>
        </p:txBody>
      </p:sp>
      <p:pic>
        <p:nvPicPr>
          <p:cNvPr id="312" name="sgPresentorImageNod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0">
            <a:alphaModFix amt="100000"/>
          </a:blip>
          <a:stretch/>
        </p:blipFill>
        <p:spPr>
          <a:xfrm>
            <a:off x="1523905" y="6774370"/>
            <a:ext cx="876300" cy="876300"/>
          </a:xfrm>
          <a:prstGeom prst="rect">
            <a:avLst/>
          </a:prstGeom>
        </p:spPr>
      </p:pic>
      <p:pic>
        <p:nvPicPr>
          <p:cNvPr id="31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">
            <a:alphaModFix amt="100000"/>
          </a:blip>
          <a:stretch/>
        </p:blipFill>
        <p:spPr>
          <a:xfrm>
            <a:off x="2137315" y="7387685"/>
            <a:ext cx="266700" cy="266700"/>
          </a:xfrm>
          <a:prstGeom prst="rect">
            <a:avLst/>
          </a:prstGeom>
        </p:spPr>
      </p:pic>
      <p:sp>
        <p:nvSpPr>
          <p:cNvPr id="316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23905" y="2506885"/>
            <a:ext cx="12225338" cy="24860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dirty="0">
                <a:solidFill>
                  <a:srgbClr val="FFFFFF">
                    <a:alpha val="100000"/>
                  </a:srgbClr>
                </a:solidFill>
                <a:latin typeface="Lexend Medium" panose="00000700000000000000" pitchFamily="2" charset="0"/>
              </a:rPr>
              <a:t>Centralized Application Logging and Monitoring for Offsite Environments</a:t>
            </a:r>
          </a:p>
        </p:txBody>
      </p:sp>
      <p:sp>
        <p:nvSpPr>
          <p:cNvPr id="318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23905" y="5101400"/>
            <a:ext cx="12225338" cy="12287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Enterprise observability for DCP, GCP, and legacy apps</a:t>
            </a:r>
            <a:r>
              <a:rPr lang="en-US" sz="2100" spc="-4" dirty="0">
                <a:solidFill>
                  <a:srgbClr val="FFFFFF"/>
                </a:solidFill>
                <a:latin typeface="Inter" panose="00000700000000000000" pitchFamily="2" charset="0"/>
              </a:rPr>
              <a:t>Centralize telemetry, ensure compliance-ready controls, and enable early anomaly detection for Wholesale Credit and Lending offsite teams.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2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pic>
        <p:nvPicPr>
          <p:cNvPr id="32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">
            <a:alphaModFix amt="100000"/>
          </a:blip>
          <a:stretch/>
        </p:blipFill>
        <p:spPr>
          <a:xfrm>
            <a:off x="760666" y="4294822"/>
            <a:ext cx="533400" cy="533400"/>
          </a:xfrm>
          <a:prstGeom prst="rect">
            <a:avLst/>
          </a:prstGeom>
        </p:spPr>
      </p:pic>
      <p:sp>
        <p:nvSpPr>
          <p:cNvPr id="326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65822" y="4351496"/>
            <a:ext cx="357188" cy="428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308"/>
              </a:lnSpc>
            </a:pPr>
            <a:r>
              <a:rPr lang="en-US" sz="2205" dirty="0">
                <a:solidFill>
                  <a:srgbClr val="FFFFFF">
                    <a:alpha val="100000"/>
                  </a:srgbClr>
                </a:solidFill>
                <a:latin typeface="Lexend Medium" panose="00000700000000000000" pitchFamily="2" charset="0"/>
              </a:rPr>
              <a:t>01</a:t>
            </a:r>
          </a:p>
        </p:txBody>
      </p:sp>
      <p:sp>
        <p:nvSpPr>
          <p:cNvPr id="328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84376" y="4401407"/>
            <a:ext cx="46815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Centralized visibility</a:t>
            </a:r>
          </a:p>
        </p:txBody>
      </p:sp>
      <p:sp>
        <p:nvSpPr>
          <p:cNvPr id="330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4942427"/>
            <a:ext cx="540543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All app, API, DB, integration, and infra logs converge to one observability pane</a:t>
            </a:r>
          </a:p>
        </p:txBody>
      </p:sp>
      <p:pic>
        <p:nvPicPr>
          <p:cNvPr id="33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">
            <a:alphaModFix amt="100000"/>
          </a:blip>
          <a:stretch/>
        </p:blipFill>
        <p:spPr>
          <a:xfrm>
            <a:off x="6440424" y="4294822"/>
            <a:ext cx="533400" cy="533400"/>
          </a:xfrm>
          <a:prstGeom prst="rect">
            <a:avLst/>
          </a:prstGeom>
        </p:spPr>
      </p:pic>
      <p:sp>
        <p:nvSpPr>
          <p:cNvPr id="334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541960" y="4351496"/>
            <a:ext cx="366712" cy="428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308"/>
              </a:lnSpc>
            </a:pPr>
            <a:r>
              <a:rPr lang="en-US" sz="2205" dirty="0">
                <a:solidFill>
                  <a:srgbClr val="FFFFFF">
                    <a:alpha val="100000"/>
                  </a:srgbClr>
                </a:solidFill>
                <a:latin typeface="Lexend Medium" panose="00000700000000000000" pitchFamily="2" charset="0"/>
              </a:rPr>
              <a:t>02</a:t>
            </a:r>
          </a:p>
        </p:txBody>
      </p:sp>
      <p:sp>
        <p:nvSpPr>
          <p:cNvPr id="336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164134" y="4401407"/>
            <a:ext cx="46815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Early anomaly detection</a:t>
            </a:r>
          </a:p>
        </p:txBody>
      </p:sp>
      <p:sp>
        <p:nvSpPr>
          <p:cNvPr id="338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440424" y="4942427"/>
            <a:ext cx="540543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Combine metrics, logs, traces, and ML-assisted detection for fast alerts</a:t>
            </a:r>
          </a:p>
        </p:txBody>
      </p:sp>
      <p:pic>
        <p:nvPicPr>
          <p:cNvPr id="34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4">
            <a:alphaModFix amt="100000"/>
          </a:blip>
          <a:stretch/>
        </p:blipFill>
        <p:spPr>
          <a:xfrm>
            <a:off x="12120086" y="4294822"/>
            <a:ext cx="533400" cy="533400"/>
          </a:xfrm>
          <a:prstGeom prst="rect">
            <a:avLst/>
          </a:prstGeom>
        </p:spPr>
      </p:pic>
      <p:sp>
        <p:nvSpPr>
          <p:cNvPr id="342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221337" y="4351496"/>
            <a:ext cx="366712" cy="428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308"/>
              </a:lnSpc>
            </a:pPr>
            <a:r>
              <a:rPr lang="en-US" sz="2205" dirty="0">
                <a:solidFill>
                  <a:srgbClr val="FFFFFF">
                    <a:alpha val="100000"/>
                  </a:srgbClr>
                </a:solidFill>
                <a:latin typeface="Lexend Medium" panose="00000700000000000000" pitchFamily="2" charset="0"/>
              </a:rPr>
              <a:t>03</a:t>
            </a:r>
          </a:p>
        </p:txBody>
      </p:sp>
      <p:sp>
        <p:nvSpPr>
          <p:cNvPr id="344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843891" y="4401407"/>
            <a:ext cx="46815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Risk and audit compliance</a:t>
            </a:r>
          </a:p>
        </p:txBody>
      </p:sp>
      <p:sp>
        <p:nvSpPr>
          <p:cNvPr id="346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120086" y="4942427"/>
            <a:ext cx="540543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Enforce immutability, retention, access controls, and masking for audits</a:t>
            </a:r>
          </a:p>
        </p:txBody>
      </p:sp>
      <p:pic>
        <p:nvPicPr>
          <p:cNvPr id="34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alphaModFix amt="100000"/>
          </a:blip>
          <a:stretch/>
        </p:blipFill>
        <p:spPr>
          <a:xfrm>
            <a:off x="760666" y="6066377"/>
            <a:ext cx="533400" cy="533400"/>
          </a:xfrm>
          <a:prstGeom prst="rect">
            <a:avLst/>
          </a:prstGeom>
        </p:spPr>
      </p:pic>
      <p:sp>
        <p:nvSpPr>
          <p:cNvPr id="350" name="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50106" y="6123051"/>
            <a:ext cx="385762" cy="428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308"/>
              </a:lnSpc>
            </a:pPr>
            <a:r>
              <a:rPr lang="en-US" sz="2205" dirty="0">
                <a:solidFill>
                  <a:srgbClr val="000000">
                    <a:alpha val="100000"/>
                  </a:srgbClr>
                </a:solidFill>
                <a:latin typeface="Lexend Medium" panose="00000700000000000000" pitchFamily="2" charset="0"/>
              </a:rPr>
              <a:t>04</a:t>
            </a:r>
          </a:p>
        </p:txBody>
      </p:sp>
      <p:sp>
        <p:nvSpPr>
          <p:cNvPr id="352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84376" y="6066377"/>
            <a:ext cx="4681538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Standardization across environments</a:t>
            </a:r>
          </a:p>
        </p:txBody>
      </p:sp>
      <p:sp>
        <p:nvSpPr>
          <p:cNvPr id="354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6820376"/>
            <a:ext cx="540543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Align logging format, error taxonomy, KPIs, and alerting standards</a:t>
            </a:r>
          </a:p>
        </p:txBody>
      </p:sp>
      <p:pic>
        <p:nvPicPr>
          <p:cNvPr id="35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alphaModFix amt="100000"/>
          </a:blip>
          <a:stretch/>
        </p:blipFill>
        <p:spPr>
          <a:xfrm>
            <a:off x="6440424" y="6066377"/>
            <a:ext cx="533400" cy="533400"/>
          </a:xfrm>
          <a:prstGeom prst="rect">
            <a:avLst/>
          </a:prstGeom>
        </p:spPr>
      </p:pic>
      <p:sp>
        <p:nvSpPr>
          <p:cNvPr id="358" name="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537770" y="6123051"/>
            <a:ext cx="376238" cy="428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308"/>
              </a:lnSpc>
            </a:pPr>
            <a:r>
              <a:rPr lang="en-US" sz="2205" dirty="0">
                <a:solidFill>
                  <a:srgbClr val="FFFFFF">
                    <a:alpha val="100000"/>
                  </a:srgbClr>
                </a:solidFill>
                <a:latin typeface="Lexend Medium" panose="00000700000000000000" pitchFamily="2" charset="0"/>
              </a:rPr>
              <a:t>05</a:t>
            </a:r>
          </a:p>
        </p:txBody>
      </p:sp>
      <p:sp>
        <p:nvSpPr>
          <p:cNvPr id="360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164134" y="6172962"/>
            <a:ext cx="46815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Offsite readiness</a:t>
            </a:r>
          </a:p>
        </p:txBody>
      </p:sp>
      <p:sp>
        <p:nvSpPr>
          <p:cNvPr id="362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440424" y="6713887"/>
            <a:ext cx="540543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Enable remote access, disaster recovery replication, and secure failover</a:t>
            </a:r>
          </a:p>
        </p:txBody>
      </p:sp>
      <p:sp>
        <p:nvSpPr>
          <p:cNvPr id="364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2662"/>
            <a:ext cx="13234988" cy="666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Strategic Objectives for </a:t>
            </a:r>
            <a:r>
              <a:rPr lang="en-US" sz="4200" b="1" dirty="0">
                <a:solidFill>
                  <a:srgbClr val="131523"/>
                </a:solidFill>
                <a:latin typeface="Lexend Medium" panose="00000700000000000000" pitchFamily="2" charset="0"/>
              </a:rPr>
              <a:t>Observability</a:t>
            </a:r>
          </a:p>
        </p:txBody>
      </p:sp>
      <p:sp>
        <p:nvSpPr>
          <p:cNvPr id="366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1483424"/>
            <a:ext cx="132349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Five outcomes to secure centralized, compliant, and offsite-ready logging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3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2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71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5">
            <a:alphaModFix amt="100000"/>
            <a:extLst>
              <a:ext uri="{E14D7786-AD8C-44BD-9202-78E6461880B2}">
                <asvg:svgBlip xmlns:r="http://schemas.openxmlformats.org/officeDocument/2006/relationships" xmlns:asvg="http://schemas.microsoft.com/office/drawing/2016/SVG/main" r:embed="rId44"/>
                <a14:useLocalDpi xmlns:a14="http://schemas.microsoft.com/office/drawing/2010/main" val="0"/>
              </a:ext>
            </a:extLst>
          </a:blip>
          <a:srcRect l="-11" t="0" r="-11" b="0"/>
          <a:stretch/>
        </p:blipFill>
        <p:spPr>
          <a:xfrm>
            <a:off x="0" y="0"/>
            <a:ext cx="18256282" cy="10269188"/>
          </a:xfrm>
          <a:prstGeom prst="rect">
            <a:avLst/>
          </a:prstGeom>
        </p:spPr>
      </p:pic>
      <p:sp>
        <p:nvSpPr>
          <p:cNvPr id="372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319147" y="4875943"/>
            <a:ext cx="438626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Application Logging Layer</a:t>
            </a:r>
          </a:p>
        </p:txBody>
      </p:sp>
      <p:sp>
        <p:nvSpPr>
          <p:cNvPr id="373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319147" y="5233988"/>
            <a:ext cx="4386262" cy="21526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Standardized JSON schema: timestamp, correlation_id, span_id, customer_or_nonPII_id, request_id, service_name, component, severity, error_code, response_time_ms, payload_hash.</a:t>
            </a:r>
          </a:p>
        </p:txBody>
      </p:sp>
      <p:sp>
        <p:nvSpPr>
          <p:cNvPr id="374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955060" y="4735735"/>
            <a:ext cx="438626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Transport Layer</a:t>
            </a:r>
          </a:p>
        </p:txBody>
      </p:sp>
      <p:sp>
        <p:nvSpPr>
          <p:cNvPr id="375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955060" y="5093780"/>
            <a:ext cx="4386262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Environment-specific ingestion pipelines to SIEM using agents and routers for reliable delivery and filtering.</a:t>
            </a:r>
          </a:p>
        </p:txBody>
      </p:sp>
      <p:sp>
        <p:nvSpPr>
          <p:cNvPr id="376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590877" y="1988439"/>
            <a:ext cx="438626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Storage and Analytics</a:t>
            </a:r>
          </a:p>
        </p:txBody>
      </p:sp>
      <p:sp>
        <p:nvSpPr>
          <p:cNvPr id="377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590877" y="2346484"/>
            <a:ext cx="4386262" cy="1438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SIEM, log analytics (BigQuery or equivalent), hot and cold tiers, offsite archive to S3/GCS/secure blob for retention and analytics.</a:t>
            </a:r>
          </a:p>
        </p:txBody>
      </p:sp>
      <p:sp>
        <p:nvSpPr>
          <p:cNvPr id="378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6567"/>
            <a:ext cx="5624512" cy="1295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Architecture Blueprint: </a:t>
            </a:r>
            <a:r>
              <a:rPr lang="en-US" sz="4200" b="1" dirty="0">
                <a:solidFill>
                  <a:srgbClr val="131523"/>
                </a:solidFill>
                <a:latin typeface="Lexend Medium" panose="00000700000000000000" pitchFamily="2" charset="0"/>
              </a:rPr>
              <a:t>Logging</a:t>
            </a:r>
          </a:p>
        </p:txBody>
      </p:sp>
      <p:sp>
        <p:nvSpPr>
          <p:cNvPr id="380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2129980"/>
            <a:ext cx="5624512" cy="695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Standard JSON schema, environment transports, and storage tiers for secure ingestion and analytics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4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9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8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1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pic>
        <p:nvPicPr>
          <p:cNvPr id="386" name="pyramid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4">
            <a:alphaModFix amt="100000"/>
            <a:extLst>
              <a:ext uri="{41CFBF2F-6C0D-43C1-AA84-94C671818005}">
                <asvg:svgBlip xmlns:r="http://schemas.openxmlformats.org/officeDocument/2006/relationships" xmlns:asvg="http://schemas.microsoft.com/office/drawing/2016/SVG/main" r:embed="rId53"/>
                <a14:useLocalDpi xmlns:a14="http://schemas.microsoft.com/office/drawing/2010/main" val="0"/>
              </a:ext>
            </a:extLst>
          </a:blip>
          <a:srcRect l="0" t="-356" r="0" b="-356"/>
          <a:stretch/>
        </p:blipFill>
        <p:spPr>
          <a:xfrm>
            <a:off x="855821" y="3510534"/>
            <a:ext cx="16640175" cy="1333405"/>
          </a:xfrm>
          <a:prstGeom prst="rect">
            <a:avLst/>
          </a:prstGeom>
        </p:spPr>
      </p:pic>
      <p:sp>
        <p:nvSpPr>
          <p:cNvPr id="387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329244" y="3926776"/>
            <a:ext cx="566738" cy="5143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3150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01</a:t>
            </a:r>
          </a:p>
        </p:txBody>
      </p:sp>
      <p:sp>
        <p:nvSpPr>
          <p:cNvPr id="389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0976" y="5148644"/>
            <a:ext cx="293846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Instrumentation</a:t>
            </a:r>
          </a:p>
        </p:txBody>
      </p:sp>
      <p:sp>
        <p:nvSpPr>
          <p:cNvPr id="391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0976" y="5506784"/>
            <a:ext cx="2938462" cy="1790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Instrument apps with OpenTelemetry; propagate correlation_id and span_id for cross-system correlation</a:t>
            </a:r>
          </a:p>
        </p:txBody>
      </p:sp>
      <p:sp>
        <p:nvSpPr>
          <p:cNvPr id="393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619083" y="3926776"/>
            <a:ext cx="566738" cy="5143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3150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02</a:t>
            </a:r>
          </a:p>
        </p:txBody>
      </p:sp>
      <p:sp>
        <p:nvSpPr>
          <p:cNvPr id="395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240816" y="5148644"/>
            <a:ext cx="293846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Collector and Sidecar</a:t>
            </a:r>
          </a:p>
        </p:txBody>
      </p:sp>
      <p:sp>
        <p:nvSpPr>
          <p:cNvPr id="397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240816" y="5506784"/>
            <a:ext cx="2938462" cy="1438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Deploy OTEL collectors or sidecars to normalize and enrich telemetry before central ingestion</a:t>
            </a:r>
          </a:p>
        </p:txBody>
      </p:sp>
      <p:sp>
        <p:nvSpPr>
          <p:cNvPr id="399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908923" y="3926776"/>
            <a:ext cx="566738" cy="5143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3150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03</a:t>
            </a:r>
          </a:p>
        </p:txBody>
      </p:sp>
      <p:sp>
        <p:nvSpPr>
          <p:cNvPr id="401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30751" y="5148644"/>
            <a:ext cx="2938462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Storage: Metrics and Traces</a:t>
            </a:r>
          </a:p>
        </p:txBody>
      </p:sp>
      <p:sp>
        <p:nvSpPr>
          <p:cNvPr id="403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30751" y="5826538"/>
            <a:ext cx="2938462" cy="21526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Send metrics to Prometheus, Stackdriver, Dynatrace, or Datadog; send traces to Jaeger, OpenTelemetry Collector, or Dynatrace</a:t>
            </a:r>
          </a:p>
        </p:txBody>
      </p:sp>
      <p:sp>
        <p:nvSpPr>
          <p:cNvPr id="405" name="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198858" y="3926776"/>
            <a:ext cx="566738" cy="5143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3150" b="1" dirty="0">
                <a:solidFill>
                  <a:srgbClr val="000000">
                    <a:alpha val="100000"/>
                  </a:srgbClr>
                </a:solidFill>
                <a:latin typeface="Lexend" panose="00000700000000000000" pitchFamily="2" charset="0"/>
              </a:rPr>
              <a:t>04</a:t>
            </a:r>
          </a:p>
        </p:txBody>
      </p:sp>
      <p:sp>
        <p:nvSpPr>
          <p:cNvPr id="407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820590" y="5148644"/>
            <a:ext cx="2938462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Dashboards and Alerts</a:t>
            </a:r>
          </a:p>
        </p:txBody>
      </p:sp>
      <p:sp>
        <p:nvSpPr>
          <p:cNvPr id="409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820590" y="5826538"/>
            <a:ext cx="2938462" cy="1790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Build dashboards in Grafana, Looker, or Datadog; configure hot metrics for alerting and cold storage for audits</a:t>
            </a:r>
          </a:p>
        </p:txBody>
      </p:sp>
      <p:sp>
        <p:nvSpPr>
          <p:cNvPr id="411" name="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488698" y="3926776"/>
            <a:ext cx="566738" cy="5143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3150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05</a:t>
            </a:r>
          </a:p>
        </p:txBody>
      </p:sp>
      <p:sp>
        <p:nvSpPr>
          <p:cNvPr id="413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110430" y="5148644"/>
            <a:ext cx="293846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SLO/SLA Consistency</a:t>
            </a:r>
          </a:p>
        </p:txBody>
      </p:sp>
      <p:sp>
        <p:nvSpPr>
          <p:cNvPr id="415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110430" y="5506784"/>
            <a:ext cx="2938462" cy="21526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Normalized telemetry enables consistent SLO/SLA measurement and efficient troubleshooting across environments</a:t>
            </a:r>
          </a:p>
        </p:txBody>
      </p:sp>
      <p:sp>
        <p:nvSpPr>
          <p:cNvPr id="417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2662"/>
            <a:ext cx="13234988" cy="666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Monitoring and Tracing Architecture Blueprint</a:t>
            </a:r>
          </a:p>
        </p:txBody>
      </p:sp>
      <p:sp>
        <p:nvSpPr>
          <p:cNvPr id="419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1483424"/>
            <a:ext cx="132349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OpenTelemetry-first telemetry, correlation ID propagation, hot metrics for alerts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5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8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2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0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2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2">
            <a:alphaModFix amt="100000"/>
          </a:blip>
          <a:stretch/>
        </p:blipFill>
        <p:spPr>
          <a:xfrm>
            <a:off x="987362" y="6077807"/>
            <a:ext cx="1047006" cy="1075134"/>
          </a:xfrm>
          <a:prstGeom prst="rect">
            <a:avLst/>
          </a:prstGeom>
        </p:spPr>
      </p:pic>
      <p:pic>
        <p:nvPicPr>
          <p:cNvPr id="428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5">
            <a:alphaModFix amt="100000"/>
            <a:extLst>
              <a:ext uri="{49CDAAEE-2D35-4028-A7E3-C7A436FD9A64}">
                <asvg:svgBlip xmlns:r="http://schemas.openxmlformats.org/officeDocument/2006/relationships" xmlns:asvg="http://schemas.microsoft.com/office/drawing/2016/SVG/main" r:embed="rId64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214533" y="6304978"/>
            <a:ext cx="596932" cy="596932"/>
          </a:xfrm>
          <a:prstGeom prst="rect">
            <a:avLst/>
          </a:prstGeom>
        </p:spPr>
      </p:pic>
      <p:sp>
        <p:nvSpPr>
          <p:cNvPr id="430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87362" y="7510177"/>
            <a:ext cx="42529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Logging Standards</a:t>
            </a:r>
          </a:p>
        </p:txBody>
      </p:sp>
      <p:sp>
        <p:nvSpPr>
          <p:cNvPr id="431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18426" y="7982522"/>
            <a:ext cx="4121848" cy="276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064"/>
              </a:lnSpc>
            </a:pPr>
            <a:r>
              <a:rPr lang="en-US" sz="1200" spc="-2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Use JSON log format and mandatory correlation IDs</a:t>
            </a:r>
          </a:p>
        </p:txBody>
      </p:sp>
      <p:pic>
        <p:nvPicPr>
          <p:cNvPr id="432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7">
            <a:alphaModFix amt="100000"/>
          </a:blip>
          <a:stretch/>
        </p:blipFill>
        <p:spPr>
          <a:xfrm>
            <a:off x="987362" y="8087296"/>
            <a:ext cx="52388" cy="52388"/>
          </a:xfrm>
          <a:prstGeom prst="rect">
            <a:avLst/>
          </a:prstGeom>
        </p:spPr>
      </p:pic>
      <p:sp>
        <p:nvSpPr>
          <p:cNvPr id="433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18426" y="8244554"/>
            <a:ext cx="4121848" cy="533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064"/>
              </a:lnSpc>
            </a:pPr>
            <a:r>
              <a:rPr lang="en-US" sz="1200" spc="-2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Apply common error taxonomy e.g., AUTH-1000, DB-3000, API-4000</a:t>
            </a:r>
          </a:p>
        </p:txBody>
      </p:sp>
      <p:pic>
        <p:nvPicPr>
          <p:cNvPr id="434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9">
            <a:alphaModFix amt="100000"/>
          </a:blip>
          <a:stretch/>
        </p:blipFill>
        <p:spPr>
          <a:xfrm>
            <a:off x="987362" y="8349424"/>
            <a:ext cx="52388" cy="52388"/>
          </a:xfrm>
          <a:prstGeom prst="rect">
            <a:avLst/>
          </a:prstGeom>
        </p:spPr>
      </p:pic>
      <p:sp>
        <p:nvSpPr>
          <p:cNvPr id="435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18426" y="8768620"/>
            <a:ext cx="4121848" cy="533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064"/>
              </a:lnSpc>
            </a:pPr>
            <a:r>
              <a:rPr lang="en-US" sz="1200" spc="-2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Prohibit PII; require tokenization or masking via regex and KMS</a:t>
            </a:r>
          </a:p>
        </p:txBody>
      </p:sp>
      <p:pic>
        <p:nvPicPr>
          <p:cNvPr id="436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1">
            <a:alphaModFix amt="100000"/>
          </a:blip>
          <a:stretch/>
        </p:blipFill>
        <p:spPr>
          <a:xfrm>
            <a:off x="987362" y="8873490"/>
            <a:ext cx="52388" cy="52388"/>
          </a:xfrm>
          <a:prstGeom prst="rect">
            <a:avLst/>
          </a:prstGeom>
        </p:spPr>
      </p:pic>
      <p:pic>
        <p:nvPicPr>
          <p:cNvPr id="43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3">
            <a:alphaModFix amt="100000"/>
          </a:blip>
          <a:stretch/>
        </p:blipFill>
        <p:spPr>
          <a:xfrm>
            <a:off x="987362" y="9397556"/>
            <a:ext cx="52388" cy="52388"/>
          </a:xfrm>
          <a:prstGeom prst="rect">
            <a:avLst/>
          </a:prstGeom>
        </p:spPr>
      </p:pic>
      <p:pic>
        <p:nvPicPr>
          <p:cNvPr id="43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5">
            <a:alphaModFix amt="100000"/>
          </a:blip>
          <a:stretch/>
        </p:blipFill>
        <p:spPr>
          <a:xfrm>
            <a:off x="5957506" y="5174075"/>
            <a:ext cx="1047006" cy="1075134"/>
          </a:xfrm>
          <a:prstGeom prst="rect">
            <a:avLst/>
          </a:prstGeom>
        </p:spPr>
      </p:pic>
      <p:pic>
        <p:nvPicPr>
          <p:cNvPr id="440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8">
            <a:alphaModFix amt="100000"/>
            <a:extLst>
              <a:ext uri="{2F1B1319-B34C-459C-ADB8-3D74DECE2D1B}">
                <asvg:svgBlip xmlns:r="http://schemas.openxmlformats.org/officeDocument/2006/relationships" xmlns:asvg="http://schemas.microsoft.com/office/drawing/2016/SVG/main" r:embed="rId77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6184773" y="5401246"/>
            <a:ext cx="596932" cy="596932"/>
          </a:xfrm>
          <a:prstGeom prst="rect">
            <a:avLst/>
          </a:prstGeom>
        </p:spPr>
      </p:pic>
      <p:sp>
        <p:nvSpPr>
          <p:cNvPr id="442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957506" y="6606445"/>
            <a:ext cx="419576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Monitoring Standards and KPIs</a:t>
            </a:r>
          </a:p>
        </p:txBody>
      </p:sp>
      <p:sp>
        <p:nvSpPr>
          <p:cNvPr id="443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088570" y="7078694"/>
            <a:ext cx="4064698" cy="276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064"/>
              </a:lnSpc>
            </a:pPr>
            <a:r>
              <a:rPr lang="en-US" sz="1200" spc="-2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SLIs/SLOs: Availability 99.9%</a:t>
            </a:r>
          </a:p>
        </p:txBody>
      </p:sp>
      <p:pic>
        <p:nvPicPr>
          <p:cNvPr id="444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0">
            <a:alphaModFix amt="100000"/>
          </a:blip>
          <a:stretch/>
        </p:blipFill>
        <p:spPr>
          <a:xfrm>
            <a:off x="5957506" y="7183564"/>
            <a:ext cx="52388" cy="52388"/>
          </a:xfrm>
          <a:prstGeom prst="rect">
            <a:avLst/>
          </a:prstGeom>
        </p:spPr>
      </p:pic>
      <p:sp>
        <p:nvSpPr>
          <p:cNvPr id="445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088570" y="7340727"/>
            <a:ext cx="4064698" cy="276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064"/>
              </a:lnSpc>
            </a:pPr>
            <a:r>
              <a:rPr lang="en-US" sz="1200" spc="-2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Latency target: P95 less than 200ms</a:t>
            </a:r>
          </a:p>
        </p:txBody>
      </p:sp>
      <p:pic>
        <p:nvPicPr>
          <p:cNvPr id="446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2">
            <a:alphaModFix amt="100000"/>
          </a:blip>
          <a:stretch/>
        </p:blipFill>
        <p:spPr>
          <a:xfrm>
            <a:off x="5957506" y="7445597"/>
            <a:ext cx="52388" cy="52388"/>
          </a:xfrm>
          <a:prstGeom prst="rect">
            <a:avLst/>
          </a:prstGeom>
        </p:spPr>
      </p:pic>
      <p:sp>
        <p:nvSpPr>
          <p:cNvPr id="447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088570" y="7602760"/>
            <a:ext cx="4064698" cy="276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064"/>
              </a:lnSpc>
            </a:pPr>
            <a:r>
              <a:rPr lang="en-US" sz="1200" spc="-2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Error rate target: less than 0.1%</a:t>
            </a:r>
          </a:p>
        </p:txBody>
      </p:sp>
      <p:pic>
        <p:nvPicPr>
          <p:cNvPr id="448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4">
            <a:alphaModFix amt="100000"/>
          </a:blip>
          <a:stretch/>
        </p:blipFill>
        <p:spPr>
          <a:xfrm>
            <a:off x="5957506" y="7707630"/>
            <a:ext cx="52388" cy="52388"/>
          </a:xfrm>
          <a:prstGeom prst="rect">
            <a:avLst/>
          </a:prstGeom>
        </p:spPr>
      </p:pic>
      <p:sp>
        <p:nvSpPr>
          <p:cNvPr id="449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088570" y="7864888"/>
            <a:ext cx="4064698" cy="276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064"/>
              </a:lnSpc>
            </a:pPr>
            <a:r>
              <a:rPr lang="en-US" sz="1200" spc="-2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Define throughput targets per product</a:t>
            </a:r>
          </a:p>
        </p:txBody>
      </p:sp>
      <p:pic>
        <p:nvPicPr>
          <p:cNvPr id="450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6">
            <a:alphaModFix amt="100000"/>
          </a:blip>
          <a:stretch/>
        </p:blipFill>
        <p:spPr>
          <a:xfrm>
            <a:off x="5957506" y="7969663"/>
            <a:ext cx="52388" cy="52388"/>
          </a:xfrm>
          <a:prstGeom prst="rect">
            <a:avLst/>
          </a:prstGeom>
        </p:spPr>
      </p:pic>
      <p:pic>
        <p:nvPicPr>
          <p:cNvPr id="45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8">
            <a:alphaModFix amt="100000"/>
          </a:blip>
          <a:stretch/>
        </p:blipFill>
        <p:spPr>
          <a:xfrm>
            <a:off x="10777252" y="4195096"/>
            <a:ext cx="1047006" cy="1075134"/>
          </a:xfrm>
          <a:prstGeom prst="rect">
            <a:avLst/>
          </a:prstGeom>
        </p:spPr>
      </p:pic>
      <p:pic>
        <p:nvPicPr>
          <p:cNvPr id="453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1">
            <a:alphaModFix amt="100000"/>
            <a:extLst>
              <a:ext uri="{7184A1AC-FA1B-4AE8-90DD-07DDF365D064}">
                <asvg:svgBlip xmlns:r="http://schemas.openxmlformats.org/officeDocument/2006/relationships" xmlns:asvg="http://schemas.microsoft.com/office/drawing/2016/SVG/main" r:embed="rId90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1004423" y="4422267"/>
            <a:ext cx="596932" cy="596932"/>
          </a:xfrm>
          <a:prstGeom prst="rect">
            <a:avLst/>
          </a:prstGeom>
        </p:spPr>
      </p:pic>
      <p:sp>
        <p:nvSpPr>
          <p:cNvPr id="455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777252" y="5627465"/>
            <a:ext cx="393858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Governance Actions</a:t>
            </a:r>
          </a:p>
        </p:txBody>
      </p:sp>
      <p:sp>
        <p:nvSpPr>
          <p:cNvPr id="456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908316" y="6099715"/>
            <a:ext cx="3807524" cy="276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064"/>
              </a:lnSpc>
            </a:pPr>
            <a:r>
              <a:rPr lang="en-US" sz="1200" spc="-2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Retention policies aligned to regulations</a:t>
            </a:r>
          </a:p>
        </p:txBody>
      </p:sp>
      <p:pic>
        <p:nvPicPr>
          <p:cNvPr id="45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3">
            <a:alphaModFix amt="100000"/>
          </a:blip>
          <a:stretch/>
        </p:blipFill>
        <p:spPr>
          <a:xfrm>
            <a:off x="10777252" y="6204585"/>
            <a:ext cx="52388" cy="52388"/>
          </a:xfrm>
          <a:prstGeom prst="rect">
            <a:avLst/>
          </a:prstGeom>
        </p:spPr>
      </p:pic>
      <p:sp>
        <p:nvSpPr>
          <p:cNvPr id="458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908316" y="6361843"/>
            <a:ext cx="3807524" cy="276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064"/>
              </a:lnSpc>
            </a:pPr>
            <a:r>
              <a:rPr lang="en-US" sz="1200" spc="-2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Role based access control for log access</a:t>
            </a:r>
          </a:p>
        </p:txBody>
      </p:sp>
      <p:pic>
        <p:nvPicPr>
          <p:cNvPr id="45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5">
            <a:alphaModFix amt="100000"/>
          </a:blip>
          <a:stretch/>
        </p:blipFill>
        <p:spPr>
          <a:xfrm>
            <a:off x="10777252" y="6466618"/>
            <a:ext cx="52388" cy="52388"/>
          </a:xfrm>
          <a:prstGeom prst="rect">
            <a:avLst/>
          </a:prstGeom>
        </p:spPr>
      </p:pic>
      <p:sp>
        <p:nvSpPr>
          <p:cNvPr id="460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908316" y="6623876"/>
            <a:ext cx="3807524" cy="276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064"/>
              </a:lnSpc>
            </a:pPr>
            <a:r>
              <a:rPr lang="en-US" sz="1200" spc="-2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Maintain audit trails for access and changes</a:t>
            </a:r>
          </a:p>
        </p:txBody>
      </p:sp>
      <p:pic>
        <p:nvPicPr>
          <p:cNvPr id="46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7">
            <a:alphaModFix amt="100000"/>
          </a:blip>
          <a:stretch/>
        </p:blipFill>
        <p:spPr>
          <a:xfrm>
            <a:off x="10777252" y="6728650"/>
            <a:ext cx="52388" cy="52388"/>
          </a:xfrm>
          <a:prstGeom prst="rect">
            <a:avLst/>
          </a:prstGeom>
        </p:spPr>
      </p:pic>
      <p:sp>
        <p:nvSpPr>
          <p:cNvPr id="462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908316" y="6885908"/>
            <a:ext cx="3807524" cy="276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064"/>
              </a:lnSpc>
            </a:pPr>
            <a:r>
              <a:rPr lang="en-US" sz="1200" spc="-2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Ensure controls work across DCP, GCP, and on prem</a:t>
            </a:r>
          </a:p>
        </p:txBody>
      </p:sp>
      <p:pic>
        <p:nvPicPr>
          <p:cNvPr id="46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9">
            <a:alphaModFix amt="100000"/>
          </a:blip>
          <a:stretch/>
        </p:blipFill>
        <p:spPr>
          <a:xfrm>
            <a:off x="10777252" y="6990778"/>
            <a:ext cx="52388" cy="52388"/>
          </a:xfrm>
          <a:prstGeom prst="rect">
            <a:avLst/>
          </a:prstGeom>
        </p:spPr>
      </p:pic>
      <p:sp>
        <p:nvSpPr>
          <p:cNvPr id="464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87557" y="726567"/>
            <a:ext cx="14635162" cy="1295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dirty="0">
                <a:solidFill>
                  <a:srgbClr val="FFFFFF">
                    <a:alpha val="100000"/>
                  </a:srgbClr>
                </a:solidFill>
                <a:latin typeface="Lexend Medium" panose="00000700000000000000" pitchFamily="2" charset="0"/>
              </a:rPr>
              <a:t>Standards and Governance for </a:t>
            </a:r>
            <a:r>
              <a:rPr lang="en-US" sz="4200" b="1" dirty="0">
                <a:solidFill>
                  <a:srgbClr val="FFFFFF"/>
                </a:solidFill>
                <a:latin typeface="Lexend Medium" panose="00000700000000000000" pitchFamily="2" charset="0"/>
              </a:rPr>
              <a:t>Logging</a:t>
            </a:r>
            <a:r>
              <a:rPr lang="en-US" sz="4200" dirty="0">
                <a:solidFill>
                  <a:srgbClr val="FFFFFF"/>
                </a:solidFill>
                <a:latin typeface="Lexend Medium" panose="00000700000000000000" pitchFamily="2" charset="0"/>
              </a:rPr>
              <a:t> and Monitoring</a:t>
            </a:r>
          </a:p>
        </p:txBody>
      </p:sp>
      <p:sp>
        <p:nvSpPr>
          <p:cNvPr id="466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87557" y="2129980"/>
            <a:ext cx="14635162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Enforce consistent logs, SLIs/SLOs, and audit-ready controls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3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7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5">
            <a:alphaModFix amt="100000"/>
          </a:blip>
          <a:stretch/>
        </p:blipFill>
        <p:spPr>
          <a:xfrm>
            <a:off x="0" y="0"/>
            <a:ext cx="1647825" cy="2181225"/>
          </a:xfrm>
          <a:prstGeom prst="rect">
            <a:avLst/>
          </a:prstGeom>
        </p:spPr>
      </p:pic>
      <p:pic>
        <p:nvPicPr>
          <p:cNvPr id="47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7">
            <a:alphaModFix amt="100000"/>
          </a:blip>
          <a:stretch/>
        </p:blipFill>
        <p:spPr>
          <a:xfrm>
            <a:off x="16925354" y="8881872"/>
            <a:ext cx="1333500" cy="1390650"/>
          </a:xfrm>
          <a:prstGeom prst="rect">
            <a:avLst/>
          </a:prstGeom>
        </p:spPr>
      </p:pic>
      <p:sp>
        <p:nvSpPr>
          <p:cNvPr id="473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3203734"/>
            <a:ext cx="469106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Logging flow (DCP)</a:t>
            </a:r>
          </a:p>
        </p:txBody>
      </p:sp>
      <p:sp>
        <p:nvSpPr>
          <p:cNvPr id="475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17187" y="3637978"/>
            <a:ext cx="433863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Containerized and legacy workloads use platform logging hooks</a:t>
            </a:r>
          </a:p>
        </p:txBody>
      </p:sp>
      <p:sp>
        <p:nvSpPr>
          <p:cNvPr id="477" name="::marker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76097" y="3623691"/>
            <a:ext cx="298228" cy="385191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1.</a:t>
            </a:r>
          </a:p>
        </p:txBody>
      </p:sp>
      <p:sp>
        <p:nvSpPr>
          <p:cNvPr id="479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17187" y="4541710"/>
            <a:ext cx="433863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Deploy FluentBit or OpenTelemetry collector sidecars for standardization</a:t>
            </a:r>
          </a:p>
        </p:txBody>
      </p:sp>
      <p:sp>
        <p:nvSpPr>
          <p:cNvPr id="481" name="::marker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76097" y="4527423"/>
            <a:ext cx="298228" cy="385191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2.</a:t>
            </a:r>
          </a:p>
        </p:txBody>
      </p:sp>
      <p:sp>
        <p:nvSpPr>
          <p:cNvPr id="483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17187" y="5445347"/>
            <a:ext cx="433863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Sidecars forward logs to central Kafka, Splunk or Elastic, and S3 for retention</a:t>
            </a:r>
          </a:p>
        </p:txBody>
      </p:sp>
      <p:sp>
        <p:nvSpPr>
          <p:cNvPr id="485" name="::marker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76097" y="5431060"/>
            <a:ext cx="298228" cy="385191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3.</a:t>
            </a:r>
          </a:p>
        </p:txBody>
      </p:sp>
      <p:sp>
        <p:nvSpPr>
          <p:cNvPr id="487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17187" y="6348984"/>
            <a:ext cx="433863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Ensure platform policy enforces consistent sidecar deployment</a:t>
            </a:r>
          </a:p>
        </p:txBody>
      </p:sp>
      <p:sp>
        <p:nvSpPr>
          <p:cNvPr id="489" name="::marker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76097" y="6334696"/>
            <a:ext cx="298228" cy="385191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4.</a:t>
            </a:r>
          </a:p>
        </p:txBody>
      </p:sp>
      <p:pic>
        <p:nvPicPr>
          <p:cNvPr id="49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9">
            <a:alphaModFix amt="100000"/>
          </a:blip>
          <a:stretch/>
        </p:blipFill>
        <p:spPr>
          <a:xfrm>
            <a:off x="5890469" y="3203675"/>
            <a:ext cx="19050" cy="3857625"/>
          </a:xfrm>
          <a:prstGeom prst="rect">
            <a:avLst/>
          </a:prstGeom>
        </p:spPr>
      </p:pic>
      <p:sp>
        <p:nvSpPr>
          <p:cNvPr id="493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371463" y="3203734"/>
            <a:ext cx="469106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Monitoring flow (DCP)</a:t>
            </a:r>
          </a:p>
        </p:txBody>
      </p:sp>
      <p:sp>
        <p:nvSpPr>
          <p:cNvPr id="495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727984" y="3637978"/>
            <a:ext cx="4338638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Use DCP-native host and container monitoring plus OpenTelemetry for app metrics and traces</a:t>
            </a:r>
          </a:p>
        </p:txBody>
      </p:sp>
      <p:sp>
        <p:nvSpPr>
          <p:cNvPr id="497" name="::marker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386894" y="3623691"/>
            <a:ext cx="298228" cy="385191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1.</a:t>
            </a:r>
          </a:p>
        </p:txBody>
      </p:sp>
      <p:sp>
        <p:nvSpPr>
          <p:cNvPr id="499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727984" y="4898326"/>
            <a:ext cx="433863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Aggregate metrics and traces into centralized Grafana or Dynatrace</a:t>
            </a:r>
          </a:p>
        </p:txBody>
      </p:sp>
      <p:sp>
        <p:nvSpPr>
          <p:cNvPr id="501" name="::marker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386894" y="4884039"/>
            <a:ext cx="298228" cy="385191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2.</a:t>
            </a:r>
          </a:p>
        </p:txBody>
      </p:sp>
      <p:sp>
        <p:nvSpPr>
          <p:cNvPr id="503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727984" y="5801963"/>
            <a:ext cx="433863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Combine host, container, and OTEL signals for full-stack visibility</a:t>
            </a:r>
          </a:p>
        </p:txBody>
      </p:sp>
      <p:sp>
        <p:nvSpPr>
          <p:cNvPr id="505" name="::marker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386894" y="5787676"/>
            <a:ext cx="298228" cy="385191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3.</a:t>
            </a:r>
          </a:p>
        </p:txBody>
      </p:sp>
      <p:sp>
        <p:nvSpPr>
          <p:cNvPr id="507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727984" y="6705600"/>
            <a:ext cx="433863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Enforce RBAC for observability access</a:t>
            </a:r>
          </a:p>
        </p:txBody>
      </p:sp>
      <p:sp>
        <p:nvSpPr>
          <p:cNvPr id="509" name="::marker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386894" y="6691312"/>
            <a:ext cx="298228" cy="385191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4.</a:t>
            </a:r>
          </a:p>
        </p:txBody>
      </p:sp>
      <p:sp>
        <p:nvSpPr>
          <p:cNvPr id="511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828526" y="3730752"/>
            <a:ext cx="5662612" cy="1943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DCP Observability: Logging vs Monitoring</a:t>
            </a:r>
          </a:p>
        </p:txBody>
      </p:sp>
      <p:sp>
        <p:nvSpPr>
          <p:cNvPr id="513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828526" y="5781294"/>
            <a:ext cx="5662612" cy="695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Side-by-side flow comparison with enforceable controls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3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18" name="-469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50372" y="836866"/>
            <a:ext cx="4614862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Sources</a:t>
            </a:r>
          </a:p>
        </p:txBody>
      </p:sp>
      <p:pic>
        <p:nvPicPr>
          <p:cNvPr id="519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5">
            <a:alphaModFix amt="100000"/>
          </a:blip>
          <a:stretch/>
        </p:blipFill>
        <p:spPr>
          <a:xfrm>
            <a:off x="7150322" y="967168"/>
            <a:ext cx="190351" cy="190351"/>
          </a:xfrm>
          <a:prstGeom prst="rect">
            <a:avLst/>
          </a:prstGeom>
        </p:spPr>
      </p:pic>
      <p:sp>
        <p:nvSpPr>
          <p:cNvPr id="520" name="-49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64722" y="1478375"/>
            <a:ext cx="4100512" cy="12287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GKE, Cloud Run, App Engine, Compute Engine logs and metrics</a:t>
            </a:r>
          </a:p>
        </p:txBody>
      </p:sp>
      <p:pic>
        <p:nvPicPr>
          <p:cNvPr id="521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7">
            <a:alphaModFix amt="100000"/>
          </a:blip>
          <a:stretch/>
        </p:blipFill>
        <p:spPr>
          <a:xfrm>
            <a:off x="7664648" y="1578173"/>
            <a:ext cx="171301" cy="171301"/>
          </a:xfrm>
          <a:prstGeom prst="rect">
            <a:avLst/>
          </a:prstGeom>
        </p:spPr>
      </p:pic>
      <p:sp>
        <p:nvSpPr>
          <p:cNvPr id="522" name="-49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50372" y="2884551"/>
            <a:ext cx="4614862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Cloud Logging</a:t>
            </a:r>
          </a:p>
        </p:txBody>
      </p:sp>
      <p:pic>
        <p:nvPicPr>
          <p:cNvPr id="523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9">
            <a:alphaModFix amt="100000"/>
          </a:blip>
          <a:stretch/>
        </p:blipFill>
        <p:spPr>
          <a:xfrm>
            <a:off x="7150322" y="3014853"/>
            <a:ext cx="190351" cy="190351"/>
          </a:xfrm>
          <a:prstGeom prst="rect">
            <a:avLst/>
          </a:prstGeom>
        </p:spPr>
      </p:pic>
      <p:sp>
        <p:nvSpPr>
          <p:cNvPr id="524" name="-48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64722" y="3526060"/>
            <a:ext cx="4100512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Ingest and normalize application and system logs</a:t>
            </a:r>
          </a:p>
        </p:txBody>
      </p:sp>
      <p:pic>
        <p:nvPicPr>
          <p:cNvPr id="525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1">
            <a:alphaModFix amt="100000"/>
          </a:blip>
          <a:stretch/>
        </p:blipFill>
        <p:spPr>
          <a:xfrm>
            <a:off x="7664648" y="3625750"/>
            <a:ext cx="171301" cy="171301"/>
          </a:xfrm>
          <a:prstGeom prst="rect">
            <a:avLst/>
          </a:prstGeom>
        </p:spPr>
      </p:pic>
      <p:sp>
        <p:nvSpPr>
          <p:cNvPr id="526" name="-40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50372" y="4526947"/>
            <a:ext cx="4614862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Log Router</a:t>
            </a:r>
          </a:p>
        </p:txBody>
      </p:sp>
      <p:pic>
        <p:nvPicPr>
          <p:cNvPr id="527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3">
            <a:alphaModFix amt="100000"/>
          </a:blip>
          <a:stretch/>
        </p:blipFill>
        <p:spPr>
          <a:xfrm>
            <a:off x="7150322" y="4657249"/>
            <a:ext cx="190351" cy="190351"/>
          </a:xfrm>
          <a:prstGeom prst="rect">
            <a:avLst/>
          </a:prstGeom>
        </p:spPr>
      </p:pic>
      <p:sp>
        <p:nvSpPr>
          <p:cNvPr id="528" name="-46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64722" y="5168456"/>
            <a:ext cx="4100512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Filter and route logs to downstream systems</a:t>
            </a:r>
          </a:p>
        </p:txBody>
      </p:sp>
      <p:pic>
        <p:nvPicPr>
          <p:cNvPr id="529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5">
            <a:alphaModFix amt="100000"/>
          </a:blip>
          <a:stretch/>
        </p:blipFill>
        <p:spPr>
          <a:xfrm>
            <a:off x="7664648" y="5268218"/>
            <a:ext cx="171301" cy="171301"/>
          </a:xfrm>
          <a:prstGeom prst="rect">
            <a:avLst/>
          </a:prstGeom>
        </p:spPr>
      </p:pic>
      <p:sp>
        <p:nvSpPr>
          <p:cNvPr id="530" name="-448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50372" y="6169342"/>
            <a:ext cx="4614862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Pub/Sub</a:t>
            </a:r>
          </a:p>
        </p:txBody>
      </p:sp>
      <p:pic>
        <p:nvPicPr>
          <p:cNvPr id="531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7">
            <a:alphaModFix amt="100000"/>
          </a:blip>
          <a:stretch/>
        </p:blipFill>
        <p:spPr>
          <a:xfrm>
            <a:off x="7150322" y="6299644"/>
            <a:ext cx="190351" cy="190351"/>
          </a:xfrm>
          <a:prstGeom prst="rect">
            <a:avLst/>
          </a:prstGeom>
        </p:spPr>
      </p:pic>
      <p:sp>
        <p:nvSpPr>
          <p:cNvPr id="532" name="-44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64722" y="6810851"/>
            <a:ext cx="4100512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Durable transport for streaming delivery to consumers</a:t>
            </a:r>
          </a:p>
        </p:txBody>
      </p:sp>
      <p:pic>
        <p:nvPicPr>
          <p:cNvPr id="533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9">
            <a:alphaModFix amt="100000"/>
          </a:blip>
          <a:stretch/>
        </p:blipFill>
        <p:spPr>
          <a:xfrm>
            <a:off x="7664648" y="6910536"/>
            <a:ext cx="171301" cy="171301"/>
          </a:xfrm>
          <a:prstGeom prst="rect">
            <a:avLst/>
          </a:prstGeom>
        </p:spPr>
      </p:pic>
      <p:sp>
        <p:nvSpPr>
          <p:cNvPr id="534" name="-47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50372" y="7811738"/>
            <a:ext cx="4614862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SIEM (Splunk/Elastic)</a:t>
            </a:r>
          </a:p>
        </p:txBody>
      </p:sp>
      <p:pic>
        <p:nvPicPr>
          <p:cNvPr id="535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1">
            <a:alphaModFix amt="100000"/>
          </a:blip>
          <a:stretch/>
        </p:blipFill>
        <p:spPr>
          <a:xfrm>
            <a:off x="7150322" y="7942040"/>
            <a:ext cx="190351" cy="190351"/>
          </a:xfrm>
          <a:prstGeom prst="rect">
            <a:avLst/>
          </a:prstGeom>
        </p:spPr>
      </p:pic>
      <p:sp>
        <p:nvSpPr>
          <p:cNvPr id="536" name="-47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64722" y="8453247"/>
            <a:ext cx="4100512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Real-time security and operational analytics</a:t>
            </a:r>
          </a:p>
        </p:txBody>
      </p:sp>
      <p:pic>
        <p:nvPicPr>
          <p:cNvPr id="537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3">
            <a:alphaModFix amt="100000"/>
          </a:blip>
          <a:stretch/>
        </p:blipFill>
        <p:spPr>
          <a:xfrm>
            <a:off x="7664648" y="8553003"/>
            <a:ext cx="171301" cy="171301"/>
          </a:xfrm>
          <a:prstGeom prst="rect">
            <a:avLst/>
          </a:prstGeom>
        </p:spPr>
      </p:pic>
      <p:sp>
        <p:nvSpPr>
          <p:cNvPr id="538" name="-46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13424" y="836866"/>
            <a:ext cx="4614862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BigQuery</a:t>
            </a:r>
          </a:p>
        </p:txBody>
      </p:sp>
      <p:pic>
        <p:nvPicPr>
          <p:cNvPr id="539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5">
            <a:alphaModFix amt="100000"/>
          </a:blip>
          <a:stretch/>
        </p:blipFill>
        <p:spPr>
          <a:xfrm>
            <a:off x="12513374" y="967168"/>
            <a:ext cx="190351" cy="190351"/>
          </a:xfrm>
          <a:prstGeom prst="rect">
            <a:avLst/>
          </a:prstGeom>
        </p:spPr>
      </p:pic>
      <p:sp>
        <p:nvSpPr>
          <p:cNvPr id="540" name="-47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427774" y="1478375"/>
            <a:ext cx="4100512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Batch and interactive analytics for large datasets</a:t>
            </a:r>
          </a:p>
        </p:txBody>
      </p:sp>
      <p:pic>
        <p:nvPicPr>
          <p:cNvPr id="541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7">
            <a:alphaModFix amt="100000"/>
          </a:blip>
          <a:stretch/>
        </p:blipFill>
        <p:spPr>
          <a:xfrm>
            <a:off x="13027666" y="1578173"/>
            <a:ext cx="171301" cy="171301"/>
          </a:xfrm>
          <a:prstGeom prst="rect">
            <a:avLst/>
          </a:prstGeom>
        </p:spPr>
      </p:pic>
      <p:sp>
        <p:nvSpPr>
          <p:cNvPr id="542" name="-49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13424" y="2479262"/>
            <a:ext cx="4614862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Cloud Storage</a:t>
            </a:r>
          </a:p>
        </p:txBody>
      </p:sp>
      <p:pic>
        <p:nvPicPr>
          <p:cNvPr id="543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9">
            <a:alphaModFix amt="100000"/>
          </a:blip>
          <a:stretch/>
        </p:blipFill>
        <p:spPr>
          <a:xfrm>
            <a:off x="12513374" y="2609564"/>
            <a:ext cx="190351" cy="190351"/>
          </a:xfrm>
          <a:prstGeom prst="rect">
            <a:avLst/>
          </a:prstGeom>
        </p:spPr>
      </p:pic>
      <p:sp>
        <p:nvSpPr>
          <p:cNvPr id="544" name="-427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427774" y="3120771"/>
            <a:ext cx="4100512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Cold retention archive with lifecycle policies</a:t>
            </a:r>
          </a:p>
        </p:txBody>
      </p:sp>
      <p:pic>
        <p:nvPicPr>
          <p:cNvPr id="545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1">
            <a:alphaModFix amt="100000"/>
          </a:blip>
          <a:stretch/>
        </p:blipFill>
        <p:spPr>
          <a:xfrm>
            <a:off x="13027666" y="3220492"/>
            <a:ext cx="171301" cy="171301"/>
          </a:xfrm>
          <a:prstGeom prst="rect">
            <a:avLst/>
          </a:prstGeom>
        </p:spPr>
      </p:pic>
      <p:pic>
        <p:nvPicPr>
          <p:cNvPr id="54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3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sp>
        <p:nvSpPr>
          <p:cNvPr id="547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98671" y="4069652"/>
            <a:ext cx="5586412" cy="1295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GCP Logging and Monitoring Pipeline</a:t>
            </a:r>
          </a:p>
        </p:txBody>
      </p:sp>
      <p:sp>
        <p:nvSpPr>
          <p:cNvPr id="549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98671" y="5438966"/>
            <a:ext cx="5586412" cy="695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Centralize logs, route to SIEM, analytics, and cold archive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8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7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54" name="-46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50372" y="836866"/>
            <a:ext cx="4614862" cy="419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Log collection agents</a:t>
            </a:r>
          </a:p>
        </p:txBody>
      </p:sp>
      <p:pic>
        <p:nvPicPr>
          <p:cNvPr id="555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9">
            <a:alphaModFix amt="100000"/>
          </a:blip>
          <a:stretch/>
        </p:blipFill>
        <p:spPr>
          <a:xfrm>
            <a:off x="7150322" y="967168"/>
            <a:ext cx="190351" cy="190351"/>
          </a:xfrm>
          <a:prstGeom prst="rect">
            <a:avLst/>
          </a:prstGeom>
        </p:spPr>
      </p:pic>
      <p:sp>
        <p:nvSpPr>
          <p:cNvPr id="556" name="-48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64722" y="1432465"/>
            <a:ext cx="4100512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Deploy syslog, Fluentd, or Filebeat to collect file-based logs and add JSON correlation IDs</a:t>
            </a:r>
          </a:p>
        </p:txBody>
      </p:sp>
      <p:pic>
        <p:nvPicPr>
          <p:cNvPr id="557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1">
            <a:alphaModFix amt="100000"/>
          </a:blip>
          <a:stretch/>
        </p:blipFill>
        <p:spPr>
          <a:xfrm>
            <a:off x="7664648" y="1532334"/>
            <a:ext cx="171301" cy="171301"/>
          </a:xfrm>
          <a:prstGeom prst="rect">
            <a:avLst/>
          </a:prstGeom>
        </p:spPr>
      </p:pic>
      <p:sp>
        <p:nvSpPr>
          <p:cNvPr id="558" name="-46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50372" y="2692813"/>
            <a:ext cx="4614862" cy="419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Secure VPN tunnels</a:t>
            </a:r>
          </a:p>
        </p:txBody>
      </p:sp>
      <p:pic>
        <p:nvPicPr>
          <p:cNvPr id="559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3">
            <a:alphaModFix amt="100000"/>
          </a:blip>
          <a:stretch/>
        </p:blipFill>
        <p:spPr>
          <a:xfrm>
            <a:off x="7150322" y="2823115"/>
            <a:ext cx="190351" cy="190351"/>
          </a:xfrm>
          <a:prstGeom prst="rect">
            <a:avLst/>
          </a:prstGeom>
        </p:spPr>
      </p:pic>
      <p:sp>
        <p:nvSpPr>
          <p:cNvPr id="560" name="-487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64722" y="3288411"/>
            <a:ext cx="4100512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Forward logs securely over VPN with encrypted, authenticated channels to central systems</a:t>
            </a:r>
          </a:p>
        </p:txBody>
      </p:sp>
      <p:pic>
        <p:nvPicPr>
          <p:cNvPr id="561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5">
            <a:alphaModFix amt="100000"/>
          </a:blip>
          <a:stretch/>
        </p:blipFill>
        <p:spPr>
          <a:xfrm>
            <a:off x="7664648" y="3388222"/>
            <a:ext cx="171301" cy="171301"/>
          </a:xfrm>
          <a:prstGeom prst="rect">
            <a:avLst/>
          </a:prstGeom>
        </p:spPr>
      </p:pic>
      <p:sp>
        <p:nvSpPr>
          <p:cNvPr id="562" name="-45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50372" y="4548759"/>
            <a:ext cx="4614862" cy="419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Central SIEM ingestion</a:t>
            </a:r>
          </a:p>
        </p:txBody>
      </p:sp>
      <p:pic>
        <p:nvPicPr>
          <p:cNvPr id="563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7">
            <a:alphaModFix amt="100000"/>
          </a:blip>
          <a:stretch/>
        </p:blipFill>
        <p:spPr>
          <a:xfrm>
            <a:off x="7150322" y="4679061"/>
            <a:ext cx="190351" cy="190351"/>
          </a:xfrm>
          <a:prstGeom prst="rect">
            <a:avLst/>
          </a:prstGeom>
        </p:spPr>
      </p:pic>
      <p:sp>
        <p:nvSpPr>
          <p:cNvPr id="564" name="-478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64722" y="5144357"/>
            <a:ext cx="4100512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Ingest normalized JSON logs with correlation IDs into SIEM for detection and analysis</a:t>
            </a:r>
          </a:p>
        </p:txBody>
      </p:sp>
      <p:pic>
        <p:nvPicPr>
          <p:cNvPr id="565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9">
            <a:alphaModFix amt="100000"/>
          </a:blip>
          <a:stretch/>
        </p:blipFill>
        <p:spPr>
          <a:xfrm>
            <a:off x="7664648" y="5244256"/>
            <a:ext cx="171301" cy="171301"/>
          </a:xfrm>
          <a:prstGeom prst="rect">
            <a:avLst/>
          </a:prstGeom>
        </p:spPr>
      </p:pic>
      <p:sp>
        <p:nvSpPr>
          <p:cNvPr id="566" name="-45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50372" y="6404705"/>
            <a:ext cx="4614862" cy="419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Archival to S3</a:t>
            </a:r>
          </a:p>
        </p:txBody>
      </p:sp>
      <p:pic>
        <p:nvPicPr>
          <p:cNvPr id="567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1">
            <a:alphaModFix amt="100000"/>
          </a:blip>
          <a:stretch/>
        </p:blipFill>
        <p:spPr>
          <a:xfrm>
            <a:off x="7150322" y="6535007"/>
            <a:ext cx="190351" cy="190351"/>
          </a:xfrm>
          <a:prstGeom prst="rect">
            <a:avLst/>
          </a:prstGeom>
        </p:spPr>
      </p:pic>
      <p:sp>
        <p:nvSpPr>
          <p:cNvPr id="568" name="-428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64722" y="7000304"/>
            <a:ext cx="4100512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Store compressed logs in S3 for retention, compliance, and forensic access</a:t>
            </a:r>
          </a:p>
        </p:txBody>
      </p:sp>
      <p:pic>
        <p:nvPicPr>
          <p:cNvPr id="569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3">
            <a:alphaModFix amt="100000"/>
          </a:blip>
          <a:stretch/>
        </p:blipFill>
        <p:spPr>
          <a:xfrm>
            <a:off x="7664648" y="7100144"/>
            <a:ext cx="171301" cy="171301"/>
          </a:xfrm>
          <a:prstGeom prst="rect">
            <a:avLst/>
          </a:prstGeom>
        </p:spPr>
      </p:pic>
      <p:sp>
        <p:nvSpPr>
          <p:cNvPr id="570" name="-49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50372" y="8260652"/>
            <a:ext cx="4614862" cy="419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Infrastructure monitoring</a:t>
            </a:r>
          </a:p>
        </p:txBody>
      </p:sp>
      <p:pic>
        <p:nvPicPr>
          <p:cNvPr id="571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5">
            <a:alphaModFix amt="100000"/>
          </a:blip>
          <a:stretch/>
        </p:blipFill>
        <p:spPr>
          <a:xfrm>
            <a:off x="7150322" y="8390954"/>
            <a:ext cx="190351" cy="190351"/>
          </a:xfrm>
          <a:prstGeom prst="rect">
            <a:avLst/>
          </a:prstGeom>
        </p:spPr>
      </p:pic>
      <p:sp>
        <p:nvSpPr>
          <p:cNvPr id="572" name="-408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427774" y="836866"/>
            <a:ext cx="4100512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Use Prometheus Node Exporter for host and infra metrics collection and alerting</a:t>
            </a:r>
          </a:p>
        </p:txBody>
      </p:sp>
      <p:pic>
        <p:nvPicPr>
          <p:cNvPr id="573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7">
            <a:alphaModFix amt="100000"/>
          </a:blip>
          <a:stretch/>
        </p:blipFill>
        <p:spPr>
          <a:xfrm>
            <a:off x="13027666" y="936575"/>
            <a:ext cx="171301" cy="171301"/>
          </a:xfrm>
          <a:prstGeom prst="rect">
            <a:avLst/>
          </a:prstGeom>
        </p:spPr>
      </p:pic>
      <p:sp>
        <p:nvSpPr>
          <p:cNvPr id="574" name="-42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13424" y="2097119"/>
            <a:ext cx="4614862" cy="419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Application telemetry</a:t>
            </a:r>
          </a:p>
        </p:txBody>
      </p:sp>
      <p:pic>
        <p:nvPicPr>
          <p:cNvPr id="575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9">
            <a:alphaModFix amt="100000"/>
          </a:blip>
          <a:stretch/>
        </p:blipFill>
        <p:spPr>
          <a:xfrm>
            <a:off x="12513374" y="2227421"/>
            <a:ext cx="190351" cy="190351"/>
          </a:xfrm>
          <a:prstGeom prst="rect">
            <a:avLst/>
          </a:prstGeom>
        </p:spPr>
      </p:pic>
      <p:sp>
        <p:nvSpPr>
          <p:cNvPr id="576" name="-479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427774" y="2692813"/>
            <a:ext cx="41005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Deploy OTEL agents for application metrics and distributed traces</a:t>
            </a:r>
          </a:p>
        </p:txBody>
      </p:sp>
      <p:pic>
        <p:nvPicPr>
          <p:cNvPr id="577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1">
            <a:alphaModFix amt="100000"/>
          </a:blip>
          <a:stretch/>
        </p:blipFill>
        <p:spPr>
          <a:xfrm>
            <a:off x="13027666" y="2792611"/>
            <a:ext cx="171301" cy="171301"/>
          </a:xfrm>
          <a:prstGeom prst="rect">
            <a:avLst/>
          </a:prstGeom>
        </p:spPr>
      </p:pic>
      <p:sp>
        <p:nvSpPr>
          <p:cNvPr id="578" name="-479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13424" y="3596450"/>
            <a:ext cx="4614862" cy="419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Batch job observability</a:t>
            </a:r>
          </a:p>
        </p:txBody>
      </p:sp>
      <p:pic>
        <p:nvPicPr>
          <p:cNvPr id="579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3">
            <a:alphaModFix amt="100000"/>
          </a:blip>
          <a:stretch/>
        </p:blipFill>
        <p:spPr>
          <a:xfrm>
            <a:off x="12513374" y="3726752"/>
            <a:ext cx="190351" cy="190351"/>
          </a:xfrm>
          <a:prstGeom prst="rect">
            <a:avLst/>
          </a:prstGeom>
        </p:spPr>
      </p:pic>
      <p:sp>
        <p:nvSpPr>
          <p:cNvPr id="580" name="-42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427774" y="4192143"/>
            <a:ext cx="4100512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Forward legacy batch events to an event bridge or message queue for observability</a:t>
            </a:r>
          </a:p>
        </p:txBody>
      </p:sp>
      <p:pic>
        <p:nvPicPr>
          <p:cNvPr id="581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5">
            <a:alphaModFix amt="100000"/>
          </a:blip>
          <a:stretch/>
        </p:blipFill>
        <p:spPr>
          <a:xfrm>
            <a:off x="13027666" y="4291906"/>
            <a:ext cx="171301" cy="171301"/>
          </a:xfrm>
          <a:prstGeom prst="rect">
            <a:avLst/>
          </a:prstGeom>
        </p:spPr>
      </p:pic>
      <p:sp>
        <p:nvSpPr>
          <p:cNvPr id="582" name="-488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13424" y="5452396"/>
            <a:ext cx="4614862" cy="419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Phased migration</a:t>
            </a:r>
          </a:p>
        </p:txBody>
      </p:sp>
      <p:pic>
        <p:nvPicPr>
          <p:cNvPr id="583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7">
            <a:alphaModFix amt="100000"/>
          </a:blip>
          <a:stretch/>
        </p:blipFill>
        <p:spPr>
          <a:xfrm>
            <a:off x="12513374" y="5582698"/>
            <a:ext cx="190351" cy="190351"/>
          </a:xfrm>
          <a:prstGeom prst="rect">
            <a:avLst/>
          </a:prstGeom>
        </p:spPr>
      </p:pic>
      <p:sp>
        <p:nvSpPr>
          <p:cNvPr id="584" name="-40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427774" y="6048089"/>
            <a:ext cx="4100512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Normalize formats, validate pipelines, and migrate in phases to minimize disruption</a:t>
            </a:r>
          </a:p>
        </p:txBody>
      </p:sp>
      <p:pic>
        <p:nvPicPr>
          <p:cNvPr id="585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9">
            <a:alphaModFix amt="100000"/>
          </a:blip>
          <a:stretch/>
        </p:blipFill>
        <p:spPr>
          <a:xfrm>
            <a:off x="13027666" y="6147792"/>
            <a:ext cx="171301" cy="171301"/>
          </a:xfrm>
          <a:prstGeom prst="rect">
            <a:avLst/>
          </a:prstGeom>
        </p:spPr>
      </p:pic>
      <p:pic>
        <p:nvPicPr>
          <p:cNvPr id="58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1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sp>
        <p:nvSpPr>
          <p:cNvPr id="587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98671" y="4069652"/>
            <a:ext cx="5586412" cy="1295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Legacy Logging and Monitoring Strategy</a:t>
            </a:r>
          </a:p>
        </p:txBody>
      </p:sp>
      <p:sp>
        <p:nvSpPr>
          <p:cNvPr id="589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98671" y="5438966"/>
            <a:ext cx="5586412" cy="695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Phased migration of file logs to centralized SIEM and observability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9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5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9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7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pic>
        <p:nvPicPr>
          <p:cNvPr id="59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9">
            <a:alphaModFix amt="100000"/>
          </a:blip>
          <a:stretch/>
        </p:blipFill>
        <p:spPr>
          <a:xfrm>
            <a:off x="760666" y="4016502"/>
            <a:ext cx="457200" cy="457200"/>
          </a:xfrm>
          <a:prstGeom prst="rect">
            <a:avLst/>
          </a:prstGeom>
        </p:spPr>
      </p:pic>
      <p:sp>
        <p:nvSpPr>
          <p:cNvPr id="597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40867" y="4065080"/>
            <a:ext cx="328612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1890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01</a:t>
            </a:r>
          </a:p>
        </p:txBody>
      </p:sp>
      <p:sp>
        <p:nvSpPr>
          <p:cNvPr id="599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70171" y="4016502"/>
            <a:ext cx="4795838" cy="9715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Immutability</a:t>
            </a:r>
            <a:r>
              <a:rPr lang="en-US" sz="2100" dirty="0">
                <a:solidFill>
                  <a:srgbClr val="131523"/>
                </a:solidFill>
                <a:latin typeface="Lexend Medium" panose="00000700000000000000" pitchFamily="2" charset="0"/>
              </a:rPr>
              <a:t>: immutable logs with retention that supports audit evidence</a:t>
            </a:r>
          </a:p>
        </p:txBody>
      </p:sp>
      <p:sp>
        <p:nvSpPr>
          <p:cNvPr id="601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70171" y="5014341"/>
            <a:ext cx="479583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WORM-style logging and tamper-evident storage</a:t>
            </a:r>
          </a:p>
        </p:txBody>
      </p:sp>
      <p:pic>
        <p:nvPicPr>
          <p:cNvPr id="60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1">
            <a:alphaModFix amt="100000"/>
          </a:blip>
          <a:stretch/>
        </p:blipFill>
        <p:spPr>
          <a:xfrm>
            <a:off x="6440424" y="4016502"/>
            <a:ext cx="457200" cy="457200"/>
          </a:xfrm>
          <a:prstGeom prst="rect">
            <a:avLst/>
          </a:prstGeom>
        </p:spPr>
      </p:pic>
      <p:sp>
        <p:nvSpPr>
          <p:cNvPr id="605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522244" y="4065080"/>
            <a:ext cx="328612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1890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02</a:t>
            </a:r>
          </a:p>
        </p:txBody>
      </p:sp>
      <p:sp>
        <p:nvSpPr>
          <p:cNvPr id="607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049929" y="4016502"/>
            <a:ext cx="4795838" cy="9715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Encryption</a:t>
            </a:r>
            <a:r>
              <a:rPr lang="en-US" sz="2100" dirty="0">
                <a:solidFill>
                  <a:srgbClr val="131523"/>
                </a:solidFill>
                <a:latin typeface="Lexend Medium" panose="00000700000000000000" pitchFamily="2" charset="0"/>
              </a:rPr>
              <a:t>: TLS 1.2 or higher in transit and KMS-backed encryption at rest</a:t>
            </a:r>
          </a:p>
        </p:txBody>
      </p:sp>
      <p:sp>
        <p:nvSpPr>
          <p:cNvPr id="609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049929" y="5014341"/>
            <a:ext cx="479583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Ensure keys are managed and auditable</a:t>
            </a:r>
          </a:p>
        </p:txBody>
      </p:sp>
      <p:pic>
        <p:nvPicPr>
          <p:cNvPr id="61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3">
            <a:alphaModFix amt="100000"/>
          </a:blip>
          <a:stretch/>
        </p:blipFill>
        <p:spPr>
          <a:xfrm>
            <a:off x="12120086" y="4016502"/>
            <a:ext cx="457200" cy="457200"/>
          </a:xfrm>
          <a:prstGeom prst="rect">
            <a:avLst/>
          </a:prstGeom>
        </p:spPr>
      </p:pic>
      <p:sp>
        <p:nvSpPr>
          <p:cNvPr id="613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196762" y="4065080"/>
            <a:ext cx="33813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1890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03</a:t>
            </a:r>
          </a:p>
        </p:txBody>
      </p:sp>
      <p:sp>
        <p:nvSpPr>
          <p:cNvPr id="615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729686" y="4016502"/>
            <a:ext cx="4795838" cy="9715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Access Control</a:t>
            </a:r>
            <a:r>
              <a:rPr lang="en-US" sz="2100" dirty="0">
                <a:solidFill>
                  <a:srgbClr val="131523"/>
                </a:solidFill>
                <a:latin typeface="Lexend Medium" panose="00000700000000000000" pitchFamily="2" charset="0"/>
              </a:rPr>
              <a:t>: zero-trust access and RBAC with 90-day access reviews</a:t>
            </a:r>
          </a:p>
        </p:txBody>
      </p:sp>
      <p:sp>
        <p:nvSpPr>
          <p:cNvPr id="617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729686" y="5014341"/>
            <a:ext cx="479583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Least privilege plus periodic entitlement reviews</a:t>
            </a:r>
          </a:p>
        </p:txBody>
      </p:sp>
      <p:pic>
        <p:nvPicPr>
          <p:cNvPr id="61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5">
            <a:alphaModFix amt="100000"/>
          </a:blip>
          <a:stretch/>
        </p:blipFill>
        <p:spPr>
          <a:xfrm>
            <a:off x="760666" y="6064282"/>
            <a:ext cx="457200" cy="457200"/>
          </a:xfrm>
          <a:prstGeom prst="rect">
            <a:avLst/>
          </a:prstGeom>
        </p:spPr>
      </p:pic>
      <p:sp>
        <p:nvSpPr>
          <p:cNvPr id="621" name="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28675" y="6112859"/>
            <a:ext cx="3571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1890" b="1" dirty="0">
                <a:solidFill>
                  <a:srgbClr val="000000">
                    <a:alpha val="100000"/>
                  </a:srgbClr>
                </a:solidFill>
                <a:latin typeface="Lexend" panose="00000700000000000000" pitchFamily="2" charset="0"/>
              </a:rPr>
              <a:t>04</a:t>
            </a:r>
          </a:p>
        </p:txBody>
      </p:sp>
      <p:sp>
        <p:nvSpPr>
          <p:cNvPr id="623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70171" y="6064282"/>
            <a:ext cx="4795838" cy="9715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DR and Offsite: replicate logs to offsite regions and maintain offsite monitoring</a:t>
            </a:r>
          </a:p>
        </p:txBody>
      </p:sp>
      <p:sp>
        <p:nvSpPr>
          <p:cNvPr id="625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70171" y="7062026"/>
            <a:ext cx="479583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Provide DR failover dashboards and continuous offsite monitoring</a:t>
            </a:r>
          </a:p>
        </p:txBody>
      </p:sp>
      <p:pic>
        <p:nvPicPr>
          <p:cNvPr id="62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7">
            <a:alphaModFix amt="100000"/>
          </a:blip>
          <a:stretch/>
        </p:blipFill>
        <p:spPr>
          <a:xfrm>
            <a:off x="6440424" y="6064282"/>
            <a:ext cx="457200" cy="457200"/>
          </a:xfrm>
          <a:prstGeom prst="rect">
            <a:avLst/>
          </a:prstGeom>
        </p:spPr>
      </p:pic>
      <p:sp>
        <p:nvSpPr>
          <p:cNvPr id="629" name="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516338" y="6112859"/>
            <a:ext cx="33813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1890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05</a:t>
            </a:r>
          </a:p>
        </p:txBody>
      </p:sp>
      <p:sp>
        <p:nvSpPr>
          <p:cNvPr id="631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049929" y="6064282"/>
            <a:ext cx="4795838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Anomaly Detection: integrate ML tools with incident workflows</a:t>
            </a:r>
          </a:p>
        </p:txBody>
      </p:sp>
      <p:sp>
        <p:nvSpPr>
          <p:cNvPr id="633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049929" y="6742176"/>
            <a:ext cx="4795838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Detect spikes in loan rejects, unusual latency, auth anomalies, abnormal API traffic</a:t>
            </a:r>
          </a:p>
        </p:txBody>
      </p:sp>
      <p:pic>
        <p:nvPicPr>
          <p:cNvPr id="63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9">
            <a:alphaModFix amt="100000"/>
          </a:blip>
          <a:stretch/>
        </p:blipFill>
        <p:spPr>
          <a:xfrm>
            <a:off x="12120086" y="6064282"/>
            <a:ext cx="457200" cy="457200"/>
          </a:xfrm>
          <a:prstGeom prst="rect">
            <a:avLst/>
          </a:prstGeom>
        </p:spPr>
      </p:pic>
      <p:sp>
        <p:nvSpPr>
          <p:cNvPr id="637" name="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198191" y="6112859"/>
            <a:ext cx="33813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1890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06</a:t>
            </a:r>
          </a:p>
        </p:txBody>
      </p:sp>
      <p:sp>
        <p:nvSpPr>
          <p:cNvPr id="639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729686" y="6064282"/>
            <a:ext cx="4795838" cy="9715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Operational Evidence: map controls to audit evidence and SRE runbooks</a:t>
            </a:r>
          </a:p>
        </p:txBody>
      </p:sp>
      <p:sp>
        <p:nvSpPr>
          <p:cNvPr id="641" name="Description of a 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729686" y="7062026"/>
            <a:ext cx="479583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Runbooks linked to monitoring alerts and evidence artifacts</a:t>
            </a:r>
          </a:p>
        </p:txBody>
      </p:sp>
      <p:sp>
        <p:nvSpPr>
          <p:cNvPr id="643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2662"/>
            <a:ext cx="13234988" cy="666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Observability Controls for SRE, Risk, and Audit</a:t>
            </a:r>
          </a:p>
        </p:txBody>
      </p:sp>
      <p:sp>
        <p:nvSpPr>
          <p:cNvPr id="645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1483424"/>
            <a:ext cx="132349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Immutable logs, strong encryption, zero-trust access, and DR visibility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0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3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65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5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pic>
        <p:nvPicPr>
          <p:cNvPr id="651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8">
            <a:alphaModFix amt="100000"/>
            <a:extLst>
              <a:ext uri="{18F03F1D-ED40-4420-A11E-FA443ED77C0F}">
                <asvg:svgBlip xmlns:r="http://schemas.openxmlformats.org/officeDocument/2006/relationships" xmlns:asvg="http://schemas.microsoft.com/office/drawing/2016/SVG/main" r:embed="rId207"/>
                <a14:useLocalDpi xmlns:a14="http://schemas.microsoft.com/office/drawing/2010/main" val="0"/>
              </a:ext>
            </a:extLst>
          </a:blip>
          <a:srcRect l="0" t="-17" r="0" b="-17"/>
          <a:stretch/>
        </p:blipFill>
        <p:spPr>
          <a:xfrm>
            <a:off x="4944332" y="2320100"/>
            <a:ext cx="8367712" cy="7188422"/>
          </a:xfrm>
          <a:prstGeom prst="rect">
            <a:avLst/>
          </a:prstGeom>
        </p:spPr>
      </p:pic>
      <p:sp>
        <p:nvSpPr>
          <p:cNvPr id="652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3215926"/>
            <a:ext cx="606266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Offsite Access Layer</a:t>
            </a:r>
          </a:p>
        </p:txBody>
      </p:sp>
      <p:sp>
        <p:nvSpPr>
          <p:cNvPr id="653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3573970"/>
            <a:ext cx="606266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VPN or ZTNA with MFA and identity federation for secure remote access.</a:t>
            </a:r>
          </a:p>
        </p:txBody>
      </p:sp>
      <p:sp>
        <p:nvSpPr>
          <p:cNvPr id="654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457527" y="4653534"/>
            <a:ext cx="607218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Centralized Observability Platform</a:t>
            </a:r>
          </a:p>
        </p:txBody>
      </p:sp>
      <p:sp>
        <p:nvSpPr>
          <p:cNvPr id="655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457527" y="5011674"/>
            <a:ext cx="607218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Cloud SaaS stack for logs, metrics, traces, incidents, and dashboards.</a:t>
            </a:r>
          </a:p>
        </p:txBody>
      </p:sp>
      <p:sp>
        <p:nvSpPr>
          <p:cNvPr id="656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6091238"/>
            <a:ext cx="606266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Operating Model</a:t>
            </a:r>
          </a:p>
        </p:txBody>
      </p:sp>
      <p:sp>
        <p:nvSpPr>
          <p:cNvPr id="657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6449282"/>
            <a:ext cx="606266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L1 offsite, L2 hybrid, L3 development with clear escalation and runbooks.</a:t>
            </a:r>
          </a:p>
        </p:txBody>
      </p:sp>
      <p:sp>
        <p:nvSpPr>
          <p:cNvPr id="658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457527" y="7528941"/>
            <a:ext cx="607218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Compliance Controls</a:t>
            </a:r>
          </a:p>
        </p:txBody>
      </p:sp>
      <p:sp>
        <p:nvSpPr>
          <p:cNvPr id="659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457527" y="7886986"/>
            <a:ext cx="607218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Access logging, anomaly detection, least privilege, restrict raw downloads.</a:t>
            </a:r>
          </a:p>
        </p:txBody>
      </p:sp>
      <p:sp>
        <p:nvSpPr>
          <p:cNvPr id="660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2662"/>
            <a:ext cx="13234988" cy="666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Offsite Consumption Strategy for </a:t>
            </a:r>
            <a:r>
              <a:rPr lang="en-US" sz="4200" b="1" dirty="0">
                <a:solidFill>
                  <a:srgbClr val="131523"/>
                </a:solidFill>
                <a:latin typeface="Lexend Medium" panose="00000700000000000000" pitchFamily="2" charset="0"/>
              </a:rPr>
              <a:t>Telemetry</a:t>
            </a:r>
          </a:p>
        </p:txBody>
      </p:sp>
      <p:sp>
        <p:nvSpPr>
          <p:cNvPr id="662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1483424"/>
            <a:ext cx="132349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Secure remote access, centralized observability, defined operating model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Exporter Version: 2.6.0.0, docId: 25067151, orderId: 10076260</dc:title>
  <dc:creator>Presentations.AI Exporter</dc:creator>
  <lastModifiedBy>Presentations.AI Exporter</lastModifiedBy>
  <revision>1</revision>
  <dcterms:created xsi:type="dcterms:W3CDTF">2025-12-10T17:46:32.0000000Z</dcterms:created>
  <dcterms:modified xsi:type="dcterms:W3CDTF">2025-12-10T17:46:32.0000000Z</dcterms:modified>
</coreProperties>
</file>