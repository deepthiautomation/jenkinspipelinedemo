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media/image7.bin" ContentType="image/svg+xml"/>
  <Override PartName="/ppt/media/image9.bin" ContentType="image/svg+xml"/>
  <Override PartName="/ppt/media/image11.bin" ContentType="image/svg+xml"/>
  <Override PartName="/ppt/media/image13.bin" ContentType="image/svg+xml"/>
  <Override PartName="/ppt/media/image15.bin" ContentType="image/svg+xml"/>
  <Override PartName="/ppt/media/image17.bin" ContentType="image/svg+xml"/>
  <Override PartName="/ppt/slides/slide3.xml" ContentType="application/vnd.openxmlformats-officedocument.presentationml.slide+xml"/>
  <Override PartName="/ppt/media/image21.bin" ContentType="image/svg+xml"/>
  <Override PartName="/ppt/media/image23.bin" ContentType="image/svg+xml"/>
  <Override PartName="/ppt/slides/slide4.xml" ContentType="application/vnd.openxmlformats-officedocument.presentationml.slide+xml"/>
  <Override PartName="/ppt/media/image28.bin" ContentType="image/svg+xml"/>
  <Override PartName="/ppt/media/image30.bin" ContentType="image/svg+xml"/>
  <Override PartName="/ppt/slides/slide5.xml" ContentType="application/vnd.openxmlformats-officedocument.presentationml.slide+xml"/>
  <Override PartName="/ppt/media/image35.bin" ContentType="image/svg+xml"/>
  <Override PartName="/ppt/media/image37.bin" ContentType="image/svg+xml"/>
  <Override PartName="/ppt/slides/slide6.xml" ContentType="application/vnd.openxmlformats-officedocument.presentationml.slide+xml"/>
  <Override PartName="/ppt/media/image42.bin" ContentType="image/sv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80.bin" ContentType="image/svg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media/image94.bin" ContentType="image/jpeg"/>
  <Override PartName="/ppt/slides/slide12.xml" ContentType="application/vnd.openxmlformats-officedocument.presentationml.slide+xml"/>
  <Override PartName="/ppt/media/image110.bin" ContentType="image/svg+xml"/>
  <Override PartName="/ppt/slides/slide13.xml" ContentType="application/vnd.openxmlformats-officedocument.presentationml.slide+xml"/>
  <Override PartName="/ppt/media/image114.bin" ContentType="image/svg+xml"/>
  <Override PartName="/ppt/slides/slide14.xml" ContentType="application/vnd.openxmlformats-officedocument.presentationml.slide+xml"/>
  <Override PartName="/ppt/media/image118.bin" ContentType="image/svg+xml"/>
  <Override PartName="/ppt/slides/slide15.xml" ContentType="application/vnd.openxmlformats-officedocument.presentationml.slide+xml"/>
  <Override PartName="/ppt/media/image122.bin" ContentType="image/svg+xml"/>
  <Override PartName="/ppt/media/image125.bin" ContentType="image/svg+xml"/>
  <Override PartName="/ppt/media/image127.bin" ContentType="image/svg+xml"/>
  <Override PartName="/ppt/media/image130.bin" ContentType="image/svg+xml"/>
  <Override PartName="/ppt/media/image132.bin" ContentType="image/svg+xml"/>
  <Override PartName="/ppt/media/image135.bin" ContentType="image/svg+xml"/>
  <Override PartName="/ppt/media/image137.bin" ContentType="image/svg+xml"/>
  <Override PartName="/ppt/media/image140.bin" ContentType="image/svg+xml"/>
  <Override PartName="/ppt/media/image142.bin" ContentType="image/svg+xml"/>
  <Override PartName="/ppt/media/image145.bin" ContentType="image/svg+xml"/>
  <Override PartName="/ppt/media/image147.bin" ContentType="image/svg+xml"/>
  <Override PartName="/ppt/media/image149.bin" ContentType="image/svg+xml"/>
  <Override PartName="/ppt/media/image151.bin" ContentType="image/svg+xml"/>
  <Override PartName="/ppt/media/image153.bin" ContentType="image/svg+xml"/>
  <Override PartName="/ppt/media/image155.bin" ContentType="image/svg+xml"/>
  <Override PartName="/ppt/slides/slide16.xml" ContentType="application/vnd.openxmlformats-officedocument.presentationml.slide+xml"/>
  <Override PartName="/ppt/media/image172.bin" ContentType="image/jpeg"/>
  <Override PartName="/ppt/slides/slide17.xml" ContentType="application/vnd.openxmlformats-officedocument.presentationml.slide+xml"/>
  <Override PartName="/ppt/media/image176.bin" ContentType="image/svg+xml"/>
  <Override PartName="/ppt/media/image179.bin" ContentType="image/svg+xml"/>
  <Override PartName="/ppt/media/image182.bin" ContentType="image/svg+xml"/>
  <Override PartName="/ppt/media/image185.bin" ContentType="image/svg+xml"/>
  <Override PartName="/ppt/media/image188.bin" ContentType="image/svg+xml"/>
  <Override PartName="/ppt/media/image191.bin" ContentType="image/svg+xml"/>
  <Override PartName="/ppt/media/image194.bin" ContentType="image/svg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media/image274.bin" ContentType="image/svg+xml"/>
  <Override PartName="/ppt/media/image277.bin" ContentType="image/svg+xml"/>
  <Override PartName="/ppt/media/image280.bin" ContentType="image/svg+xml"/>
  <Override PartName="/ppt/media/image283.bin" ContentType="image/svg+xml"/>
  <Override PartName="/ppt/slides/slide21.xml" ContentType="application/vnd.openxmlformats-officedocument.presentationml.slide+xml"/>
  <Override PartName="/ppt/media/image293.bin" ContentType="image/svg+xml"/>
  <Override PartName="/ppt/media/image295.bin" ContentType="image/svg+xml"/>
  <Override PartName="/ppt/media/image297.bin" ContentType="image/svg+xml"/>
  <Override PartName="/ppt/media/image299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10"/>
    <p:sldId id="313" r:id="rId20"/>
    <p:sldId id="361" r:id="rId44"/>
    <p:sldId id="379" r:id="rId59"/>
    <p:sldId id="393" r:id="rId74"/>
    <p:sldId id="411" r:id="rId89"/>
    <p:sldId id="428" r:id="rId102"/>
    <p:sldId id="464" r:id="rId136"/>
    <p:sldId id="500" r:id="rId170"/>
    <p:sldId id="519" r:id="rId179"/>
    <p:sldId id="583" r:id="rId199"/>
    <p:sldId id="644" r:id="rId235"/>
    <p:sldId id="683" r:id="rId244"/>
    <p:sldId id="704" r:id="rId253"/>
    <p:sldId id="725" r:id="rId262"/>
    <p:sldId id="823" r:id="rId323"/>
    <p:sldId id="883" r:id="rId359"/>
    <p:sldId id="928" r:id="rId398"/>
    <p:sldId id="1158" r:id="rId542"/>
    <p:sldId id="1198" r:id="rId548"/>
    <p:sldId id="1228" r:id="rId578"/>
  </p:sldIdLst>
  <p:sldSz cx="18288000" cy="10287000"/>
  <p:notesSz cx="18288000" cy="10287000"/>
  <p:embeddedFontLst>
    <p:embeddedFont>
      <p:font typeface="Lexend Medium" pitchFamily="2" charset="77"/>
      <p:regular r:id="rId6"/>
    </p:embeddedFont>
    <p:embeddedFont>
      <p:font typeface="Inter" pitchFamily="2" charset="77"/>
      <p:regular r:id="rId7"/>
      <p:bold r:id="rId8"/>
    </p:embeddedFont>
    <p:embeddedFont>
      <p:font typeface="Lexend" pitchFamily="2" charset="77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font" Target="/ppt/fonts/font4.dat" Id="rId9" /><Relationship Type="http://schemas.openxmlformats.org/officeDocument/2006/relationships/slide" Target="/ppt/slides/slide1.xml" Id="rId10" /><Relationship Type="http://schemas.openxmlformats.org/officeDocument/2006/relationships/slide" Target="/ppt/slides/slide2.xml" Id="rId20" /><Relationship Type="http://schemas.openxmlformats.org/officeDocument/2006/relationships/slide" Target="/ppt/slides/slide3.xml" Id="rId44" /><Relationship Type="http://schemas.openxmlformats.org/officeDocument/2006/relationships/slide" Target="/ppt/slides/slide4.xml" Id="rId59" /><Relationship Type="http://schemas.openxmlformats.org/officeDocument/2006/relationships/slide" Target="/ppt/slides/slide5.xml" Id="rId74" /><Relationship Type="http://schemas.openxmlformats.org/officeDocument/2006/relationships/slide" Target="/ppt/slides/slide6.xml" Id="rId89" /><Relationship Type="http://schemas.openxmlformats.org/officeDocument/2006/relationships/slide" Target="/ppt/slides/slide7.xml" Id="rId102" /><Relationship Type="http://schemas.openxmlformats.org/officeDocument/2006/relationships/slide" Target="/ppt/slides/slide8.xml" Id="rId136" /><Relationship Type="http://schemas.openxmlformats.org/officeDocument/2006/relationships/slide" Target="/ppt/slides/slide9.xml" Id="rId170" /><Relationship Type="http://schemas.openxmlformats.org/officeDocument/2006/relationships/slide" Target="/ppt/slides/slide10.xml" Id="rId179" /><Relationship Type="http://schemas.openxmlformats.org/officeDocument/2006/relationships/slide" Target="/ppt/slides/slide11.xml" Id="rId199" /><Relationship Type="http://schemas.openxmlformats.org/officeDocument/2006/relationships/slide" Target="/ppt/slides/slide12.xml" Id="rId235" /><Relationship Type="http://schemas.openxmlformats.org/officeDocument/2006/relationships/slide" Target="/ppt/slides/slide13.xml" Id="rId244" /><Relationship Type="http://schemas.openxmlformats.org/officeDocument/2006/relationships/slide" Target="/ppt/slides/slide14.xml" Id="rId253" /><Relationship Type="http://schemas.openxmlformats.org/officeDocument/2006/relationships/slide" Target="/ppt/slides/slide15.xml" Id="rId262" /><Relationship Type="http://schemas.openxmlformats.org/officeDocument/2006/relationships/slide" Target="/ppt/slides/slide16.xml" Id="rId323" /><Relationship Type="http://schemas.openxmlformats.org/officeDocument/2006/relationships/slide" Target="/ppt/slides/slide17.xml" Id="rId359" /><Relationship Type="http://schemas.openxmlformats.org/officeDocument/2006/relationships/slide" Target="/ppt/slides/slide18.xml" Id="rId398" /><Relationship Type="http://schemas.openxmlformats.org/officeDocument/2006/relationships/slide" Target="/ppt/slides/slide19.xml" Id="rId542" /><Relationship Type="http://schemas.openxmlformats.org/officeDocument/2006/relationships/slide" Target="/ppt/slides/slide20.xml" Id="rId548" /><Relationship Type="http://schemas.openxmlformats.org/officeDocument/2006/relationships/slide" Target="/ppt/slides/slide21.xml" Id="rId578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" /><Relationship Type="http://schemas.openxmlformats.org/officeDocument/2006/relationships/image" Target="/ppt/media/image.bin" Id="rId13" /><Relationship Type="http://schemas.openxmlformats.org/officeDocument/2006/relationships/image" Target="/ppt/media/image2.bin" Id="rId15" /><Relationship Type="http://schemas.openxmlformats.org/officeDocument/2006/relationships/image" Target="/ppt/media/image3.bin" Id="rId17" /><Relationship Type="http://schemas.openxmlformats.org/officeDocument/2006/relationships/image" Target="/ppt/media/image4.bin" Id="rI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1" /><Relationship Type="http://schemas.openxmlformats.org/officeDocument/2006/relationships/image" Target="/ppt/media/image5.bin" Id="rId23" /><Relationship Type="http://schemas.openxmlformats.org/officeDocument/2006/relationships/image" Target="/ppt/media/image6.bin" Id="rId25" /><Relationship Type="http://schemas.openxmlformats.org/officeDocument/2006/relationships/image" Target="/ppt/media/image7.bin" Id="rId27" /><Relationship Type="http://schemas.openxmlformats.org/officeDocument/2006/relationships/image" Target="/ppt/media/image8.bin" Id="rId28" /><Relationship Type="http://schemas.openxmlformats.org/officeDocument/2006/relationships/image" Target="/ppt/media/image9.bin" Id="rId30" /><Relationship Type="http://schemas.openxmlformats.org/officeDocument/2006/relationships/image" Target="/ppt/media/image10.bin" Id="rId31" /><Relationship Type="http://schemas.openxmlformats.org/officeDocument/2006/relationships/image" Target="/ppt/media/image11.bin" Id="rId33" /><Relationship Type="http://schemas.openxmlformats.org/officeDocument/2006/relationships/image" Target="/ppt/media/image12.bin" Id="rId34" /><Relationship Type="http://schemas.openxmlformats.org/officeDocument/2006/relationships/image" Target="/ppt/media/image13.bin" Id="rId36" /><Relationship Type="http://schemas.openxmlformats.org/officeDocument/2006/relationships/image" Target="/ppt/media/image14.bin" Id="rId37" /><Relationship Type="http://schemas.openxmlformats.org/officeDocument/2006/relationships/image" Target="/ppt/media/image15.bin" Id="rId39" /><Relationship Type="http://schemas.openxmlformats.org/officeDocument/2006/relationships/image" Target="/ppt/media/image16.bin" Id="rId40" /><Relationship Type="http://schemas.openxmlformats.org/officeDocument/2006/relationships/image" Target="/ppt/media/image17.bin" Id="rId42" /><Relationship Type="http://schemas.openxmlformats.org/officeDocument/2006/relationships/image" Target="/ppt/media/image18.bin" Id="rI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5" /><Relationship Type="http://schemas.openxmlformats.org/officeDocument/2006/relationships/image" Target="/ppt/media/image19.bin" Id="rId47" /><Relationship Type="http://schemas.openxmlformats.org/officeDocument/2006/relationships/image" Target="/ppt/media/image20.bin" Id="rId49" /><Relationship Type="http://schemas.openxmlformats.org/officeDocument/2006/relationships/image" Target="/ppt/media/image21.bin" Id="rId51" /><Relationship Type="http://schemas.openxmlformats.org/officeDocument/2006/relationships/image" Target="/ppt/media/image22.bin" Id="rId52" /><Relationship Type="http://schemas.openxmlformats.org/officeDocument/2006/relationships/image" Target="/ppt/media/image23.bin" Id="rId54" /><Relationship Type="http://schemas.openxmlformats.org/officeDocument/2006/relationships/image" Target="/ppt/media/image24.bin" Id="rId56" /><Relationship Type="http://schemas.openxmlformats.org/officeDocument/2006/relationships/image" Target="/ppt/media/image25.bin" Id="rI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0" /><Relationship Type="http://schemas.openxmlformats.org/officeDocument/2006/relationships/image" Target="/ppt/media/image26.bin" Id="rId62" /><Relationship Type="http://schemas.openxmlformats.org/officeDocument/2006/relationships/image" Target="/ppt/media/image27.bin" Id="rId64" /><Relationship Type="http://schemas.openxmlformats.org/officeDocument/2006/relationships/image" Target="/ppt/media/image28.bin" Id="rId66" /><Relationship Type="http://schemas.openxmlformats.org/officeDocument/2006/relationships/image" Target="/ppt/media/image29.bin" Id="rId67" /><Relationship Type="http://schemas.openxmlformats.org/officeDocument/2006/relationships/image" Target="/ppt/media/image30.bin" Id="rId69" /><Relationship Type="http://schemas.openxmlformats.org/officeDocument/2006/relationships/image" Target="/ppt/media/image31.bin" Id="rId71" /><Relationship Type="http://schemas.openxmlformats.org/officeDocument/2006/relationships/image" Target="/ppt/media/image32.bin" Id="rI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5" /><Relationship Type="http://schemas.openxmlformats.org/officeDocument/2006/relationships/image" Target="/ppt/media/image33.bin" Id="rId77" /><Relationship Type="http://schemas.openxmlformats.org/officeDocument/2006/relationships/image" Target="/ppt/media/image34.bin" Id="rId79" /><Relationship Type="http://schemas.openxmlformats.org/officeDocument/2006/relationships/image" Target="/ppt/media/image35.bin" Id="rId81" /><Relationship Type="http://schemas.openxmlformats.org/officeDocument/2006/relationships/image" Target="/ppt/media/image36.bin" Id="rId82" /><Relationship Type="http://schemas.openxmlformats.org/officeDocument/2006/relationships/image" Target="/ppt/media/image37.bin" Id="rId84" /><Relationship Type="http://schemas.openxmlformats.org/officeDocument/2006/relationships/image" Target="/ppt/media/image38.bin" Id="rId86" /><Relationship Type="http://schemas.openxmlformats.org/officeDocument/2006/relationships/image" Target="/ppt/media/image39.bin" Id="rI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0" /><Relationship Type="http://schemas.openxmlformats.org/officeDocument/2006/relationships/image" Target="/ppt/media/image40.bin" Id="rId92" /><Relationship Type="http://schemas.openxmlformats.org/officeDocument/2006/relationships/image" Target="/ppt/media/image41.bin" Id="rId94" /><Relationship Type="http://schemas.openxmlformats.org/officeDocument/2006/relationships/image" Target="/ppt/media/image42.bin" Id="rId96" /><Relationship Type="http://schemas.openxmlformats.org/officeDocument/2006/relationships/image" Target="/ppt/media/image43.bin" Id="rId97" /><Relationship Type="http://schemas.openxmlformats.org/officeDocument/2006/relationships/image" Target="/ppt/media/image44.bin" Id="rId99" /><Relationship Type="http://schemas.openxmlformats.org/officeDocument/2006/relationships/image" Target="/ppt/media/image45.bin" Id="rId1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3" /><Relationship Type="http://schemas.openxmlformats.org/officeDocument/2006/relationships/image" Target="/ppt/media/image46.bin" Id="rId105" /><Relationship Type="http://schemas.openxmlformats.org/officeDocument/2006/relationships/image" Target="/ppt/media/image47.bin" Id="rId107" /><Relationship Type="http://schemas.openxmlformats.org/officeDocument/2006/relationships/image" Target="/ppt/media/image48.bin" Id="rId109" /><Relationship Type="http://schemas.openxmlformats.org/officeDocument/2006/relationships/image" Target="/ppt/media/image49.bin" Id="rId111" /><Relationship Type="http://schemas.openxmlformats.org/officeDocument/2006/relationships/image" Target="/ppt/media/image50.bin" Id="rId113" /><Relationship Type="http://schemas.openxmlformats.org/officeDocument/2006/relationships/image" Target="/ppt/media/image51.bin" Id="rId115" /><Relationship Type="http://schemas.openxmlformats.org/officeDocument/2006/relationships/image" Target="/ppt/media/image52.bin" Id="rId117" /><Relationship Type="http://schemas.openxmlformats.org/officeDocument/2006/relationships/image" Target="/ppt/media/image53.bin" Id="rId119" /><Relationship Type="http://schemas.openxmlformats.org/officeDocument/2006/relationships/image" Target="/ppt/media/image54.bin" Id="rId121" /><Relationship Type="http://schemas.openxmlformats.org/officeDocument/2006/relationships/image" Target="/ppt/media/image55.bin" Id="rId123" /><Relationship Type="http://schemas.openxmlformats.org/officeDocument/2006/relationships/image" Target="/ppt/media/image56.bin" Id="rId125" /><Relationship Type="http://schemas.openxmlformats.org/officeDocument/2006/relationships/image" Target="/ppt/media/image57.bin" Id="rId127" /><Relationship Type="http://schemas.openxmlformats.org/officeDocument/2006/relationships/image" Target="/ppt/media/image58.bin" Id="rId129" /><Relationship Type="http://schemas.openxmlformats.org/officeDocument/2006/relationships/image" Target="/ppt/media/image59.bin" Id="rId131" /><Relationship Type="http://schemas.openxmlformats.org/officeDocument/2006/relationships/image" Target="/ppt/media/image60.bin" Id="rId133" /><Relationship Type="http://schemas.openxmlformats.org/officeDocument/2006/relationships/image" Target="/ppt/media/image61.bin" Id="rId1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7" /><Relationship Type="http://schemas.openxmlformats.org/officeDocument/2006/relationships/image" Target="/ppt/media/image62.bin" Id="rId139" /><Relationship Type="http://schemas.openxmlformats.org/officeDocument/2006/relationships/image" Target="/ppt/media/image63.bin" Id="rId141" /><Relationship Type="http://schemas.openxmlformats.org/officeDocument/2006/relationships/image" Target="/ppt/media/image64.bin" Id="rId143" /><Relationship Type="http://schemas.openxmlformats.org/officeDocument/2006/relationships/image" Target="/ppt/media/image65.bin" Id="rId145" /><Relationship Type="http://schemas.openxmlformats.org/officeDocument/2006/relationships/image" Target="/ppt/media/image66.bin" Id="rId147" /><Relationship Type="http://schemas.openxmlformats.org/officeDocument/2006/relationships/image" Target="/ppt/media/image67.bin" Id="rId149" /><Relationship Type="http://schemas.openxmlformats.org/officeDocument/2006/relationships/image" Target="/ppt/media/image68.bin" Id="rId151" /><Relationship Type="http://schemas.openxmlformats.org/officeDocument/2006/relationships/image" Target="/ppt/media/image69.bin" Id="rId153" /><Relationship Type="http://schemas.openxmlformats.org/officeDocument/2006/relationships/image" Target="/ppt/media/image70.bin" Id="rId155" /><Relationship Type="http://schemas.openxmlformats.org/officeDocument/2006/relationships/image" Target="/ppt/media/image71.bin" Id="rId157" /><Relationship Type="http://schemas.openxmlformats.org/officeDocument/2006/relationships/image" Target="/ppt/media/image72.bin" Id="rId159" /><Relationship Type="http://schemas.openxmlformats.org/officeDocument/2006/relationships/image" Target="/ppt/media/image73.bin" Id="rId161" /><Relationship Type="http://schemas.openxmlformats.org/officeDocument/2006/relationships/image" Target="/ppt/media/image74.bin" Id="rId163" /><Relationship Type="http://schemas.openxmlformats.org/officeDocument/2006/relationships/image" Target="/ppt/media/image75.bin" Id="rId165" /><Relationship Type="http://schemas.openxmlformats.org/officeDocument/2006/relationships/image" Target="/ppt/media/image76.bin" Id="rId167" /><Relationship Type="http://schemas.openxmlformats.org/officeDocument/2006/relationships/image" Target="/ppt/media/image77.bin" Id="rId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71" /><Relationship Type="http://schemas.openxmlformats.org/officeDocument/2006/relationships/image" Target="/ppt/media/image78.bin" Id="rId173" /><Relationship Type="http://schemas.openxmlformats.org/officeDocument/2006/relationships/image" Target="/ppt/media/image79.bin" Id="rId175" /><Relationship Type="http://schemas.openxmlformats.org/officeDocument/2006/relationships/image" Target="/ppt/media/image80.bin" Id="rId177" /><Relationship Type="http://schemas.openxmlformats.org/officeDocument/2006/relationships/image" Target="/ppt/media/image81.bin" Id="rId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0" /><Relationship Type="http://schemas.openxmlformats.org/officeDocument/2006/relationships/image" Target="/ppt/media/image82.bin" Id="rId182" /><Relationship Type="http://schemas.openxmlformats.org/officeDocument/2006/relationships/image" Target="/ppt/media/image83.bin" Id="rId184" /><Relationship Type="http://schemas.openxmlformats.org/officeDocument/2006/relationships/image" Target="/ppt/media/image84.bin" Id="rId186" /><Relationship Type="http://schemas.openxmlformats.org/officeDocument/2006/relationships/image" Target="/ppt/media/image85.bin" Id="rId188" /><Relationship Type="http://schemas.openxmlformats.org/officeDocument/2006/relationships/image" Target="/ppt/media/image86.bin" Id="rId190" /><Relationship Type="http://schemas.openxmlformats.org/officeDocument/2006/relationships/image" Target="/ppt/media/image87.bin" Id="rId192" /><Relationship Type="http://schemas.openxmlformats.org/officeDocument/2006/relationships/image" Target="/ppt/media/image88.bin" Id="rId194" /><Relationship Type="http://schemas.openxmlformats.org/officeDocument/2006/relationships/image" Target="/ppt/media/image89.bin" Id="rId196" /><Relationship Type="http://schemas.openxmlformats.org/officeDocument/2006/relationships/image" Target="/ppt/media/image90.bin" Id="rId1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00" /><Relationship Type="http://schemas.openxmlformats.org/officeDocument/2006/relationships/image" Target="/ppt/media/image91.bin" Id="rId202" /><Relationship Type="http://schemas.openxmlformats.org/officeDocument/2006/relationships/image" Target="/ppt/media/image92.bin" Id="rId204" /><Relationship Type="http://schemas.openxmlformats.org/officeDocument/2006/relationships/image" Target="/ppt/media/image93.bin" Id="rId206" /><Relationship Type="http://schemas.openxmlformats.org/officeDocument/2006/relationships/image" Target="/ppt/media/image94.bin" Id="rId208" /><Relationship Type="http://schemas.openxmlformats.org/officeDocument/2006/relationships/image" Target="/ppt/media/image95.bin" Id="rId210" /><Relationship Type="http://schemas.openxmlformats.org/officeDocument/2006/relationships/image" Target="/ppt/media/image96.bin" Id="rId212" /><Relationship Type="http://schemas.openxmlformats.org/officeDocument/2006/relationships/image" Target="/ppt/media/image97.bin" Id="rId214" /><Relationship Type="http://schemas.openxmlformats.org/officeDocument/2006/relationships/image" Target="/ppt/media/image98.bin" Id="rId216" /><Relationship Type="http://schemas.openxmlformats.org/officeDocument/2006/relationships/image" Target="/ppt/media/image99.bin" Id="rId218" /><Relationship Type="http://schemas.openxmlformats.org/officeDocument/2006/relationships/image" Target="/ppt/media/image100.bin" Id="rId220" /><Relationship Type="http://schemas.openxmlformats.org/officeDocument/2006/relationships/image" Target="/ppt/media/image101.bin" Id="rId222" /><Relationship Type="http://schemas.openxmlformats.org/officeDocument/2006/relationships/image" Target="/ppt/media/image102.bin" Id="rId224" /><Relationship Type="http://schemas.openxmlformats.org/officeDocument/2006/relationships/image" Target="/ppt/media/image103.bin" Id="rId226" /><Relationship Type="http://schemas.openxmlformats.org/officeDocument/2006/relationships/image" Target="/ppt/media/image104.bin" Id="rId228" /><Relationship Type="http://schemas.openxmlformats.org/officeDocument/2006/relationships/image" Target="/ppt/media/image105.bin" Id="rId230" /><Relationship Type="http://schemas.openxmlformats.org/officeDocument/2006/relationships/image" Target="/ppt/media/image106.bin" Id="rId232" /><Relationship Type="http://schemas.openxmlformats.org/officeDocument/2006/relationships/image" Target="/ppt/media/image107.bin" Id="rId2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6" /><Relationship Type="http://schemas.openxmlformats.org/officeDocument/2006/relationships/image" Target="/ppt/media/image108.bin" Id="rId238" /><Relationship Type="http://schemas.openxmlformats.org/officeDocument/2006/relationships/image" Target="/ppt/media/image109.bin" Id="rId240" /><Relationship Type="http://schemas.openxmlformats.org/officeDocument/2006/relationships/image" Target="/ppt/media/image110.bin" Id="rId242" /><Relationship Type="http://schemas.openxmlformats.org/officeDocument/2006/relationships/image" Target="/ppt/media/image111.bin" Id="rId2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45" /><Relationship Type="http://schemas.openxmlformats.org/officeDocument/2006/relationships/image" Target="/ppt/media/image112.bin" Id="rId247" /><Relationship Type="http://schemas.openxmlformats.org/officeDocument/2006/relationships/image" Target="/ppt/media/image113.bin" Id="rId249" /><Relationship Type="http://schemas.openxmlformats.org/officeDocument/2006/relationships/image" Target="/ppt/media/image114.bin" Id="rId251" /><Relationship Type="http://schemas.openxmlformats.org/officeDocument/2006/relationships/image" Target="/ppt/media/image115.bin" Id="rId2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54" /><Relationship Type="http://schemas.openxmlformats.org/officeDocument/2006/relationships/image" Target="/ppt/media/image116.bin" Id="rId256" /><Relationship Type="http://schemas.openxmlformats.org/officeDocument/2006/relationships/image" Target="/ppt/media/image117.bin" Id="rId258" /><Relationship Type="http://schemas.openxmlformats.org/officeDocument/2006/relationships/image" Target="/ppt/media/image118.bin" Id="rId260" /><Relationship Type="http://schemas.openxmlformats.org/officeDocument/2006/relationships/image" Target="/ppt/media/image119.bin" Id="rId2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63" /><Relationship Type="http://schemas.openxmlformats.org/officeDocument/2006/relationships/image" Target="/ppt/media/image120.bin" Id="rId265" /><Relationship Type="http://schemas.openxmlformats.org/officeDocument/2006/relationships/image" Target="/ppt/media/image121.bin" Id="rId267" /><Relationship Type="http://schemas.openxmlformats.org/officeDocument/2006/relationships/image" Target="/ppt/media/image122.bin" Id="rId269" /><Relationship Type="http://schemas.openxmlformats.org/officeDocument/2006/relationships/image" Target="/ppt/media/image123.bin" Id="rId270" /><Relationship Type="http://schemas.openxmlformats.org/officeDocument/2006/relationships/image" Target="/ppt/media/image124.bin" Id="rId272" /><Relationship Type="http://schemas.openxmlformats.org/officeDocument/2006/relationships/image" Target="/ppt/media/image125.bin" Id="rId274" /><Relationship Type="http://schemas.openxmlformats.org/officeDocument/2006/relationships/image" Target="/ppt/media/image126.bin" Id="rId275" /><Relationship Type="http://schemas.openxmlformats.org/officeDocument/2006/relationships/image" Target="/ppt/media/image127.bin" Id="rId277" /><Relationship Type="http://schemas.openxmlformats.org/officeDocument/2006/relationships/image" Target="/ppt/media/image128.bin" Id="rId278" /><Relationship Type="http://schemas.openxmlformats.org/officeDocument/2006/relationships/image" Target="/ppt/media/image129.bin" Id="rId280" /><Relationship Type="http://schemas.openxmlformats.org/officeDocument/2006/relationships/image" Target="/ppt/media/image130.bin" Id="rId282" /><Relationship Type="http://schemas.openxmlformats.org/officeDocument/2006/relationships/image" Target="/ppt/media/image131.bin" Id="rId283" /><Relationship Type="http://schemas.openxmlformats.org/officeDocument/2006/relationships/image" Target="/ppt/media/image132.bin" Id="rId285" /><Relationship Type="http://schemas.openxmlformats.org/officeDocument/2006/relationships/image" Target="/ppt/media/image133.bin" Id="rId286" /><Relationship Type="http://schemas.openxmlformats.org/officeDocument/2006/relationships/image" Target="/ppt/media/image134.bin" Id="rId288" /><Relationship Type="http://schemas.openxmlformats.org/officeDocument/2006/relationships/image" Target="/ppt/media/image135.bin" Id="rId290" /><Relationship Type="http://schemas.openxmlformats.org/officeDocument/2006/relationships/image" Target="/ppt/media/image136.bin" Id="rId291" /><Relationship Type="http://schemas.openxmlformats.org/officeDocument/2006/relationships/image" Target="/ppt/media/image137.bin" Id="rId293" /><Relationship Type="http://schemas.openxmlformats.org/officeDocument/2006/relationships/image" Target="/ppt/media/image138.bin" Id="rId294" /><Relationship Type="http://schemas.openxmlformats.org/officeDocument/2006/relationships/image" Target="/ppt/media/image139.bin" Id="rId296" /><Relationship Type="http://schemas.openxmlformats.org/officeDocument/2006/relationships/image" Target="/ppt/media/image140.bin" Id="rId298" /><Relationship Type="http://schemas.openxmlformats.org/officeDocument/2006/relationships/image" Target="/ppt/media/image141.bin" Id="rId299" /><Relationship Type="http://schemas.openxmlformats.org/officeDocument/2006/relationships/image" Target="/ppt/media/image142.bin" Id="rId301" /><Relationship Type="http://schemas.openxmlformats.org/officeDocument/2006/relationships/image" Target="/ppt/media/image143.bin" Id="rId302" /><Relationship Type="http://schemas.openxmlformats.org/officeDocument/2006/relationships/image" Target="/ppt/media/image144.bin" Id="rId304" /><Relationship Type="http://schemas.openxmlformats.org/officeDocument/2006/relationships/image" Target="/ppt/media/image145.bin" Id="rId306" /><Relationship Type="http://schemas.openxmlformats.org/officeDocument/2006/relationships/image" Target="/ppt/media/image146.bin" Id="rId307" /><Relationship Type="http://schemas.openxmlformats.org/officeDocument/2006/relationships/image" Target="/ppt/media/image147.bin" Id="rId309" /><Relationship Type="http://schemas.openxmlformats.org/officeDocument/2006/relationships/image" Target="/ppt/media/image148.bin" Id="rId310" /><Relationship Type="http://schemas.openxmlformats.org/officeDocument/2006/relationships/image" Target="/ppt/media/image149.bin" Id="rId312" /><Relationship Type="http://schemas.openxmlformats.org/officeDocument/2006/relationships/image" Target="/ppt/media/image150.bin" Id="rId313" /><Relationship Type="http://schemas.openxmlformats.org/officeDocument/2006/relationships/image" Target="/ppt/media/image151.bin" Id="rId315" /><Relationship Type="http://schemas.openxmlformats.org/officeDocument/2006/relationships/image" Target="/ppt/media/image152.bin" Id="rId316" /><Relationship Type="http://schemas.openxmlformats.org/officeDocument/2006/relationships/image" Target="/ppt/media/image153.bin" Id="rId318" /><Relationship Type="http://schemas.openxmlformats.org/officeDocument/2006/relationships/image" Target="/ppt/media/image154.bin" Id="rId319" /><Relationship Type="http://schemas.openxmlformats.org/officeDocument/2006/relationships/image" Target="/ppt/media/image155.bin" Id="rId321" /><Relationship Type="http://schemas.openxmlformats.org/officeDocument/2006/relationships/image" Target="/ppt/media/image156.bin" Id="rId3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24" /><Relationship Type="http://schemas.openxmlformats.org/officeDocument/2006/relationships/image" Target="/ppt/media/image157.bin" Id="rId326" /><Relationship Type="http://schemas.openxmlformats.org/officeDocument/2006/relationships/image" Target="/ppt/media/image158.bin" Id="rId328" /><Relationship Type="http://schemas.openxmlformats.org/officeDocument/2006/relationships/image" Target="/ppt/media/image159.bin" Id="rId330" /><Relationship Type="http://schemas.openxmlformats.org/officeDocument/2006/relationships/image" Target="/ppt/media/image160.bin" Id="rId332" /><Relationship Type="http://schemas.openxmlformats.org/officeDocument/2006/relationships/image" Target="/ppt/media/image161.bin" Id="rId334" /><Relationship Type="http://schemas.openxmlformats.org/officeDocument/2006/relationships/image" Target="/ppt/media/image162.bin" Id="rId336" /><Relationship Type="http://schemas.openxmlformats.org/officeDocument/2006/relationships/image" Target="/ppt/media/image163.bin" Id="rId338" /><Relationship Type="http://schemas.openxmlformats.org/officeDocument/2006/relationships/image" Target="/ppt/media/image164.bin" Id="rId340" /><Relationship Type="http://schemas.openxmlformats.org/officeDocument/2006/relationships/image" Target="/ppt/media/image165.bin" Id="rId342" /><Relationship Type="http://schemas.openxmlformats.org/officeDocument/2006/relationships/image" Target="/ppt/media/image166.bin" Id="rId344" /><Relationship Type="http://schemas.openxmlformats.org/officeDocument/2006/relationships/image" Target="/ppt/media/image167.bin" Id="rId346" /><Relationship Type="http://schemas.openxmlformats.org/officeDocument/2006/relationships/image" Target="/ppt/media/image168.bin" Id="rId348" /><Relationship Type="http://schemas.openxmlformats.org/officeDocument/2006/relationships/image" Target="/ppt/media/image169.bin" Id="rId350" /><Relationship Type="http://schemas.openxmlformats.org/officeDocument/2006/relationships/image" Target="/ppt/media/image170.bin" Id="rId352" /><Relationship Type="http://schemas.openxmlformats.org/officeDocument/2006/relationships/image" Target="/ppt/media/image171.bin" Id="rId354" /><Relationship Type="http://schemas.openxmlformats.org/officeDocument/2006/relationships/image" Target="/ppt/media/image172.bin" Id="rId356" /><Relationship Type="http://schemas.openxmlformats.org/officeDocument/2006/relationships/image" Target="/ppt/media/image173.bin" Id="rId3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60" /><Relationship Type="http://schemas.openxmlformats.org/officeDocument/2006/relationships/image" Target="/ppt/media/image174.bin" Id="rId362" /><Relationship Type="http://schemas.openxmlformats.org/officeDocument/2006/relationships/image" Target="/ppt/media/image175.bin" Id="rId364" /><Relationship Type="http://schemas.openxmlformats.org/officeDocument/2006/relationships/image" Target="/ppt/media/image176.bin" Id="rId366" /><Relationship Type="http://schemas.openxmlformats.org/officeDocument/2006/relationships/image" Target="/ppt/media/image177.bin" Id="rId367" /><Relationship Type="http://schemas.openxmlformats.org/officeDocument/2006/relationships/image" Target="/ppt/media/image178.bin" Id="rId369" /><Relationship Type="http://schemas.openxmlformats.org/officeDocument/2006/relationships/image" Target="/ppt/media/image179.bin" Id="rId371" /><Relationship Type="http://schemas.openxmlformats.org/officeDocument/2006/relationships/image" Target="/ppt/media/image180.bin" Id="rId372" /><Relationship Type="http://schemas.openxmlformats.org/officeDocument/2006/relationships/image" Target="/ppt/media/image181.bin" Id="rId374" /><Relationship Type="http://schemas.openxmlformats.org/officeDocument/2006/relationships/image" Target="/ppt/media/image182.bin" Id="rId376" /><Relationship Type="http://schemas.openxmlformats.org/officeDocument/2006/relationships/image" Target="/ppt/media/image183.bin" Id="rId377" /><Relationship Type="http://schemas.openxmlformats.org/officeDocument/2006/relationships/image" Target="/ppt/media/image184.bin" Id="rId379" /><Relationship Type="http://schemas.openxmlformats.org/officeDocument/2006/relationships/image" Target="/ppt/media/image185.bin" Id="rId381" /><Relationship Type="http://schemas.openxmlformats.org/officeDocument/2006/relationships/image" Target="/ppt/media/image186.bin" Id="rId382" /><Relationship Type="http://schemas.openxmlformats.org/officeDocument/2006/relationships/image" Target="/ppt/media/image187.bin" Id="rId384" /><Relationship Type="http://schemas.openxmlformats.org/officeDocument/2006/relationships/image" Target="/ppt/media/image188.bin" Id="rId386" /><Relationship Type="http://schemas.openxmlformats.org/officeDocument/2006/relationships/image" Target="/ppt/media/image189.bin" Id="rId387" /><Relationship Type="http://schemas.openxmlformats.org/officeDocument/2006/relationships/image" Target="/ppt/media/image190.bin" Id="rId389" /><Relationship Type="http://schemas.openxmlformats.org/officeDocument/2006/relationships/image" Target="/ppt/media/image191.bin" Id="rId391" /><Relationship Type="http://schemas.openxmlformats.org/officeDocument/2006/relationships/image" Target="/ppt/media/image192.bin" Id="rId392" /><Relationship Type="http://schemas.openxmlformats.org/officeDocument/2006/relationships/image" Target="/ppt/media/image193.bin" Id="rId394" /><Relationship Type="http://schemas.openxmlformats.org/officeDocument/2006/relationships/image" Target="/ppt/media/image194.bin" Id="rId396" /><Relationship Type="http://schemas.openxmlformats.org/officeDocument/2006/relationships/image" Target="/ppt/media/image195.bin" Id="rId3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99" /><Relationship Type="http://schemas.openxmlformats.org/officeDocument/2006/relationships/image" Target="/ppt/media/image196.bin" Id="rId401" /><Relationship Type="http://schemas.openxmlformats.org/officeDocument/2006/relationships/image" Target="/ppt/media/image197.bin" Id="rId403" /><Relationship Type="http://schemas.openxmlformats.org/officeDocument/2006/relationships/image" Target="/ppt/media/image198.bin" Id="rId405" /><Relationship Type="http://schemas.openxmlformats.org/officeDocument/2006/relationships/image" Target="/ppt/media/image199.bin" Id="rId407" /><Relationship Type="http://schemas.openxmlformats.org/officeDocument/2006/relationships/image" Target="/ppt/media/image200.bin" Id="rId409" /><Relationship Type="http://schemas.openxmlformats.org/officeDocument/2006/relationships/image" Target="/ppt/media/image201.bin" Id="rId411" /><Relationship Type="http://schemas.openxmlformats.org/officeDocument/2006/relationships/image" Target="/ppt/media/image202.bin" Id="rId413" /><Relationship Type="http://schemas.openxmlformats.org/officeDocument/2006/relationships/image" Target="/ppt/media/image203.bin" Id="rId415" /><Relationship Type="http://schemas.openxmlformats.org/officeDocument/2006/relationships/image" Target="/ppt/media/image204.bin" Id="rId417" /><Relationship Type="http://schemas.openxmlformats.org/officeDocument/2006/relationships/image" Target="/ppt/media/image205.bin" Id="rId419" /><Relationship Type="http://schemas.openxmlformats.org/officeDocument/2006/relationships/image" Target="/ppt/media/image206.bin" Id="rId421" /><Relationship Type="http://schemas.openxmlformats.org/officeDocument/2006/relationships/image" Target="/ppt/media/image207.bin" Id="rId423" /><Relationship Type="http://schemas.openxmlformats.org/officeDocument/2006/relationships/image" Target="/ppt/media/image208.bin" Id="rId425" /><Relationship Type="http://schemas.openxmlformats.org/officeDocument/2006/relationships/image" Target="/ppt/media/image209.bin" Id="rId427" /><Relationship Type="http://schemas.openxmlformats.org/officeDocument/2006/relationships/image" Target="/ppt/media/image210.bin" Id="rId429" /><Relationship Type="http://schemas.openxmlformats.org/officeDocument/2006/relationships/image" Target="/ppt/media/image211.bin" Id="rId431" /><Relationship Type="http://schemas.openxmlformats.org/officeDocument/2006/relationships/image" Target="/ppt/media/image212.bin" Id="rId433" /><Relationship Type="http://schemas.openxmlformats.org/officeDocument/2006/relationships/image" Target="/ppt/media/image213.bin" Id="rId435" /><Relationship Type="http://schemas.openxmlformats.org/officeDocument/2006/relationships/image" Target="/ppt/media/image214.bin" Id="rId437" /><Relationship Type="http://schemas.openxmlformats.org/officeDocument/2006/relationships/image" Target="/ppt/media/image215.bin" Id="rId439" /><Relationship Type="http://schemas.openxmlformats.org/officeDocument/2006/relationships/image" Target="/ppt/media/image216.bin" Id="rId441" /><Relationship Type="http://schemas.openxmlformats.org/officeDocument/2006/relationships/image" Target="/ppt/media/image217.bin" Id="rId443" /><Relationship Type="http://schemas.openxmlformats.org/officeDocument/2006/relationships/image" Target="/ppt/media/image218.bin" Id="rId445" /><Relationship Type="http://schemas.openxmlformats.org/officeDocument/2006/relationships/image" Target="/ppt/media/image219.bin" Id="rId447" /><Relationship Type="http://schemas.openxmlformats.org/officeDocument/2006/relationships/image" Target="/ppt/media/image220.bin" Id="rId449" /><Relationship Type="http://schemas.openxmlformats.org/officeDocument/2006/relationships/image" Target="/ppt/media/image221.bin" Id="rId451" /><Relationship Type="http://schemas.openxmlformats.org/officeDocument/2006/relationships/image" Target="/ppt/media/image222.bin" Id="rId453" /><Relationship Type="http://schemas.openxmlformats.org/officeDocument/2006/relationships/image" Target="/ppt/media/image223.bin" Id="rId455" /><Relationship Type="http://schemas.openxmlformats.org/officeDocument/2006/relationships/image" Target="/ppt/media/image224.bin" Id="rId457" /><Relationship Type="http://schemas.openxmlformats.org/officeDocument/2006/relationships/image" Target="/ppt/media/image225.bin" Id="rId459" /><Relationship Type="http://schemas.openxmlformats.org/officeDocument/2006/relationships/image" Target="/ppt/media/image226.bin" Id="rId461" /><Relationship Type="http://schemas.openxmlformats.org/officeDocument/2006/relationships/image" Target="/ppt/media/image227.bin" Id="rId463" /><Relationship Type="http://schemas.openxmlformats.org/officeDocument/2006/relationships/image" Target="/ppt/media/image228.bin" Id="rId465" /><Relationship Type="http://schemas.openxmlformats.org/officeDocument/2006/relationships/image" Target="/ppt/media/image229.bin" Id="rId467" /><Relationship Type="http://schemas.openxmlformats.org/officeDocument/2006/relationships/image" Target="/ppt/media/image230.bin" Id="rId469" /><Relationship Type="http://schemas.openxmlformats.org/officeDocument/2006/relationships/image" Target="/ppt/media/image231.bin" Id="rId471" /><Relationship Type="http://schemas.openxmlformats.org/officeDocument/2006/relationships/image" Target="/ppt/media/image232.bin" Id="rId473" /><Relationship Type="http://schemas.openxmlformats.org/officeDocument/2006/relationships/image" Target="/ppt/media/image233.bin" Id="rId475" /><Relationship Type="http://schemas.openxmlformats.org/officeDocument/2006/relationships/image" Target="/ppt/media/image234.bin" Id="rId477" /><Relationship Type="http://schemas.openxmlformats.org/officeDocument/2006/relationships/image" Target="/ppt/media/image235.bin" Id="rId479" /><Relationship Type="http://schemas.openxmlformats.org/officeDocument/2006/relationships/image" Target="/ppt/media/image236.bin" Id="rId481" /><Relationship Type="http://schemas.openxmlformats.org/officeDocument/2006/relationships/image" Target="/ppt/media/image237.bin" Id="rId483" /><Relationship Type="http://schemas.openxmlformats.org/officeDocument/2006/relationships/image" Target="/ppt/media/image238.bin" Id="rId485" /><Relationship Type="http://schemas.openxmlformats.org/officeDocument/2006/relationships/image" Target="/ppt/media/image239.bin" Id="rId487" /><Relationship Type="http://schemas.openxmlformats.org/officeDocument/2006/relationships/image" Target="/ppt/media/image240.bin" Id="rId489" /><Relationship Type="http://schemas.openxmlformats.org/officeDocument/2006/relationships/image" Target="/ppt/media/image241.bin" Id="rId491" /><Relationship Type="http://schemas.openxmlformats.org/officeDocument/2006/relationships/image" Target="/ppt/media/image242.bin" Id="rId493" /><Relationship Type="http://schemas.openxmlformats.org/officeDocument/2006/relationships/image" Target="/ppt/media/image243.bin" Id="rId495" /><Relationship Type="http://schemas.openxmlformats.org/officeDocument/2006/relationships/image" Target="/ppt/media/image244.bin" Id="rId497" /><Relationship Type="http://schemas.openxmlformats.org/officeDocument/2006/relationships/image" Target="/ppt/media/image245.bin" Id="rId499" /><Relationship Type="http://schemas.openxmlformats.org/officeDocument/2006/relationships/image" Target="/ppt/media/image246.bin" Id="rId501" /><Relationship Type="http://schemas.openxmlformats.org/officeDocument/2006/relationships/image" Target="/ppt/media/image247.bin" Id="rId503" /><Relationship Type="http://schemas.openxmlformats.org/officeDocument/2006/relationships/image" Target="/ppt/media/image248.bin" Id="rId505" /><Relationship Type="http://schemas.openxmlformats.org/officeDocument/2006/relationships/image" Target="/ppt/media/image249.bin" Id="rId507" /><Relationship Type="http://schemas.openxmlformats.org/officeDocument/2006/relationships/image" Target="/ppt/media/image250.bin" Id="rId509" /><Relationship Type="http://schemas.openxmlformats.org/officeDocument/2006/relationships/image" Target="/ppt/media/image251.bin" Id="rId511" /><Relationship Type="http://schemas.openxmlformats.org/officeDocument/2006/relationships/image" Target="/ppt/media/image252.bin" Id="rId513" /><Relationship Type="http://schemas.openxmlformats.org/officeDocument/2006/relationships/image" Target="/ppt/media/image253.bin" Id="rId515" /><Relationship Type="http://schemas.openxmlformats.org/officeDocument/2006/relationships/image" Target="/ppt/media/image254.bin" Id="rId517" /><Relationship Type="http://schemas.openxmlformats.org/officeDocument/2006/relationships/image" Target="/ppt/media/image255.bin" Id="rId519" /><Relationship Type="http://schemas.openxmlformats.org/officeDocument/2006/relationships/image" Target="/ppt/media/image256.bin" Id="rId521" /><Relationship Type="http://schemas.openxmlformats.org/officeDocument/2006/relationships/image" Target="/ppt/media/image257.bin" Id="rId523" /><Relationship Type="http://schemas.openxmlformats.org/officeDocument/2006/relationships/image" Target="/ppt/media/image258.bin" Id="rId525" /><Relationship Type="http://schemas.openxmlformats.org/officeDocument/2006/relationships/image" Target="/ppt/media/image259.bin" Id="rId527" /><Relationship Type="http://schemas.openxmlformats.org/officeDocument/2006/relationships/image" Target="/ppt/media/image260.bin" Id="rId529" /><Relationship Type="http://schemas.openxmlformats.org/officeDocument/2006/relationships/image" Target="/ppt/media/image261.bin" Id="rId531" /><Relationship Type="http://schemas.openxmlformats.org/officeDocument/2006/relationships/image" Target="/ppt/media/image262.bin" Id="rId533" /><Relationship Type="http://schemas.openxmlformats.org/officeDocument/2006/relationships/image" Target="/ppt/media/image263.bin" Id="rId535" /><Relationship Type="http://schemas.openxmlformats.org/officeDocument/2006/relationships/image" Target="/ppt/media/image264.bin" Id="rId537" /><Relationship Type="http://schemas.openxmlformats.org/officeDocument/2006/relationships/image" Target="/ppt/media/image265.bin" Id="rId539" /><Relationship Type="http://schemas.openxmlformats.org/officeDocument/2006/relationships/image" Target="/ppt/media/image266.bin" Id="rId5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43" /><Relationship Type="http://schemas.openxmlformats.org/officeDocument/2006/relationships/image" Target="/ppt/media/image267.bin" Id="rId545" /><Relationship Type="http://schemas.openxmlformats.org/officeDocument/2006/relationships/image" Target="/ppt/media/image268.bin" Id="rId5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49" /><Relationship Type="http://schemas.openxmlformats.org/officeDocument/2006/relationships/image" Target="/ppt/media/image269.bin" Id="rId551" /><Relationship Type="http://schemas.openxmlformats.org/officeDocument/2006/relationships/image" Target="/ppt/media/image270.bin" Id="rId553" /><Relationship Type="http://schemas.openxmlformats.org/officeDocument/2006/relationships/image" Target="/ppt/media/image271.bin" Id="rId555" /><Relationship Type="http://schemas.openxmlformats.org/officeDocument/2006/relationships/image" Target="/ppt/media/image272.bin" Id="rId557" /><Relationship Type="http://schemas.openxmlformats.org/officeDocument/2006/relationships/image" Target="/ppt/media/image273.bin" Id="rId559" /><Relationship Type="http://schemas.openxmlformats.org/officeDocument/2006/relationships/image" Target="/ppt/media/image274.bin" Id="rId561" /><Relationship Type="http://schemas.openxmlformats.org/officeDocument/2006/relationships/image" Target="/ppt/media/image275.bin" Id="rId562" /><Relationship Type="http://schemas.openxmlformats.org/officeDocument/2006/relationships/image" Target="/ppt/media/image276.bin" Id="rId564" /><Relationship Type="http://schemas.openxmlformats.org/officeDocument/2006/relationships/image" Target="/ppt/media/image277.bin" Id="rId566" /><Relationship Type="http://schemas.openxmlformats.org/officeDocument/2006/relationships/image" Target="/ppt/media/image278.bin" Id="rId567" /><Relationship Type="http://schemas.openxmlformats.org/officeDocument/2006/relationships/image" Target="/ppt/media/image279.bin" Id="rId569" /><Relationship Type="http://schemas.openxmlformats.org/officeDocument/2006/relationships/image" Target="/ppt/media/image280.bin" Id="rId571" /><Relationship Type="http://schemas.openxmlformats.org/officeDocument/2006/relationships/image" Target="/ppt/media/image281.bin" Id="rId572" /><Relationship Type="http://schemas.openxmlformats.org/officeDocument/2006/relationships/image" Target="/ppt/media/image282.bin" Id="rId574" /><Relationship Type="http://schemas.openxmlformats.org/officeDocument/2006/relationships/image" Target="/ppt/media/image283.bin" Id="rId576" /><Relationship Type="http://schemas.openxmlformats.org/officeDocument/2006/relationships/image" Target="/ppt/media/image284.bin" Id="rId5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79" /><Relationship Type="http://schemas.openxmlformats.org/officeDocument/2006/relationships/image" Target="/ppt/media/image285.bin" Id="rId581" /><Relationship Type="http://schemas.openxmlformats.org/officeDocument/2006/relationships/image" Target="/ppt/media/image286.bin" Id="rId583" /><Relationship Type="http://schemas.openxmlformats.org/officeDocument/2006/relationships/image" Target="/ppt/media/image287.bin" Id="rId585" /><Relationship Type="http://schemas.openxmlformats.org/officeDocument/2006/relationships/image" Target="/ppt/media/image288.bin" Id="rId587" /><Relationship Type="http://schemas.openxmlformats.org/officeDocument/2006/relationships/image" Target="/ppt/media/image289.bin" Id="rId589" /><Relationship Type="http://schemas.openxmlformats.org/officeDocument/2006/relationships/image" Target="/ppt/media/image290.bin" Id="rId591" /><Relationship Type="http://schemas.openxmlformats.org/officeDocument/2006/relationships/image" Target="/ppt/media/image291.bin" Id="rId593" /><Relationship Type="http://schemas.openxmlformats.org/officeDocument/2006/relationships/image" Target="/ppt/media/image292.bin" Id="rId595" /><Relationship Type="http://schemas.openxmlformats.org/officeDocument/2006/relationships/image" Target="/ppt/media/image293.bin" Id="rId597" /><Relationship Type="http://schemas.openxmlformats.org/officeDocument/2006/relationships/image" Target="/ppt/media/image294.bin" Id="rId598" /><Relationship Type="http://schemas.openxmlformats.org/officeDocument/2006/relationships/image" Target="/ppt/media/image295.bin" Id="rId600" /><Relationship Type="http://schemas.openxmlformats.org/officeDocument/2006/relationships/image" Target="/ppt/media/image296.bin" Id="rId601" /><Relationship Type="http://schemas.openxmlformats.org/officeDocument/2006/relationships/image" Target="/ppt/media/image297.bin" Id="rId603" /><Relationship Type="http://schemas.openxmlformats.org/officeDocument/2006/relationships/image" Target="/ppt/media/image298.bin" Id="rId604" /><Relationship Type="http://schemas.openxmlformats.org/officeDocument/2006/relationships/image" Target="/ppt/media/image299.bin" Id="rId606" /><Relationship Type="http://schemas.openxmlformats.org/officeDocument/2006/relationships/image" Target="/ppt/media/image300.bin" Id="rId607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3315593" y="0"/>
            <a:ext cx="14972405" cy="10287000"/>
          </a:xfrm>
          <a:prstGeom prst="rect">
            <a:avLst/>
          </a:prstGeom>
        </p:spPr>
      </p:pic>
      <p:pic>
        <p:nvPicPr>
          <p:cNvPr id="30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 amt="6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sp>
        <p:nvSpPr>
          <p:cNvPr id="30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3799332"/>
            <a:ext cx="12225338" cy="1676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Unified Observability for Wholesale Credit and Lending</a:t>
            </a:r>
          </a:p>
        </p:txBody>
      </p:sp>
      <p:sp>
        <p:nvSpPr>
          <p:cNvPr id="31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5576506"/>
            <a:ext cx="12225338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Cross-platform logging, tracing, and incident automation</a:t>
            </a:r>
            <a:r>
              <a:rPr lang="en-US" sz="2100" spc="-4" dirty="0">
                <a:solidFill>
                  <a:srgbClr val="FFFFFF"/>
                </a:solidFill>
                <a:latin typeface="Inter" panose="00000700000000000000" pitchFamily="2" charset="0"/>
              </a:rPr>
              <a:t>Target-state architecture across DCP, GCP, and legacy with correlation ID-driven traceability and SRE-ready dashboards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1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 amt="100000"/>
            <a:extLst>
              <a:ext uri="{63D45E5B-0324-4DA5-A35A-08B5440C3481}">
                <asvg:svgBlip xmlns:r="http://schemas.openxmlformats.org/officeDocument/2006/relationships" xmlns:asvg="http://schemas.microsoft.com/office/drawing/2016/SVG/main" r:embed="rId2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2779109"/>
            <a:ext cx="841153" cy="841153"/>
          </a:xfrm>
          <a:prstGeom prst="rect">
            <a:avLst/>
          </a:prstGeom>
        </p:spPr>
      </p:pic>
      <p:sp>
        <p:nvSpPr>
          <p:cNvPr id="31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2875883"/>
            <a:ext cx="107965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telemetry across PowerApps, Azure, GCP, and legacy platforms</a:t>
            </a:r>
          </a:p>
        </p:txBody>
      </p:sp>
      <p:sp>
        <p:nvSpPr>
          <p:cNvPr id="32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3188208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Single observability layer for consolidated troubleshooting</a:t>
            </a:r>
          </a:p>
        </p:txBody>
      </p:sp>
      <p:pic>
        <p:nvPicPr>
          <p:cNvPr id="322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100000"/>
            <a:extLst>
              <a:ext uri="{791F998C-63DD-46DF-BC1C-3CB01EA1264F}">
                <asvg:svgBlip xmlns:r="http://schemas.openxmlformats.org/officeDocument/2006/relationships" xmlns:asvg="http://schemas.microsoft.com/office/drawing/2016/SVG/main" r:embed="rId3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3848767"/>
            <a:ext cx="841153" cy="841153"/>
          </a:xfrm>
          <a:prstGeom prst="rect">
            <a:avLst/>
          </a:prstGeom>
        </p:spPr>
      </p:pic>
      <p:sp>
        <p:nvSpPr>
          <p:cNvPr id="32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3945636"/>
            <a:ext cx="107965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End-to-end traceability using Correlation ID from UI to backend</a:t>
            </a:r>
          </a:p>
        </p:txBody>
      </p:sp>
      <p:sp>
        <p:nvSpPr>
          <p:cNvPr id="32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4257961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Full request context for faster root cause analysis</a:t>
            </a:r>
          </a:p>
        </p:txBody>
      </p:sp>
      <p:pic>
        <p:nvPicPr>
          <p:cNvPr id="328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 amt="100000"/>
            <a:extLst>
              <a:ext uri="{C7672396-003F-4395-AD1F-03A5437977C1}">
                <asvg:svgBlip xmlns:r="http://schemas.openxmlformats.org/officeDocument/2006/relationships" xmlns:asvg="http://schemas.microsoft.com/office/drawing/2016/SVG/main" r:embed="rId3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4918520"/>
            <a:ext cx="841153" cy="841153"/>
          </a:xfrm>
          <a:prstGeom prst="rect">
            <a:avLst/>
          </a:prstGeom>
        </p:spPr>
      </p:pic>
      <p:sp>
        <p:nvSpPr>
          <p:cNvPr id="33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5015294"/>
            <a:ext cx="107965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OpenTelemetry ingestion with Grafana, Loki, and Tempo as the stack</a:t>
            </a:r>
          </a:p>
        </p:txBody>
      </p:sp>
      <p:sp>
        <p:nvSpPr>
          <p:cNvPr id="33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5327618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Standardized telemetry pipeline and storage</a:t>
            </a:r>
          </a:p>
        </p:txBody>
      </p:sp>
      <p:pic>
        <p:nvPicPr>
          <p:cNvPr id="334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100000"/>
            <a:extLst>
              <a:ext uri="{531C8EDC-566A-40F6-BA8A-381CB74EBF10}">
                <asvg:svgBlip xmlns:r="http://schemas.openxmlformats.org/officeDocument/2006/relationships" xmlns:asvg="http://schemas.microsoft.com/office/drawing/2016/SVG/main" r:embed="rId3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5988177"/>
            <a:ext cx="841153" cy="841153"/>
          </a:xfrm>
          <a:prstGeom prst="rect">
            <a:avLst/>
          </a:prstGeom>
        </p:spPr>
      </p:pic>
      <p:sp>
        <p:nvSpPr>
          <p:cNvPr id="33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6084951"/>
            <a:ext cx="107965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Faster detection and response via xMatters and ServiceNow integration</a:t>
            </a:r>
          </a:p>
        </p:txBody>
      </p:sp>
      <p:sp>
        <p:nvSpPr>
          <p:cNvPr id="33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6397276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Automated alerts and ticketed incident workflows</a:t>
            </a:r>
          </a:p>
        </p:txBody>
      </p:sp>
      <p:pic>
        <p:nvPicPr>
          <p:cNvPr id="340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alphaModFix amt="100000"/>
            <a:extLst>
              <a:ext uri="{36C477F0-051B-4CDA-ADDE-48430FDB7ACF}">
                <asvg:svgBlip xmlns:r="http://schemas.openxmlformats.org/officeDocument/2006/relationships" xmlns:asvg="http://schemas.microsoft.com/office/drawing/2016/SVG/main" r:embed="rId3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7057834"/>
            <a:ext cx="841153" cy="841153"/>
          </a:xfrm>
          <a:prstGeom prst="rect">
            <a:avLst/>
          </a:prstGeom>
        </p:spPr>
      </p:pic>
      <p:sp>
        <p:nvSpPr>
          <p:cNvPr id="34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7154704"/>
            <a:ext cx="107965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Foundation for SRE practices, SLOs, and regulatory-grade audit trails</a:t>
            </a:r>
          </a:p>
        </p:txBody>
      </p:sp>
      <p:sp>
        <p:nvSpPr>
          <p:cNvPr id="34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7467028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Enables runbooks, SLAs, and compliant auditing</a:t>
            </a:r>
          </a:p>
        </p:txBody>
      </p:sp>
      <p:pic>
        <p:nvPicPr>
          <p:cNvPr id="346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100000"/>
            <a:extLst>
              <a:ext uri="{E963DC20-FBFC-48B3-9C83-343C7828564D}">
                <asvg:svgBlip xmlns:r="http://schemas.openxmlformats.org/officeDocument/2006/relationships" xmlns:asvg="http://schemas.microsoft.com/office/drawing/2016/SVG/main" r:embed="rId4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8167878"/>
            <a:ext cx="841153" cy="841153"/>
          </a:xfrm>
          <a:prstGeom prst="rect">
            <a:avLst/>
          </a:prstGeom>
        </p:spPr>
      </p:pic>
      <p:sp>
        <p:nvSpPr>
          <p:cNvPr id="34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8127587"/>
            <a:ext cx="10796588" cy="561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Why it matters: consolidated troubleshooting, consistent KPIs, faster RCA and release decisions</a:t>
            </a:r>
          </a:p>
        </p:txBody>
      </p:sp>
      <p:sp>
        <p:nvSpPr>
          <p:cNvPr id="350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8714137"/>
            <a:ext cx="1079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Clear SLAs for Product and Delivery; operational model for SREs</a:t>
            </a:r>
          </a:p>
        </p:txBody>
      </p:sp>
      <p:sp>
        <p:nvSpPr>
          <p:cNvPr id="35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4263771"/>
            <a:ext cx="4557712" cy="2524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Summary: unified observability enabling consistent KPIs and accelerated incident lifecycle</a:t>
            </a:r>
          </a:p>
        </p:txBody>
      </p:sp>
      <p:sp>
        <p:nvSpPr>
          <p:cNvPr id="35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6892480"/>
            <a:ext cx="4557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Operational clarity for engineering and product teams</a:t>
            </a:r>
          </a:p>
        </p:txBody>
      </p:sp>
      <p:sp>
        <p:nvSpPr>
          <p:cNvPr id="35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Observability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Target-State</a:t>
            </a:r>
          </a:p>
        </p:txBody>
      </p:sp>
      <p:sp>
        <p:nvSpPr>
          <p:cNvPr id="35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Consistent tracing and incident workflows across PowerApps, Azure, GCP, and legacy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alphaModFix amt="100000"/>
          </a:blip>
          <a:stretch/>
        </p:blipFill>
        <p:spPr>
          <a:xfrm>
            <a:off x="0" y="7255192"/>
            <a:ext cx="2286000" cy="3009900"/>
          </a:xfrm>
          <a:prstGeom prst="rect">
            <a:avLst/>
          </a:prstGeom>
        </p:spPr>
      </p:pic>
      <p:pic>
        <p:nvPicPr>
          <p:cNvPr id="364" name="curvedroadmap-start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alphaModFix amt="100000"/>
            <a:extLst>
              <a:ext uri="{6D4EF607-49D0-4E94-962E-0A583FFEDF62}">
                <asvg:svgBlip xmlns:r="http://schemas.openxmlformats.org/officeDocument/2006/relationships" xmlns:asvg="http://schemas.microsoft.com/office/drawing/2016/SVG/main" r:embed="rId51"/>
                <a14:useLocalDpi xmlns:a14="http://schemas.microsoft.com/office/drawing/2010/main" val="0"/>
              </a:ext>
            </a:extLst>
          </a:blip>
          <a:srcRect l="0" t="-20" r="0" b="-20"/>
          <a:stretch/>
        </p:blipFill>
        <p:spPr>
          <a:xfrm>
            <a:off x="0" y="0"/>
            <a:ext cx="18287905" cy="10286905"/>
          </a:xfrm>
          <a:prstGeom prst="rect">
            <a:avLst/>
          </a:prstGeom>
        </p:spPr>
      </p:pic>
      <p:pic>
        <p:nvPicPr>
          <p:cNvPr id="365" name="curvedroadmap-mid1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>
            <a:alphaModFix amt="100000"/>
            <a:extLst>
              <a:ext uri="{65CF1C4E-5DEF-4D90-92E0-FF0ABB1CA340}">
                <asvg:svgBlip xmlns:r="http://schemas.openxmlformats.org/officeDocument/2006/relationships" xmlns:asvg="http://schemas.microsoft.com/office/drawing/2016/SVG/main" r:embed="rId54"/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0286905"/>
            <a:ext cx="18287905" cy="10286905"/>
          </a:xfrm>
          <a:prstGeom prst="rect">
            <a:avLst/>
          </a:prstGeom>
        </p:spPr>
      </p:pic>
      <p:pic>
        <p:nvPicPr>
          <p:cNvPr id="3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alphaModFix amt="100000"/>
          </a:blip>
          <a:stretch/>
        </p:blipFill>
        <p:spPr>
          <a:xfrm>
            <a:off x="12648914" y="3009995"/>
            <a:ext cx="342900" cy="342900"/>
          </a:xfrm>
          <a:prstGeom prst="rect">
            <a:avLst/>
          </a:prstGeom>
        </p:spPr>
      </p:pic>
      <p:sp>
        <p:nvSpPr>
          <p:cNvPr id="36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09112" y="3046381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36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29960" y="3447955"/>
            <a:ext cx="50911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PowerApps event capture</a:t>
            </a:r>
          </a:p>
        </p:txBody>
      </p:sp>
      <p:sp>
        <p:nvSpPr>
          <p:cNvPr id="36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29960" y="3737420"/>
            <a:ext cx="5091112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Front-end instrumentation and correlation ID injection at source.</a:t>
            </a:r>
          </a:p>
        </p:txBody>
      </p:sp>
      <p:pic>
        <p:nvPicPr>
          <p:cNvPr id="3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alphaModFix amt="100000"/>
          </a:blip>
          <a:stretch/>
        </p:blipFill>
        <p:spPr>
          <a:xfrm>
            <a:off x="5924455" y="6767512"/>
            <a:ext cx="342900" cy="342900"/>
          </a:xfrm>
          <a:prstGeom prst="rect">
            <a:avLst/>
          </a:prstGeom>
        </p:spPr>
      </p:pic>
      <p:sp>
        <p:nvSpPr>
          <p:cNvPr id="371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85796" y="6803898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37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7205472"/>
            <a:ext cx="5748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Application Insights</a:t>
            </a:r>
          </a:p>
        </p:txBody>
      </p:sp>
      <p:sp>
        <p:nvSpPr>
          <p:cNvPr id="37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7495032"/>
            <a:ext cx="57483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Central telemetry ingest and short term retention; initial normalization.</a:t>
            </a:r>
          </a:p>
        </p:txBody>
      </p:sp>
      <p:sp>
        <p:nvSpPr>
          <p:cNvPr id="37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90820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Observability Target-State Architecture</a:t>
            </a:r>
          </a:p>
        </p:txBody>
      </p:sp>
      <p:sp>
        <p:nvSpPr>
          <p:cNvPr id="37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90820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PowerApps, Azure, OTEL, Grafana, GCP, AppDynamics, xMatters, ServiceNow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alphaModFix amt="100000"/>
          </a:blip>
          <a:stretch/>
        </p:blipFill>
        <p:spPr>
          <a:xfrm>
            <a:off x="0" y="7255192"/>
            <a:ext cx="2286000" cy="3009900"/>
          </a:xfrm>
          <a:prstGeom prst="rect">
            <a:avLst/>
          </a:prstGeom>
        </p:spPr>
      </p:pic>
      <p:pic>
        <p:nvPicPr>
          <p:cNvPr id="382" name="curvedroadmap-mid1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  <a:extLst>
              <a:ext uri="{E6F74FEF-89B2-45DF-84AD-CEC344B2AE01}">
                <asvg:svgBlip xmlns:r="http://schemas.openxmlformats.org/officeDocument/2006/relationships" xmlns:asvg="http://schemas.microsoft.com/office/drawing/2016/SVG/main" r:embed="rId66"/>
                <a14:useLocalDpi xmlns:a14="http://schemas.microsoft.com/office/drawing/2010/main" val="0"/>
              </a:ext>
            </a:extLst>
          </a:blip>
          <a:srcRect l="0" t="-20" r="0" b="-20"/>
          <a:stretch/>
        </p:blipFill>
        <p:spPr>
          <a:xfrm>
            <a:off x="0" y="-95"/>
            <a:ext cx="18287905" cy="10286905"/>
          </a:xfrm>
          <a:prstGeom prst="rect">
            <a:avLst/>
          </a:prstGeom>
        </p:spPr>
      </p:pic>
      <p:pic>
        <p:nvPicPr>
          <p:cNvPr id="383" name="curvedroadmap-mid2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>
            <a:alphaModFix amt="100000"/>
            <a:extLst>
              <a:ext uri="{946B5AE5-7C55-48E5-A16E-79CC201BD25F}">
                <asvg:svgBlip xmlns:r="http://schemas.openxmlformats.org/officeDocument/2006/relationships" xmlns:asvg="http://schemas.microsoft.com/office/drawing/2016/SVG/main" r:embed="rId69"/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0286810"/>
            <a:ext cx="18287905" cy="10286905"/>
          </a:xfrm>
          <a:prstGeom prst="rect">
            <a:avLst/>
          </a:prstGeom>
        </p:spPr>
      </p:pic>
      <p:pic>
        <p:nvPicPr>
          <p:cNvPr id="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5924455" y="2037398"/>
            <a:ext cx="342900" cy="342900"/>
          </a:xfrm>
          <a:prstGeom prst="rect">
            <a:avLst/>
          </a:prstGeom>
        </p:spPr>
      </p:pic>
      <p:sp>
        <p:nvSpPr>
          <p:cNvPr id="385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81890" y="2073783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38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2475357"/>
            <a:ext cx="5748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Azure Storage</a:t>
            </a:r>
          </a:p>
        </p:txBody>
      </p:sp>
      <p:sp>
        <p:nvSpPr>
          <p:cNvPr id="38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2764917"/>
            <a:ext cx="5748338" cy="323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Durable raw telemetry archive for transformation and replay.</a:t>
            </a:r>
          </a:p>
        </p:txBody>
      </p:sp>
      <p:pic>
        <p:nvPicPr>
          <p:cNvPr id="3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12648914" y="5480209"/>
            <a:ext cx="342900" cy="342900"/>
          </a:xfrm>
          <a:prstGeom prst="rect">
            <a:avLst/>
          </a:prstGeom>
        </p:spPr>
      </p:pic>
      <p:sp>
        <p:nvSpPr>
          <p:cNvPr id="389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99968" y="5516594"/>
            <a:ext cx="27146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39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29960" y="5918168"/>
            <a:ext cx="50911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Azure Functions</a:t>
            </a:r>
          </a:p>
        </p:txBody>
      </p:sp>
      <p:sp>
        <p:nvSpPr>
          <p:cNvPr id="39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29960" y="6207633"/>
            <a:ext cx="5091112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Transform, enrich, and forward normalized telemetry to OTEL Collector.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100000"/>
          </a:blip>
          <a:stretch/>
        </p:blipFill>
        <p:spPr>
          <a:xfrm>
            <a:off x="0" y="7255192"/>
            <a:ext cx="2286000" cy="3009900"/>
          </a:xfrm>
          <a:prstGeom prst="rect">
            <a:avLst/>
          </a:prstGeom>
        </p:spPr>
      </p:pic>
      <p:pic>
        <p:nvPicPr>
          <p:cNvPr id="396" name="curvedroadmap-mid2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">
            <a:alphaModFix amt="100000"/>
            <a:extLst>
              <a:ext uri="{24F1EB32-EBDA-4A53-92EA-CBAAF8644F03}">
                <asvg:svgBlip xmlns:r="http://schemas.openxmlformats.org/officeDocument/2006/relationships" xmlns:asvg="http://schemas.microsoft.com/office/drawing/2016/SVG/main" r:embed="rId81"/>
                <a14:useLocalDpi xmlns:a14="http://schemas.microsoft.com/office/drawing/2010/main" val="0"/>
              </a:ext>
            </a:extLst>
          </a:blip>
          <a:srcRect l="0" t="-20" r="0" b="-20"/>
          <a:stretch/>
        </p:blipFill>
        <p:spPr>
          <a:xfrm>
            <a:off x="0" y="-190"/>
            <a:ext cx="18287905" cy="10286905"/>
          </a:xfrm>
          <a:prstGeom prst="rect">
            <a:avLst/>
          </a:prstGeom>
        </p:spPr>
      </p:pic>
      <p:pic>
        <p:nvPicPr>
          <p:cNvPr id="397" name="curvedroadmap-end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>
            <a:alphaModFix amt="100000"/>
            <a:extLst>
              <a:ext uri="{753BB988-6E34-4236-AC69-A8362836BA49}">
                <asvg:svgBlip xmlns:r="http://schemas.openxmlformats.org/officeDocument/2006/relationships" xmlns:asvg="http://schemas.microsoft.com/office/drawing/2016/SVG/main" r:embed="rId84"/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0286714"/>
            <a:ext cx="18287905" cy="10286905"/>
          </a:xfrm>
          <a:prstGeom prst="rect">
            <a:avLst/>
          </a:prstGeom>
        </p:spPr>
      </p:pic>
      <p:pic>
        <p:nvPicPr>
          <p:cNvPr id="3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8661368" y="2152650"/>
            <a:ext cx="342900" cy="342900"/>
          </a:xfrm>
          <a:prstGeom prst="rect">
            <a:avLst/>
          </a:prstGeom>
        </p:spPr>
      </p:pic>
      <p:sp>
        <p:nvSpPr>
          <p:cNvPr id="399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18328" y="2188940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40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42414" y="2590610"/>
            <a:ext cx="50911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OpenTelemetry Collector</a:t>
            </a:r>
          </a:p>
        </p:txBody>
      </p:sp>
      <p:sp>
        <p:nvSpPr>
          <p:cNvPr id="40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42414" y="2880074"/>
            <a:ext cx="5091112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Cloud-agnostic collector: normalization, enrichment, sampling, and correlation preservation.</a:t>
            </a:r>
          </a:p>
        </p:txBody>
      </p:sp>
      <p:pic>
        <p:nvPicPr>
          <p:cNvPr id="4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11668792" y="7267480"/>
            <a:ext cx="342900" cy="342900"/>
          </a:xfrm>
          <a:prstGeom prst="rect">
            <a:avLst/>
          </a:prstGeom>
        </p:spPr>
      </p:pic>
      <p:sp>
        <p:nvSpPr>
          <p:cNvPr id="403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27370" y="7303865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06</a:t>
            </a:r>
          </a:p>
        </p:txBody>
      </p:sp>
      <p:sp>
        <p:nvSpPr>
          <p:cNvPr id="404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49837" y="7705439"/>
            <a:ext cx="610076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Loki, Tempo, Prometheus</a:t>
            </a:r>
          </a:p>
        </p:txBody>
      </p:sp>
      <p:sp>
        <p:nvSpPr>
          <p:cNvPr id="405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49837" y="7994904"/>
            <a:ext cx="6100762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Logs to Loki, traces to Tempo, metrics to Prometheus for storage and query.</a:t>
            </a:r>
          </a:p>
        </p:txBody>
      </p:sp>
      <p:sp>
        <p:nvSpPr>
          <p:cNvPr id="40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90820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Observability Target-State Architecture</a:t>
            </a:r>
          </a:p>
        </p:txBody>
      </p:sp>
      <p:sp>
        <p:nvSpPr>
          <p:cNvPr id="40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90820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PowerApps, Azure, OTEL, Grafana, GCP, AppDynamics, xMatters, ServiceNow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">
            <a:alphaModFix amt="100000"/>
          </a:blip>
          <a:stretch/>
        </p:blipFill>
        <p:spPr>
          <a:xfrm>
            <a:off x="0" y="7255192"/>
            <a:ext cx="2286000" cy="3009900"/>
          </a:xfrm>
          <a:prstGeom prst="rect">
            <a:avLst/>
          </a:prstGeom>
        </p:spPr>
      </p:pic>
      <p:pic>
        <p:nvPicPr>
          <p:cNvPr id="414" name="curvedroadmap-end-main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  <a:extLst>
              <a:ext uri="{5F396D8C-D3E7-4309-B8F4-AA2103D90A0F}">
                <asvg:svgBlip xmlns:r="http://schemas.openxmlformats.org/officeDocument/2006/relationships" xmlns:asvg="http://schemas.microsoft.com/office/drawing/2016/SVG/main" r:embed="rId96"/>
                <a14:useLocalDpi xmlns:a14="http://schemas.microsoft.com/office/drawing/2010/main" val="0"/>
              </a:ext>
            </a:extLst>
          </a:blip>
          <a:srcRect l="0" t="-20" r="0" b="-20"/>
          <a:stretch/>
        </p:blipFill>
        <p:spPr>
          <a:xfrm>
            <a:off x="0" y="-286"/>
            <a:ext cx="18287905" cy="10286905"/>
          </a:xfrm>
          <a:prstGeom prst="rect">
            <a:avLst/>
          </a:prstGeom>
        </p:spPr>
      </p:pic>
      <p:pic>
        <p:nvPicPr>
          <p:cNvPr id="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5914454" y="1880997"/>
            <a:ext cx="342900" cy="342900"/>
          </a:xfrm>
          <a:prstGeom prst="rect">
            <a:avLst/>
          </a:prstGeom>
        </p:spPr>
      </p:pic>
      <p:sp>
        <p:nvSpPr>
          <p:cNvPr id="416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75318" y="1917382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07</a:t>
            </a:r>
          </a:p>
        </p:txBody>
      </p:sp>
      <p:sp>
        <p:nvSpPr>
          <p:cNvPr id="417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2318956"/>
            <a:ext cx="57388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Grafana visualization</a:t>
            </a:r>
          </a:p>
        </p:txBody>
      </p:sp>
      <p:sp>
        <p:nvSpPr>
          <p:cNvPr id="418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1500" y="2608421"/>
            <a:ext cx="5738812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Central dashboards, combined visual traces, metrics, and logs; alerting source.</a:t>
            </a:r>
          </a:p>
        </p:txBody>
      </p:sp>
      <p:pic>
        <p:nvPicPr>
          <p:cNvPr id="4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">
            <a:alphaModFix amt="100000"/>
          </a:blip>
          <a:stretch/>
        </p:blipFill>
        <p:spPr>
          <a:xfrm>
            <a:off x="12234567" y="5381476"/>
            <a:ext cx="342900" cy="342900"/>
          </a:xfrm>
          <a:prstGeom prst="rect">
            <a:avLst/>
          </a:prstGeom>
        </p:spPr>
      </p:pic>
      <p:sp>
        <p:nvSpPr>
          <p:cNvPr id="420" name="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1441" y="5417915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08</a:t>
            </a:r>
          </a:p>
        </p:txBody>
      </p:sp>
      <p:sp>
        <p:nvSpPr>
          <p:cNvPr id="421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15717" y="5819489"/>
            <a:ext cx="55197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Incident routing</a:t>
            </a:r>
          </a:p>
        </p:txBody>
      </p:sp>
      <p:sp>
        <p:nvSpPr>
          <p:cNvPr id="422" name="Description of a 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15717" y="6109049"/>
            <a:ext cx="55197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Alerts from Grafana and OTEL plus GCP Monitoring to xMatters then ServiceNow.</a:t>
            </a:r>
          </a:p>
        </p:txBody>
      </p:sp>
      <p:sp>
        <p:nvSpPr>
          <p:cNvPr id="4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90820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Observability Target-State Architecture</a:t>
            </a:r>
          </a:p>
        </p:txBody>
      </p:sp>
      <p:sp>
        <p:nvSpPr>
          <p:cNvPr id="4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90820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PowerApps, Azure, OTEL, Grafana, GCP, AppDynamics, xMatters, ServiceNow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431" name="-44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2396204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Generate at PowerApps</a:t>
            </a:r>
          </a:p>
        </p:txBody>
      </p:sp>
      <p:pic>
        <p:nvPicPr>
          <p:cNvPr id="43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100000"/>
          </a:blip>
          <a:stretch/>
        </p:blipFill>
        <p:spPr>
          <a:xfrm>
            <a:off x="760666" y="2526506"/>
            <a:ext cx="190351" cy="190351"/>
          </a:xfrm>
          <a:prstGeom prst="rect">
            <a:avLst/>
          </a:prstGeom>
        </p:spPr>
      </p:pic>
      <p:sp>
        <p:nvSpPr>
          <p:cNvPr id="433" name="-44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3037713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Create a single correlation_id at the PowerApps entry point; use consistent field name</a:t>
            </a:r>
          </a:p>
        </p:txBody>
      </p:sp>
      <p:pic>
        <p:nvPicPr>
          <p:cNvPr id="43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">
            <a:alphaModFix amt="100000"/>
          </a:blip>
          <a:stretch/>
        </p:blipFill>
        <p:spPr>
          <a:xfrm>
            <a:off x="1275011" y="3137594"/>
            <a:ext cx="171301" cy="171301"/>
          </a:xfrm>
          <a:prstGeom prst="rect">
            <a:avLst/>
          </a:prstGeom>
        </p:spPr>
      </p:pic>
      <p:sp>
        <p:nvSpPr>
          <p:cNvPr id="435" name="-48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4038600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Propagate through custom connectors</a:t>
            </a:r>
          </a:p>
        </p:txBody>
      </p:sp>
      <p:pic>
        <p:nvPicPr>
          <p:cNvPr id="43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">
            <a:alphaModFix amt="100000"/>
          </a:blip>
          <a:stretch/>
        </p:blipFill>
        <p:spPr>
          <a:xfrm>
            <a:off x="760666" y="4168902"/>
            <a:ext cx="190351" cy="190351"/>
          </a:xfrm>
          <a:prstGeom prst="rect">
            <a:avLst/>
          </a:prstGeom>
        </p:spPr>
      </p:pic>
      <p:sp>
        <p:nvSpPr>
          <p:cNvPr id="437" name="-44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4680109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Include correlation_id in HTTP headers and connector metadata for downstream services</a:t>
            </a:r>
          </a:p>
        </p:txBody>
      </p:sp>
      <p:pic>
        <p:nvPicPr>
          <p:cNvPr id="43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">
            <a:alphaModFix amt="100000"/>
          </a:blip>
          <a:stretch/>
        </p:blipFill>
        <p:spPr>
          <a:xfrm>
            <a:off x="1275011" y="4779913"/>
            <a:ext cx="171301" cy="171301"/>
          </a:xfrm>
          <a:prstGeom prst="rect">
            <a:avLst/>
          </a:prstGeom>
        </p:spPr>
      </p:pic>
      <p:sp>
        <p:nvSpPr>
          <p:cNvPr id="439" name="-48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5681091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Pass via API gateway</a:t>
            </a:r>
          </a:p>
        </p:txBody>
      </p:sp>
      <p:pic>
        <p:nvPicPr>
          <p:cNvPr id="44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">
            <a:alphaModFix amt="100000"/>
          </a:blip>
          <a:stretch/>
        </p:blipFill>
        <p:spPr>
          <a:xfrm>
            <a:off x="760666" y="5811393"/>
            <a:ext cx="190351" cy="190351"/>
          </a:xfrm>
          <a:prstGeom prst="rect">
            <a:avLst/>
          </a:prstGeom>
        </p:spPr>
      </p:pic>
      <p:sp>
        <p:nvSpPr>
          <p:cNvPr id="441" name="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6322504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Preserve correlation_id as request header and gateway log field for routing and debugging</a:t>
            </a:r>
          </a:p>
        </p:txBody>
      </p:sp>
      <p:pic>
        <p:nvPicPr>
          <p:cNvPr id="44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100000"/>
          </a:blip>
          <a:stretch/>
        </p:blipFill>
        <p:spPr>
          <a:xfrm>
            <a:off x="1275011" y="6422380"/>
            <a:ext cx="171301" cy="171301"/>
          </a:xfrm>
          <a:prstGeom prst="rect">
            <a:avLst/>
          </a:prstGeom>
        </p:spPr>
      </p:pic>
      <p:sp>
        <p:nvSpPr>
          <p:cNvPr id="443" name="-49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7323487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Annotate backend microservices logs</a:t>
            </a:r>
          </a:p>
        </p:txBody>
      </p:sp>
      <p:pic>
        <p:nvPicPr>
          <p:cNvPr id="44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">
            <a:alphaModFix amt="100000"/>
          </a:blip>
          <a:stretch/>
        </p:blipFill>
        <p:spPr>
          <a:xfrm>
            <a:off x="760666" y="7453789"/>
            <a:ext cx="190351" cy="190351"/>
          </a:xfrm>
          <a:prstGeom prst="rect">
            <a:avLst/>
          </a:prstGeom>
        </p:spPr>
      </p:pic>
      <p:sp>
        <p:nvSpPr>
          <p:cNvPr id="445" name="-44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7964996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Log correlation_id in each service (field name correlation_id) to stitch traces</a:t>
            </a:r>
          </a:p>
        </p:txBody>
      </p:sp>
      <p:pic>
        <p:nvPicPr>
          <p:cNvPr id="44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alphaModFix amt="100000"/>
          </a:blip>
          <a:stretch/>
        </p:blipFill>
        <p:spPr>
          <a:xfrm>
            <a:off x="1275011" y="8064698"/>
            <a:ext cx="171301" cy="171301"/>
          </a:xfrm>
          <a:prstGeom prst="rect">
            <a:avLst/>
          </a:prstGeom>
        </p:spPr>
      </p:pic>
      <p:sp>
        <p:nvSpPr>
          <p:cNvPr id="447" name="-42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896588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Observe in Grafana stack</a:t>
            </a:r>
          </a:p>
        </p:txBody>
      </p:sp>
      <p:pic>
        <p:nvPicPr>
          <p:cNvPr id="44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">
            <a:alphaModFix amt="100000"/>
          </a:blip>
          <a:stretch/>
        </p:blipFill>
        <p:spPr>
          <a:xfrm>
            <a:off x="760666" y="9096184"/>
            <a:ext cx="190351" cy="190351"/>
          </a:xfrm>
          <a:prstGeom prst="rect">
            <a:avLst/>
          </a:prstGeom>
        </p:spPr>
      </p:pic>
      <p:sp>
        <p:nvSpPr>
          <p:cNvPr id="449" name="-43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2396204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Use Loki for logs and Tempo for traces to visualize end-to-end flows</a:t>
            </a:r>
          </a:p>
        </p:txBody>
      </p:sp>
      <p:pic>
        <p:nvPicPr>
          <p:cNvPr id="45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</a:blip>
          <a:stretch/>
        </p:blipFill>
        <p:spPr>
          <a:xfrm>
            <a:off x="9832924" y="2495997"/>
            <a:ext cx="171301" cy="171301"/>
          </a:xfrm>
          <a:prstGeom prst="rect">
            <a:avLst/>
          </a:prstGeom>
        </p:spPr>
      </p:pic>
      <p:sp>
        <p:nvSpPr>
          <p:cNvPr id="451" name="-40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339718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Validation and testing</a:t>
            </a:r>
          </a:p>
        </p:txBody>
      </p:sp>
      <p:pic>
        <p:nvPicPr>
          <p:cNvPr id="45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9318498" y="3527488"/>
            <a:ext cx="190351" cy="190351"/>
          </a:xfrm>
          <a:prstGeom prst="rect">
            <a:avLst/>
          </a:prstGeom>
        </p:spPr>
      </p:pic>
      <p:sp>
        <p:nvSpPr>
          <p:cNvPr id="453" name="-44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4038600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Add automated tests to confirm header names and propagation at key checkpoints</a:t>
            </a:r>
          </a:p>
        </p:txBody>
      </p:sp>
      <p:pic>
        <p:nvPicPr>
          <p:cNvPr id="45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9832924" y="4138464"/>
            <a:ext cx="171301" cy="171301"/>
          </a:xfrm>
          <a:prstGeom prst="rect">
            <a:avLst/>
          </a:prstGeom>
        </p:spPr>
      </p:pic>
      <p:sp>
        <p:nvSpPr>
          <p:cNvPr id="455" name="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503958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Privacy and compliance</a:t>
            </a:r>
          </a:p>
        </p:txBody>
      </p:sp>
      <p:pic>
        <p:nvPicPr>
          <p:cNvPr id="45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9318498" y="5169884"/>
            <a:ext cx="190351" cy="190351"/>
          </a:xfrm>
          <a:prstGeom prst="rect">
            <a:avLst/>
          </a:prstGeom>
        </p:spPr>
      </p:pic>
      <p:sp>
        <p:nvSpPr>
          <p:cNvPr id="457" name="-45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5681091"/>
            <a:ext cx="729138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Do not include PII in correlation_id or its metadata</a:t>
            </a:r>
          </a:p>
        </p:txBody>
      </p:sp>
      <p:pic>
        <p:nvPicPr>
          <p:cNvPr id="45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9832924" y="5780782"/>
            <a:ext cx="171301" cy="171301"/>
          </a:xfrm>
          <a:prstGeom prst="rect">
            <a:avLst/>
          </a:prstGeom>
        </p:spPr>
      </p:pic>
      <p:sp>
        <p:nvSpPr>
          <p:cNvPr id="45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6768762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Correlation ID Strategy</a:t>
            </a:r>
          </a:p>
        </p:txBody>
      </p:sp>
      <p:sp>
        <p:nvSpPr>
          <p:cNvPr id="46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67687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Single ID from PowerApps to backend for end-to-end traceability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467" name="-42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2396204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PowerApps Emit Telemetry</a:t>
            </a:r>
          </a:p>
        </p:txBody>
      </p:sp>
      <p:pic>
        <p:nvPicPr>
          <p:cNvPr id="46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">
            <a:alphaModFix amt="100000"/>
          </a:blip>
          <a:stretch/>
        </p:blipFill>
        <p:spPr>
          <a:xfrm>
            <a:off x="760666" y="2526506"/>
            <a:ext cx="190351" cy="190351"/>
          </a:xfrm>
          <a:prstGeom prst="rect">
            <a:avLst/>
          </a:prstGeom>
        </p:spPr>
      </p:pic>
      <p:sp>
        <p:nvSpPr>
          <p:cNvPr id="469" name="-43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3037713"/>
            <a:ext cx="729138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Usage, errors, performance with Correlation ID included</a:t>
            </a:r>
          </a:p>
        </p:txBody>
      </p:sp>
      <p:pic>
        <p:nvPicPr>
          <p:cNvPr id="47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">
            <a:alphaModFix amt="100000"/>
          </a:blip>
          <a:stretch/>
        </p:blipFill>
        <p:spPr>
          <a:xfrm>
            <a:off x="1275011" y="3137594"/>
            <a:ext cx="171301" cy="171301"/>
          </a:xfrm>
          <a:prstGeom prst="rect">
            <a:avLst/>
          </a:prstGeom>
        </p:spPr>
      </p:pic>
      <p:sp>
        <p:nvSpPr>
          <p:cNvPr id="471" name="-49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363340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Azure Application Insights</a:t>
            </a:r>
          </a:p>
        </p:txBody>
      </p:sp>
      <p:pic>
        <p:nvPicPr>
          <p:cNvPr id="47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100000"/>
          </a:blip>
          <a:stretch/>
        </p:blipFill>
        <p:spPr>
          <a:xfrm>
            <a:off x="760666" y="3763708"/>
            <a:ext cx="190351" cy="190351"/>
          </a:xfrm>
          <a:prstGeom prst="rect">
            <a:avLst/>
          </a:prstGeom>
        </p:spPr>
      </p:pic>
      <p:sp>
        <p:nvSpPr>
          <p:cNvPr id="473" name="-50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4274915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Logs and custom events collected for tracing and diagnostics</a:t>
            </a:r>
          </a:p>
        </p:txBody>
      </p:sp>
      <p:pic>
        <p:nvPicPr>
          <p:cNvPr id="47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100000"/>
          </a:blip>
          <a:stretch/>
        </p:blipFill>
        <p:spPr>
          <a:xfrm>
            <a:off x="1275011" y="4374653"/>
            <a:ext cx="171301" cy="171301"/>
          </a:xfrm>
          <a:prstGeom prst="rect">
            <a:avLst/>
          </a:prstGeom>
        </p:spPr>
      </p:pic>
      <p:sp>
        <p:nvSpPr>
          <p:cNvPr id="475" name="-48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527580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Diagnostic Settings to Storage</a:t>
            </a:r>
          </a:p>
        </p:txBody>
      </p:sp>
      <p:pic>
        <p:nvPicPr>
          <p:cNvPr id="47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760666" y="5406104"/>
            <a:ext cx="190351" cy="190351"/>
          </a:xfrm>
          <a:prstGeom prst="rect">
            <a:avLst/>
          </a:prstGeom>
        </p:spPr>
      </p:pic>
      <p:sp>
        <p:nvSpPr>
          <p:cNvPr id="477" name="-46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591731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Continuous export routes logs to an Azure Storage Account</a:t>
            </a:r>
          </a:p>
        </p:txBody>
      </p:sp>
      <p:pic>
        <p:nvPicPr>
          <p:cNvPr id="47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">
            <a:alphaModFix amt="100000"/>
          </a:blip>
          <a:stretch/>
        </p:blipFill>
        <p:spPr>
          <a:xfrm>
            <a:off x="1275011" y="6017122"/>
            <a:ext cx="171301" cy="171301"/>
          </a:xfrm>
          <a:prstGeom prst="rect">
            <a:avLst/>
          </a:prstGeom>
        </p:spPr>
      </p:pic>
      <p:sp>
        <p:nvSpPr>
          <p:cNvPr id="479" name="-49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6918198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Azure Function Trigger</a:t>
            </a:r>
          </a:p>
        </p:txBody>
      </p:sp>
      <p:pic>
        <p:nvPicPr>
          <p:cNvPr id="48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760666" y="7048500"/>
            <a:ext cx="190351" cy="190351"/>
          </a:xfrm>
          <a:prstGeom prst="rect">
            <a:avLst/>
          </a:prstGeom>
        </p:spPr>
      </p:pic>
      <p:sp>
        <p:nvSpPr>
          <p:cNvPr id="481" name="-49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7559707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Function activates on new blob files; must handle retries and idempotency</a:t>
            </a:r>
          </a:p>
        </p:txBody>
      </p:sp>
      <p:pic>
        <p:nvPicPr>
          <p:cNvPr id="48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1275011" y="7659439"/>
            <a:ext cx="171301" cy="171301"/>
          </a:xfrm>
          <a:prstGeom prst="rect">
            <a:avLst/>
          </a:prstGeom>
        </p:spPr>
      </p:pic>
      <p:sp>
        <p:nvSpPr>
          <p:cNvPr id="483" name="-43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8560594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Normalize and Enrich</a:t>
            </a:r>
          </a:p>
        </p:txBody>
      </p:sp>
      <p:pic>
        <p:nvPicPr>
          <p:cNvPr id="48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760666" y="8690896"/>
            <a:ext cx="190351" cy="190351"/>
          </a:xfrm>
          <a:prstGeom prst="rect">
            <a:avLst/>
          </a:prstGeom>
        </p:spPr>
      </p:pic>
      <p:sp>
        <p:nvSpPr>
          <p:cNvPr id="485" name="-43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2396204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Normalize JSON to schema; add metadata: service, region, app name</a:t>
            </a:r>
          </a:p>
        </p:txBody>
      </p:sp>
      <p:pic>
        <p:nvPicPr>
          <p:cNvPr id="48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9832924" y="2495997"/>
            <a:ext cx="171301" cy="171301"/>
          </a:xfrm>
          <a:prstGeom prst="rect">
            <a:avLst/>
          </a:prstGeom>
        </p:spPr>
      </p:pic>
      <p:sp>
        <p:nvSpPr>
          <p:cNvPr id="487" name="-43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339718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Convert to OTLP</a:t>
            </a:r>
          </a:p>
        </p:txBody>
      </p:sp>
      <p:pic>
        <p:nvPicPr>
          <p:cNvPr id="48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9318498" y="3527488"/>
            <a:ext cx="190351" cy="190351"/>
          </a:xfrm>
          <a:prstGeom prst="rect">
            <a:avLst/>
          </a:prstGeom>
        </p:spPr>
      </p:pic>
      <p:sp>
        <p:nvSpPr>
          <p:cNvPr id="489" name="-46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4038600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Transform normalized data to OTLP format for OTEL Collector</a:t>
            </a:r>
          </a:p>
        </p:txBody>
      </p:sp>
      <p:pic>
        <p:nvPicPr>
          <p:cNvPr id="49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9832924" y="4138464"/>
            <a:ext cx="171301" cy="171301"/>
          </a:xfrm>
          <a:prstGeom prst="rect">
            <a:avLst/>
          </a:prstGeom>
        </p:spPr>
      </p:pic>
      <p:sp>
        <p:nvSpPr>
          <p:cNvPr id="491" name="-47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503958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OTEL Collector</a:t>
            </a:r>
          </a:p>
        </p:txBody>
      </p:sp>
      <p:pic>
        <p:nvPicPr>
          <p:cNvPr id="49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9318498" y="5169884"/>
            <a:ext cx="190351" cy="190351"/>
          </a:xfrm>
          <a:prstGeom prst="rect">
            <a:avLst/>
          </a:prstGeom>
        </p:spPr>
      </p:pic>
      <p:sp>
        <p:nvSpPr>
          <p:cNvPr id="493" name="-46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568109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Receives OTLP for routing to Grafana, AppDynamics, GCP, xMatters, ServiceNow</a:t>
            </a:r>
          </a:p>
        </p:txBody>
      </p:sp>
      <p:pic>
        <p:nvPicPr>
          <p:cNvPr id="49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9832924" y="5780782"/>
            <a:ext cx="171301" cy="171301"/>
          </a:xfrm>
          <a:prstGeom prst="rect">
            <a:avLst/>
          </a:prstGeom>
        </p:spPr>
      </p:pic>
      <p:sp>
        <p:nvSpPr>
          <p:cNvPr id="49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6768762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PowerApps Logging and Telemetry Flow</a:t>
            </a:r>
          </a:p>
        </p:txBody>
      </p:sp>
      <p:sp>
        <p:nvSpPr>
          <p:cNvPr id="49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67687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Normalize telemetry from PowerApps to OTEL for unified observability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503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">
            <a:alphaModFix amt="100000"/>
            <a:extLst>
              <a:ext uri="{1F672126-BAC4-4813-BDFA-DF7A4720676A}">
                <asvg:svgBlip xmlns:r="http://schemas.openxmlformats.org/officeDocument/2006/relationships" xmlns:asvg="http://schemas.microsoft.com/office/drawing/2016/SVG/main" r:embed="rId177"/>
                <a14:useLocalDpi xmlns:a14="http://schemas.microsoft.com/office/drawing/2010/main" val="0"/>
              </a:ext>
            </a:extLst>
          </a:blip>
          <a:srcRect l="0" t="-19" r="0" b="-19"/>
          <a:stretch/>
        </p:blipFill>
        <p:spPr>
          <a:xfrm>
            <a:off x="760666" y="2320100"/>
            <a:ext cx="16734854" cy="7188422"/>
          </a:xfrm>
          <a:prstGeom prst="rect">
            <a:avLst/>
          </a:prstGeom>
        </p:spPr>
      </p:pic>
      <p:sp>
        <p:nvSpPr>
          <p:cNvPr id="50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973324"/>
            <a:ext cx="5700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Deployment Options</a:t>
            </a:r>
          </a:p>
        </p:txBody>
      </p:sp>
      <p:sp>
        <p:nvSpPr>
          <p:cNvPr id="50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331464"/>
            <a:ext cx="5700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Self-hosted Collector on AKS or VM with HA and autoscaling</a:t>
            </a:r>
          </a:p>
        </p:txBody>
      </p:sp>
      <p:sp>
        <p:nvSpPr>
          <p:cNvPr id="50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9382" y="3569970"/>
            <a:ext cx="571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Receivers</a:t>
            </a:r>
          </a:p>
        </p:txBody>
      </p:sp>
      <p:sp>
        <p:nvSpPr>
          <p:cNvPr id="5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9382" y="3928110"/>
            <a:ext cx="57102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OTLP from Azure Functions and backend services; Prometheus receiver for service and infra metrics</a:t>
            </a:r>
          </a:p>
        </p:txBody>
      </p:sp>
      <p:sp>
        <p:nvSpPr>
          <p:cNvPr id="50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9382" y="6799993"/>
            <a:ext cx="571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Processors</a:t>
            </a:r>
          </a:p>
        </p:txBody>
      </p:sp>
      <p:sp>
        <p:nvSpPr>
          <p:cNvPr id="50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9382" y="7158038"/>
            <a:ext cx="57102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Batching, attribute enrichment, and sampling; define pipelines per environment</a:t>
            </a:r>
          </a:p>
        </p:txBody>
      </p:sp>
      <p:sp>
        <p:nvSpPr>
          <p:cNvPr id="51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774019"/>
            <a:ext cx="5700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Exporters</a:t>
            </a:r>
          </a:p>
        </p:txBody>
      </p:sp>
      <p:sp>
        <p:nvSpPr>
          <p:cNvPr id="51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8132064"/>
            <a:ext cx="5700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Logs to Loki, traces to Tempo, metrics to Prometheus and Grafana</a:t>
            </a:r>
          </a:p>
        </p:txBody>
      </p:sp>
      <p:sp>
        <p:nvSpPr>
          <p:cNvPr id="51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374196"/>
            <a:ext cx="5700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Operational Controls</a:t>
            </a:r>
          </a:p>
        </p:txBody>
      </p:sp>
      <p:sp>
        <p:nvSpPr>
          <p:cNvPr id="51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732336"/>
            <a:ext cx="5700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Separate collectors for high volume or tenant isolation; monitor health and backpressure</a:t>
            </a:r>
          </a:p>
        </p:txBody>
      </p:sp>
      <p:sp>
        <p:nvSpPr>
          <p:cNvPr id="51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OTEL Collector Architecture</a:t>
            </a:r>
          </a:p>
        </p:txBody>
      </p:sp>
      <p:sp>
        <p:nvSpPr>
          <p:cNvPr id="5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Cloud-agnostic ingestion for logs, traces, and metrics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5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">
            <a:alphaModFix amt="100000"/>
          </a:blip>
          <a:stretch/>
        </p:blipFill>
        <p:spPr>
          <a:xfrm>
            <a:off x="760666" y="4047458"/>
            <a:ext cx="457200" cy="457200"/>
          </a:xfrm>
          <a:prstGeom prst="rect">
            <a:avLst/>
          </a:prstGeom>
        </p:spPr>
      </p:pic>
      <p:sp>
        <p:nvSpPr>
          <p:cNvPr id="524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0867" y="4096036"/>
            <a:ext cx="3286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52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4047458"/>
            <a:ext cx="337661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Grafana: single-pane-of-glass dashboards</a:t>
            </a:r>
          </a:p>
        </p:txBody>
      </p:sp>
      <p:sp>
        <p:nvSpPr>
          <p:cNvPr id="52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4725352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Combine logs, metrics, and traces for one view</a:t>
            </a:r>
          </a:p>
        </p:txBody>
      </p:sp>
      <p:pic>
        <p:nvPicPr>
          <p:cNvPr id="5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">
            <a:alphaModFix amt="100000"/>
          </a:blip>
          <a:stretch/>
        </p:blipFill>
        <p:spPr>
          <a:xfrm>
            <a:off x="5020437" y="4047458"/>
            <a:ext cx="457200" cy="457200"/>
          </a:xfrm>
          <a:prstGeom prst="rect">
            <a:avLst/>
          </a:prstGeom>
        </p:spPr>
      </p:pic>
      <p:sp>
        <p:nvSpPr>
          <p:cNvPr id="532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02257" y="4096036"/>
            <a:ext cx="3286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53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30037" y="4047458"/>
            <a:ext cx="337661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Loki: structured log store with labels</a:t>
            </a:r>
          </a:p>
        </p:txBody>
      </p:sp>
      <p:sp>
        <p:nvSpPr>
          <p:cNvPr id="53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30037" y="4725352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Label queries by environment, app, correlation_id</a:t>
            </a:r>
          </a:p>
        </p:txBody>
      </p:sp>
      <p:pic>
        <p:nvPicPr>
          <p:cNvPr id="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">
            <a:alphaModFix amt="100000"/>
          </a:blip>
          <a:stretch/>
        </p:blipFill>
        <p:spPr>
          <a:xfrm>
            <a:off x="9280303" y="4047458"/>
            <a:ext cx="457200" cy="457200"/>
          </a:xfrm>
          <a:prstGeom prst="rect">
            <a:avLst/>
          </a:prstGeom>
        </p:spPr>
      </p:pic>
      <p:sp>
        <p:nvSpPr>
          <p:cNvPr id="540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56884" y="4096036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54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9808" y="4047458"/>
            <a:ext cx="33766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Tempo: distributed tracing and transaction path</a:t>
            </a:r>
          </a:p>
        </p:txBody>
      </p:sp>
      <p:sp>
        <p:nvSpPr>
          <p:cNvPr id="54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9808" y="5045297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Show full service call path for end-to-end traces</a:t>
            </a:r>
          </a:p>
        </p:txBody>
      </p:sp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">
            <a:alphaModFix amt="100000"/>
          </a:blip>
          <a:stretch/>
        </p:blipFill>
        <p:spPr>
          <a:xfrm>
            <a:off x="13540073" y="4047458"/>
            <a:ext cx="457200" cy="457200"/>
          </a:xfrm>
          <a:prstGeom prst="rect">
            <a:avLst/>
          </a:prstGeom>
        </p:spPr>
      </p:pic>
      <p:sp>
        <p:nvSpPr>
          <p:cNvPr id="54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08082" y="4096036"/>
            <a:ext cx="3571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55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49578" y="4047458"/>
            <a:ext cx="33766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Benefits: E2E flow visualization and correlated RCA</a:t>
            </a:r>
          </a:p>
        </p:txBody>
      </p:sp>
      <p:sp>
        <p:nvSpPr>
          <p:cNvPr id="55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49578" y="5045297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Correlate logs and traces to accelerate root cause</a:t>
            </a:r>
          </a:p>
        </p:txBody>
      </p:sp>
      <p:pic>
        <p:nvPicPr>
          <p:cNvPr id="5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">
            <a:alphaModFix amt="100000"/>
          </a:blip>
          <a:stretch/>
        </p:blipFill>
        <p:spPr>
          <a:xfrm>
            <a:off x="760666" y="6066568"/>
            <a:ext cx="457200" cy="457200"/>
          </a:xfrm>
          <a:prstGeom prst="rect">
            <a:avLst/>
          </a:prstGeom>
        </p:spPr>
      </p:pic>
      <p:sp>
        <p:nvSpPr>
          <p:cNvPr id="556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6676" y="6115145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558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6066568"/>
            <a:ext cx="33766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Design: role-specific dashboards with drilldowns</a:t>
            </a:r>
          </a:p>
        </p:txBody>
      </p:sp>
      <p:sp>
        <p:nvSpPr>
          <p:cNvPr id="560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7064407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SRE, Product, Support views with KPI to correlation_id</a:t>
            </a:r>
          </a:p>
        </p:txBody>
      </p:sp>
      <p:pic>
        <p:nvPicPr>
          <p:cNvPr id="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">
            <a:alphaModFix amt="100000"/>
          </a:blip>
          <a:stretch/>
        </p:blipFill>
        <p:spPr>
          <a:xfrm>
            <a:off x="5020437" y="6066568"/>
            <a:ext cx="457200" cy="457200"/>
          </a:xfrm>
          <a:prstGeom prst="rect">
            <a:avLst/>
          </a:prstGeom>
        </p:spPr>
      </p:pic>
      <p:sp>
        <p:nvSpPr>
          <p:cNvPr id="564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98542" y="6115145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06</a:t>
            </a:r>
          </a:p>
        </p:txBody>
      </p:sp>
      <p:sp>
        <p:nvSpPr>
          <p:cNvPr id="566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30037" y="6066568"/>
            <a:ext cx="33766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Ops: templated dashboards and shared folders</a:t>
            </a:r>
          </a:p>
        </p:txBody>
      </p:sp>
      <p:sp>
        <p:nvSpPr>
          <p:cNvPr id="568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30037" y="7064407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Maintain consistency across teams and environments</a:t>
            </a:r>
          </a:p>
        </p:txBody>
      </p:sp>
      <p:pic>
        <p:nvPicPr>
          <p:cNvPr id="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">
            <a:alphaModFix amt="100000"/>
          </a:blip>
          <a:stretch/>
        </p:blipFill>
        <p:spPr>
          <a:xfrm>
            <a:off x="9280303" y="6066568"/>
            <a:ext cx="457200" cy="457200"/>
          </a:xfrm>
          <a:prstGeom prst="rect">
            <a:avLst/>
          </a:prstGeom>
        </p:spPr>
      </p:pic>
      <p:sp>
        <p:nvSpPr>
          <p:cNvPr id="572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61360" y="6115145"/>
            <a:ext cx="3286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07</a:t>
            </a:r>
          </a:p>
        </p:txBody>
      </p:sp>
      <p:sp>
        <p:nvSpPr>
          <p:cNvPr id="574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9808" y="6066568"/>
            <a:ext cx="33766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Mock layout: KPI, Top errors, Correlation-id drilldown</a:t>
            </a:r>
          </a:p>
        </p:txBody>
      </p:sp>
      <p:sp>
        <p:nvSpPr>
          <p:cNvPr id="576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9808" y="7064407"/>
            <a:ext cx="33766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KPI tiles -&gt; error table -&gt; log/trace linked by id</a:t>
            </a:r>
          </a:p>
        </p:txBody>
      </p:sp>
      <p:sp>
        <p:nvSpPr>
          <p:cNvPr id="57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Central Observability with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Grafana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Stack</a:t>
            </a:r>
          </a:p>
        </p:txBody>
      </p:sp>
      <p:sp>
        <p:nvSpPr>
          <p:cNvPr id="58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Unified logs, metrics, and traces for fast RCA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">
            <a:alphaModFix amt="100000"/>
          </a:blip>
          <a:stretch/>
        </p:blipFill>
        <p:spPr>
          <a:xfrm>
            <a:off x="0" y="7255192"/>
            <a:ext cx="2286000" cy="3009900"/>
          </a:xfrm>
          <a:prstGeom prst="rect">
            <a:avLst/>
          </a:prstGeom>
        </p:spPr>
      </p:pic>
      <p:pic>
        <p:nvPicPr>
          <p:cNvPr id="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">
            <a:alphaModFix amt="100000"/>
          </a:blip>
          <a:stretch/>
        </p:blipFill>
        <p:spPr>
          <a:xfrm>
            <a:off x="0" y="0"/>
            <a:ext cx="18259425" cy="10267950"/>
          </a:xfrm>
          <a:prstGeom prst="rect">
            <a:avLst/>
          </a:prstGeom>
        </p:spPr>
      </p:pic>
      <p:sp>
        <p:nvSpPr>
          <p:cNvPr id="58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77308" y="726567"/>
            <a:ext cx="93487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Unified Dashboards for Credit and Lending Journeys</a:t>
            </a:r>
          </a:p>
        </p:txBody>
      </p:sp>
      <p:pic>
        <p:nvPicPr>
          <p:cNvPr id="589" name="4c5f5678-ec4d-4ed0-87f0-1af3f9cd73bd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08">
            <a:alphaModFix amt="100000"/>
          </a:blip>
          <a:stretch/>
        </p:blipFill>
        <p:spPr>
          <a:xfrm>
            <a:off x="0" y="0"/>
            <a:ext cx="8181975" cy="10267950"/>
          </a:xfrm>
          <a:prstGeom prst="rect">
            <a:avLst/>
          </a:prstGeom>
        </p:spPr>
      </p:pic>
      <p:pic>
        <p:nvPicPr>
          <p:cNvPr id="5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">
            <a:alphaModFix amt="100000"/>
          </a:blip>
          <a:stretch/>
        </p:blipFill>
        <p:spPr>
          <a:xfrm>
            <a:off x="2700433" y="2928652"/>
            <a:ext cx="14792325" cy="6619875"/>
          </a:xfrm>
          <a:prstGeom prst="rect">
            <a:avLst/>
          </a:prstGeom>
        </p:spPr>
      </p:pic>
      <p:pic>
        <p:nvPicPr>
          <p:cNvPr id="5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">
            <a:alphaModFix amt="100000"/>
          </a:blip>
          <a:stretch/>
        </p:blipFill>
        <p:spPr>
          <a:xfrm>
            <a:off x="3081338" y="3423666"/>
            <a:ext cx="4171950" cy="476250"/>
          </a:xfrm>
          <a:prstGeom prst="rect">
            <a:avLst/>
          </a:prstGeom>
        </p:spPr>
      </p:pic>
      <p:sp>
        <p:nvSpPr>
          <p:cNvPr id="595" name="Primary Heading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271647" y="3499866"/>
            <a:ext cx="3824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Business journey</a:t>
            </a:r>
          </a:p>
        </p:txBody>
      </p:sp>
      <p:sp>
        <p:nvSpPr>
          <p:cNvPr id="597" name="Primary Heading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81338" y="4162711"/>
            <a:ext cx="420528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44336">
                    <a:alpha val="100000"/>
                  </a:srgbClr>
                </a:solidFill>
                <a:latin typeface="Lexend Medium" panose="00000700000000000000" pitchFamily="2" charset="0"/>
              </a:rPr>
              <a:t>Map dashboards to journeys: credit application, loan booking</a:t>
            </a:r>
          </a:p>
        </p:txBody>
      </p:sp>
      <p:pic>
        <p:nvPicPr>
          <p:cNvPr id="5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 amt="100000"/>
          </a:blip>
          <a:stretch/>
        </p:blipFill>
        <p:spPr>
          <a:xfrm>
            <a:off x="3081338" y="5179504"/>
            <a:ext cx="4171950" cy="19050"/>
          </a:xfrm>
          <a:prstGeom prst="rect">
            <a:avLst/>
          </a:prstGeom>
        </p:spPr>
      </p:pic>
      <p:sp>
        <p:nvSpPr>
          <p:cNvPr id="601" name="Primary Heading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81338" y="5522404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44336">
                    <a:alpha val="100000"/>
                  </a:srgbClr>
                </a:solidFill>
                <a:latin typeface="Lexend Medium" panose="00000700000000000000" pitchFamily="2" charset="0"/>
              </a:rPr>
              <a:t>Key widgets: </a:t>
            </a:r>
            <a:r>
              <a:rPr lang="en-US" sz="2100" b="1" dirty="0">
                <a:solidFill>
                  <a:srgbClr val="F44336"/>
                </a:solidFill>
                <a:latin typeface="Lexend Medium" panose="00000700000000000000" pitchFamily="2" charset="0"/>
              </a:rPr>
              <a:t>STP%</a:t>
            </a:r>
            <a:r>
              <a:rPr lang="en-US" sz="2100" dirty="0">
                <a:solidFill>
                  <a:srgbClr val="F44336"/>
                </a:solidFill>
                <a:latin typeface="Lexend Medium" panose="00000700000000000000" pitchFamily="2" charset="0"/>
              </a:rPr>
              <a:t> for each journey, Top failing flows</a:t>
            </a:r>
          </a:p>
        </p:txBody>
      </p:sp>
      <p:pic>
        <p:nvPicPr>
          <p:cNvPr id="6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 amt="100000"/>
          </a:blip>
          <a:stretch/>
        </p:blipFill>
        <p:spPr>
          <a:xfrm>
            <a:off x="3081338" y="6219349"/>
            <a:ext cx="4171950" cy="19050"/>
          </a:xfrm>
          <a:prstGeom prst="rect">
            <a:avLst/>
          </a:prstGeom>
        </p:spPr>
      </p:pic>
      <p:sp>
        <p:nvSpPr>
          <p:cNvPr id="605" name="Primary Heading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81338" y="6562249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44336">
                    <a:alpha val="100000"/>
                  </a:srgbClr>
                </a:solidFill>
                <a:latin typeface="Lexend Medium" panose="00000700000000000000" pitchFamily="2" charset="0"/>
              </a:rPr>
              <a:t>KPI pairing: business metric with error rate and latency</a:t>
            </a:r>
          </a:p>
        </p:txBody>
      </p:sp>
      <p:pic>
        <p:nvPicPr>
          <p:cNvPr id="6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">
            <a:alphaModFix amt="100000"/>
          </a:blip>
          <a:stretch/>
        </p:blipFill>
        <p:spPr>
          <a:xfrm>
            <a:off x="3081338" y="7259193"/>
            <a:ext cx="4171950" cy="19050"/>
          </a:xfrm>
          <a:prstGeom prst="rect">
            <a:avLst/>
          </a:prstGeom>
        </p:spPr>
      </p:pic>
      <p:pic>
        <p:nvPicPr>
          <p:cNvPr id="6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 amt="100000"/>
          </a:blip>
          <a:stretch/>
        </p:blipFill>
        <p:spPr>
          <a:xfrm>
            <a:off x="8013055" y="3423642"/>
            <a:ext cx="4171950" cy="790575"/>
          </a:xfrm>
          <a:prstGeom prst="rect">
            <a:avLst/>
          </a:prstGeom>
        </p:spPr>
      </p:pic>
      <p:sp>
        <p:nvSpPr>
          <p:cNvPr id="611" name="Primary Heading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203502" y="3499866"/>
            <a:ext cx="3824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Application and environment</a:t>
            </a:r>
          </a:p>
        </p:txBody>
      </p:sp>
      <p:sp>
        <p:nvSpPr>
          <p:cNvPr id="613" name="Primary Heading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13097" y="4482560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733E">
                    <a:alpha val="100000"/>
                  </a:srgbClr>
                </a:solidFill>
                <a:latin typeface="Lexend Medium" panose="00000700000000000000" pitchFamily="2" charset="0"/>
              </a:rPr>
              <a:t>App/microservice view: error rate, latency, throughput</a:t>
            </a:r>
          </a:p>
        </p:txBody>
      </p:sp>
      <p:pic>
        <p:nvPicPr>
          <p:cNvPr id="6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</a:blip>
          <a:stretch/>
        </p:blipFill>
        <p:spPr>
          <a:xfrm>
            <a:off x="8013097" y="5179504"/>
            <a:ext cx="4171950" cy="19050"/>
          </a:xfrm>
          <a:prstGeom prst="rect">
            <a:avLst/>
          </a:prstGeom>
        </p:spPr>
      </p:pic>
      <p:sp>
        <p:nvSpPr>
          <p:cNvPr id="617" name="Primary Heading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13097" y="5522404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733E">
                    <a:alpha val="100000"/>
                  </a:srgbClr>
                </a:solidFill>
                <a:latin typeface="Lexend Medium" panose="00000700000000000000" pitchFamily="2" charset="0"/>
              </a:rPr>
              <a:t>Environment filters: dev, UAT, prod</a:t>
            </a:r>
          </a:p>
        </p:txBody>
      </p:sp>
      <p:pic>
        <p:nvPicPr>
          <p:cNvPr id="6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 amt="100000"/>
          </a:blip>
          <a:stretch/>
        </p:blipFill>
        <p:spPr>
          <a:xfrm>
            <a:off x="8013097" y="6219349"/>
            <a:ext cx="4171950" cy="19050"/>
          </a:xfrm>
          <a:prstGeom prst="rect">
            <a:avLst/>
          </a:prstGeom>
        </p:spPr>
      </p:pic>
      <p:sp>
        <p:nvSpPr>
          <p:cNvPr id="621" name="Primary Heading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13097" y="6562249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733E">
                    <a:alpha val="100000"/>
                  </a:srgbClr>
                </a:solidFill>
                <a:latin typeface="Lexend Medium" panose="00000700000000000000" pitchFamily="2" charset="0"/>
              </a:rPr>
              <a:t>Separate legacy, Azure, GCP, PowerApps perspectives</a:t>
            </a:r>
          </a:p>
        </p:txBody>
      </p:sp>
      <p:pic>
        <p:nvPicPr>
          <p:cNvPr id="6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">
            <a:alphaModFix amt="100000"/>
          </a:blip>
          <a:stretch/>
        </p:blipFill>
        <p:spPr>
          <a:xfrm>
            <a:off x="8013097" y="7259193"/>
            <a:ext cx="4171950" cy="19050"/>
          </a:xfrm>
          <a:prstGeom prst="rect">
            <a:avLst/>
          </a:prstGeom>
        </p:spPr>
      </p:pic>
      <p:pic>
        <p:nvPicPr>
          <p:cNvPr id="6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">
            <a:alphaModFix amt="100000"/>
          </a:blip>
          <a:stretch/>
        </p:blipFill>
        <p:spPr>
          <a:xfrm>
            <a:off x="12944951" y="3423666"/>
            <a:ext cx="4171950" cy="476250"/>
          </a:xfrm>
          <a:prstGeom prst="rect">
            <a:avLst/>
          </a:prstGeom>
        </p:spPr>
      </p:pic>
      <p:sp>
        <p:nvSpPr>
          <p:cNvPr id="627" name="Primary Heading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35356" y="3499866"/>
            <a:ext cx="3824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Drilldown and actions</a:t>
            </a:r>
          </a:p>
        </p:txBody>
      </p:sp>
      <p:sp>
        <p:nvSpPr>
          <p:cNvPr id="629" name="Primary Heading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44951" y="4162711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3B125">
                    <a:alpha val="100000"/>
                  </a:srgbClr>
                </a:solidFill>
                <a:latin typeface="Lexend Medium" panose="00000700000000000000" pitchFamily="2" charset="0"/>
              </a:rPr>
              <a:t>Drill by Correlation ID into logs and traces</a:t>
            </a:r>
          </a:p>
        </p:txBody>
      </p:sp>
      <p:pic>
        <p:nvPicPr>
          <p:cNvPr id="6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">
            <a:alphaModFix amt="100000"/>
          </a:blip>
          <a:stretch/>
        </p:blipFill>
        <p:spPr>
          <a:xfrm>
            <a:off x="12944951" y="4859655"/>
            <a:ext cx="4171950" cy="19050"/>
          </a:xfrm>
          <a:prstGeom prst="rect">
            <a:avLst/>
          </a:prstGeom>
        </p:spPr>
      </p:pic>
      <p:sp>
        <p:nvSpPr>
          <p:cNvPr id="633" name="Primary Heading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44951" y="5202460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3B125">
                    <a:alpha val="100000"/>
                  </a:srgbClr>
                </a:solidFill>
                <a:latin typeface="Lexend Medium" panose="00000700000000000000" pitchFamily="2" charset="0"/>
              </a:rPr>
              <a:t>Navigation links to runbooks and RCA templates</a:t>
            </a:r>
          </a:p>
        </p:txBody>
      </p:sp>
      <p:pic>
        <p:nvPicPr>
          <p:cNvPr id="6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2">
            <a:alphaModFix amt="100000"/>
          </a:blip>
          <a:stretch/>
        </p:blipFill>
        <p:spPr>
          <a:xfrm>
            <a:off x="12944951" y="5899404"/>
            <a:ext cx="4171950" cy="19050"/>
          </a:xfrm>
          <a:prstGeom prst="rect">
            <a:avLst/>
          </a:prstGeom>
        </p:spPr>
      </p:pic>
      <p:sp>
        <p:nvSpPr>
          <p:cNvPr id="637" name="Primary Heading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44951" y="6242304"/>
            <a:ext cx="4205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3B125">
                    <a:alpha val="100000"/>
                  </a:srgbClr>
                </a:solidFill>
                <a:latin typeface="Lexend Medium" panose="00000700000000000000" pitchFamily="2" charset="0"/>
              </a:rPr>
              <a:t>Top failing APIs list and quick remediation links</a:t>
            </a:r>
          </a:p>
        </p:txBody>
      </p:sp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4">
            <a:alphaModFix amt="100000"/>
          </a:blip>
          <a:stretch/>
        </p:blipFill>
        <p:spPr>
          <a:xfrm>
            <a:off x="12944951" y="6939248"/>
            <a:ext cx="4171950" cy="19050"/>
          </a:xfrm>
          <a:prstGeom prst="rect">
            <a:avLst/>
          </a:prstGeom>
        </p:spPr>
      </p:pic>
      <p:sp>
        <p:nvSpPr>
          <p:cNvPr id="64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77308" y="2129980"/>
            <a:ext cx="93487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Combine business KPIs with technical signals for fast cross-functional triage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647" name="pyramid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 amt="100000"/>
            <a:extLst>
              <a:ext uri="{8CF76EA9-E48D-46EC-9EE4-AEC008C68070}">
                <asvg:svgBlip xmlns:r="http://schemas.openxmlformats.org/officeDocument/2006/relationships" xmlns:asvg="http://schemas.microsoft.com/office/drawing/2016/SVG/main" r:embed="rId242"/>
                <a14:useLocalDpi xmlns:a14="http://schemas.microsoft.com/office/drawing/2010/main" val="0"/>
              </a:ext>
            </a:extLst>
          </a:blip>
          <a:srcRect l="0" t="-356" r="0" b="-356"/>
          <a:stretch/>
        </p:blipFill>
        <p:spPr>
          <a:xfrm>
            <a:off x="855821" y="3510534"/>
            <a:ext cx="16640175" cy="1333405"/>
          </a:xfrm>
          <a:prstGeom prst="rect">
            <a:avLst/>
          </a:prstGeom>
        </p:spPr>
      </p:pic>
      <p:sp>
        <p:nvSpPr>
          <p:cNvPr id="648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29244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65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976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Sources</a:t>
            </a:r>
          </a:p>
        </p:txBody>
      </p:sp>
      <p:sp>
        <p:nvSpPr>
          <p:cNvPr id="65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976" y="5506784"/>
            <a:ext cx="29384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Error rate spikes, latency SLO breaches, PowerApps failures, backend and API failures from OTEL, Grafana, and GCP Monitoring</a:t>
            </a:r>
          </a:p>
        </p:txBody>
      </p:sp>
      <p:sp>
        <p:nvSpPr>
          <p:cNvPr id="65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19083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65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0816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xMatters Notification</a:t>
            </a:r>
          </a:p>
        </p:txBody>
      </p:sp>
      <p:sp>
        <p:nvSpPr>
          <p:cNvPr id="65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0816" y="5506784"/>
            <a:ext cx="29384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xMatters receives alerts and sends push, email, or SMS based on rota</a:t>
            </a:r>
          </a:p>
        </p:txBody>
      </p:sp>
      <p:sp>
        <p:nvSpPr>
          <p:cNvPr id="660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908923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66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30751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On-call Engineer</a:t>
            </a:r>
          </a:p>
        </p:txBody>
      </p:sp>
      <p:sp>
        <p:nvSpPr>
          <p:cNvPr id="66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30751" y="5506784"/>
            <a:ext cx="29384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On-call engineer triages alerts and follows escalation policies and playbooks</a:t>
            </a:r>
          </a:p>
        </p:txBody>
      </p:sp>
      <p:sp>
        <p:nvSpPr>
          <p:cNvPr id="666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8858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66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20590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ServiceNow Incident</a:t>
            </a:r>
          </a:p>
        </p:txBody>
      </p:sp>
      <p:sp>
        <p:nvSpPr>
          <p:cNvPr id="67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20590" y="5506784"/>
            <a:ext cx="29384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ServiceNow auto-creates incident containing correlation ID, dashboard link, and environment</a:t>
            </a:r>
          </a:p>
        </p:txBody>
      </p:sp>
      <p:sp>
        <p:nvSpPr>
          <p:cNvPr id="672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88698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67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0430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RCA and Closure</a:t>
            </a:r>
          </a:p>
        </p:txBody>
      </p:sp>
      <p:sp>
        <p:nvSpPr>
          <p:cNvPr id="67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0430" y="5506784"/>
            <a:ext cx="29384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ServiceNow for RCA documentation, incident closure, and audit metadata</a:t>
            </a:r>
          </a:p>
        </p:txBody>
      </p:sp>
      <p:sp>
        <p:nvSpPr>
          <p:cNvPr id="67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Incident Automation: xMatters and ServiceNow</a:t>
            </a:r>
          </a:p>
        </p:txBody>
      </p:sp>
      <p:sp>
        <p:nvSpPr>
          <p:cNvPr id="68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Alerts from observability to on-call plus automated incident capture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9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68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 amt="100000"/>
            <a:extLst>
              <a:ext uri="{1B405002-C2AE-4773-842E-DBF83197DD2C}">
                <asvg:svgBlip xmlns:r="http://schemas.openxmlformats.org/officeDocument/2006/relationships" xmlns:asvg="http://schemas.microsoft.com/office/drawing/2016/SVG/main" r:embed="rId25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2980432"/>
            <a:ext cx="16734834" cy="2743051"/>
          </a:xfrm>
          <a:prstGeom prst="rect">
            <a:avLst/>
          </a:prstGeom>
        </p:spPr>
      </p:pic>
      <p:sp>
        <p:nvSpPr>
          <p:cNvPr id="68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3352" y="5953220"/>
            <a:ext cx="25193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GCP Sources</a:t>
            </a:r>
          </a:p>
        </p:txBody>
      </p:sp>
      <p:sp>
        <p:nvSpPr>
          <p:cNvPr id="68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3352" y="6387465"/>
            <a:ext cx="251936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GKE, Cloud Run, Compute Engine emit logs to Cloud Logging and metrics to Cloud Monitoring.</a:t>
            </a:r>
          </a:p>
        </p:txBody>
      </p:sp>
      <p:sp>
        <p:nvSpPr>
          <p:cNvPr id="68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02368" y="5953220"/>
            <a:ext cx="25193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 Routing</a:t>
            </a:r>
          </a:p>
        </p:txBody>
      </p:sp>
      <p:sp>
        <p:nvSpPr>
          <p:cNvPr id="69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02368" y="6387465"/>
            <a:ext cx="251936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Log Router selects and forwards logs to Pub/Sub for off-cluster processing and retention control.</a:t>
            </a:r>
          </a:p>
        </p:txBody>
      </p:sp>
      <p:sp>
        <p:nvSpPr>
          <p:cNvPr id="69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1478" y="5953220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Streaming Collector</a:t>
            </a:r>
          </a:p>
        </p:txBody>
      </p:sp>
      <p:sp>
        <p:nvSpPr>
          <p:cNvPr id="69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1478" y="6707314"/>
            <a:ext cx="25193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Pub/Sub to OTEL Collector for processing, sampling, and sensitive-data filtering before storage.</a:t>
            </a:r>
          </a:p>
        </p:txBody>
      </p:sp>
      <p:sp>
        <p:nvSpPr>
          <p:cNvPr id="69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5953220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Storage and Query</a:t>
            </a:r>
          </a:p>
        </p:txBody>
      </p:sp>
      <p:sp>
        <p:nvSpPr>
          <p:cNvPr id="69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6707314"/>
            <a:ext cx="25193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Loki stores logs; Prometheus or Managed Prometheus stores metrics scraped from GKE and forwarded by OTEL.</a:t>
            </a:r>
          </a:p>
        </p:txBody>
      </p:sp>
      <p:sp>
        <p:nvSpPr>
          <p:cNvPr id="69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69508" y="5953220"/>
            <a:ext cx="25193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Alerting and Ops</a:t>
            </a:r>
          </a:p>
        </p:txBody>
      </p:sp>
      <p:sp>
        <p:nvSpPr>
          <p:cNvPr id="69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69508" y="6387465"/>
            <a:ext cx="251936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GCP Monitoring alert policies route critical signals to xMatters and ServiceNow for incident handling.</a:t>
            </a:r>
          </a:p>
        </p:txBody>
      </p:sp>
      <p:sp>
        <p:nvSpPr>
          <p:cNvPr id="697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8524" y="5953220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Governance and Ownership</a:t>
            </a:r>
          </a:p>
        </p:txBody>
      </p:sp>
      <p:sp>
        <p:nvSpPr>
          <p:cNvPr id="698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8524" y="6707314"/>
            <a:ext cx="25193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log routing to avoid duplication, control trace sampling, enforce IAM and routing rules, and align alerts with SLOs.</a:t>
            </a:r>
          </a:p>
        </p:txBody>
      </p:sp>
      <p:sp>
        <p:nvSpPr>
          <p:cNvPr id="69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 Observability Target-State</a:t>
            </a:r>
          </a:p>
        </p:txBody>
      </p:sp>
      <p:sp>
        <p:nvSpPr>
          <p:cNvPr id="70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GCP logging and monitoring pipeline for consistent alerts and retention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707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1">
            <a:alphaModFix amt="100000"/>
            <a:extLst>
              <a:ext uri="{6EDAD947-BF73-49A2-AB90-8B8FBEF8882D}">
                <asvg:svgBlip xmlns:r="http://schemas.openxmlformats.org/officeDocument/2006/relationships" xmlns:asvg="http://schemas.microsoft.com/office/drawing/2016/SVG/main" r:embed="rId260"/>
                <a14:useLocalDpi xmlns:a14="http://schemas.microsoft.com/office/drawing/2010/main" val="0"/>
              </a:ext>
            </a:extLst>
          </a:blip>
          <a:srcRect l="0" t="-17" r="0" b="-17"/>
          <a:stretch/>
        </p:blipFill>
        <p:spPr>
          <a:xfrm>
            <a:off x="4944332" y="2320100"/>
            <a:ext cx="8367712" cy="7188422"/>
          </a:xfrm>
          <a:prstGeom prst="rect">
            <a:avLst/>
          </a:prstGeom>
        </p:spPr>
      </p:pic>
      <p:sp>
        <p:nvSpPr>
          <p:cNvPr id="70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805112"/>
            <a:ext cx="6062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SLI Measurement</a:t>
            </a:r>
          </a:p>
        </p:txBody>
      </p:sp>
      <p:sp>
        <p:nvSpPr>
          <p:cNvPr id="70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163157"/>
            <a:ext cx="6062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Measure availability, latency, and error rate for APIs using Cloud Monitoring SLIs.</a:t>
            </a:r>
          </a:p>
        </p:txBody>
      </p:sp>
      <p:sp>
        <p:nvSpPr>
          <p:cNvPr id="71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3832003"/>
            <a:ext cx="6072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SLO Evaluation</a:t>
            </a:r>
          </a:p>
        </p:txBody>
      </p:sp>
      <p:sp>
        <p:nvSpPr>
          <p:cNvPr id="71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4190143"/>
            <a:ext cx="60721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Compare SLIs to SLO targets to determine compliance and remaining error budget.</a:t>
            </a:r>
          </a:p>
        </p:txBody>
      </p:sp>
      <p:sp>
        <p:nvSpPr>
          <p:cNvPr id="71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858988"/>
            <a:ext cx="6062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Error Budget</a:t>
            </a:r>
          </a:p>
        </p:txBody>
      </p:sp>
      <p:sp>
        <p:nvSpPr>
          <p:cNvPr id="7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217033"/>
            <a:ext cx="6062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Track error budget consumption to balance reliability and feature velocity.</a:t>
            </a:r>
          </a:p>
        </p:txBody>
      </p:sp>
      <p:sp>
        <p:nvSpPr>
          <p:cNvPr id="71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5885974"/>
            <a:ext cx="6072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Alerts</a:t>
            </a:r>
          </a:p>
        </p:txBody>
      </p:sp>
      <p:sp>
        <p:nvSpPr>
          <p:cNvPr id="71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6244018"/>
            <a:ext cx="60721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Trigger SLO burn rate alerts and infrastructure alerts for node and pod health.</a:t>
            </a:r>
          </a:p>
        </p:txBody>
      </p:sp>
      <p:sp>
        <p:nvSpPr>
          <p:cNvPr id="71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912769"/>
            <a:ext cx="6062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Incident Flow</a:t>
            </a:r>
          </a:p>
        </p:txBody>
      </p:sp>
      <p:sp>
        <p:nvSpPr>
          <p:cNvPr id="717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70814"/>
            <a:ext cx="6062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Cloud Monitoring alert to xMatters to ServiceNow incident for coordinated response.</a:t>
            </a:r>
          </a:p>
        </p:txBody>
      </p:sp>
      <p:sp>
        <p:nvSpPr>
          <p:cNvPr id="71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7939850"/>
            <a:ext cx="6072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Operational Guidance</a:t>
            </a:r>
          </a:p>
        </p:txBody>
      </p:sp>
      <p:sp>
        <p:nvSpPr>
          <p:cNvPr id="719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8297894"/>
            <a:ext cx="60721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Start with critical SLOs aligned to customer journeys and tune thresholds to avoid alert fatigue.</a:t>
            </a:r>
          </a:p>
        </p:txBody>
      </p:sp>
      <p:sp>
        <p:nvSpPr>
          <p:cNvPr id="72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GCP Alerting and SLO Framework</a:t>
            </a:r>
          </a:p>
        </p:txBody>
      </p:sp>
      <p:sp>
        <p:nvSpPr>
          <p:cNvPr id="72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SLO-driven monitoring for APIs, infrastructure, and incidents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72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100000"/>
            <a:extLst>
              <a:ext uri="{50F1C352-39A6-4368-BD5E-3AF39F497E1C}">
                <asvg:svgBlip xmlns:r="http://schemas.openxmlformats.org/officeDocument/2006/relationships" xmlns:asvg="http://schemas.microsoft.com/office/drawing/2016/SVG/main" r:embed="rId26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3277267"/>
            <a:ext cx="1097280" cy="1097280"/>
          </a:xfrm>
          <a:prstGeom prst="rect">
            <a:avLst/>
          </a:prstGeom>
        </p:spPr>
      </p:pic>
      <p:sp>
        <p:nvSpPr>
          <p:cNvPr id="73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831747"/>
            <a:ext cx="1957388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Business Transaction view, response time and error snapshots</a:t>
            </a:r>
          </a:p>
        </p:txBody>
      </p:sp>
      <p:sp>
        <p:nvSpPr>
          <p:cNvPr id="732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9911" y="4895660"/>
            <a:ext cx="252412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01</a:t>
            </a:r>
          </a:p>
        </p:txBody>
      </p:sp>
      <p:sp>
        <p:nvSpPr>
          <p:cNvPr id="73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126891"/>
            <a:ext cx="19573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BT-centric visibility plus JVM and .NET deep diagnostics</a:t>
            </a:r>
          </a:p>
        </p:txBody>
      </p:sp>
      <p:pic>
        <p:nvPicPr>
          <p:cNvPr id="7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100000"/>
          </a:blip>
          <a:stretch/>
        </p:blipFill>
        <p:spPr>
          <a:xfrm>
            <a:off x="760661" y="6946106"/>
            <a:ext cx="581025" cy="28575"/>
          </a:xfrm>
          <a:prstGeom prst="rect">
            <a:avLst/>
          </a:prstGeom>
        </p:spPr>
      </p:pic>
      <p:pic>
        <p:nvPicPr>
          <p:cNvPr id="738" name="shap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5">
            <a:alphaModFix amt="100000"/>
            <a:extLst>
              <a:ext uri="{BDF5F1CC-DB19-4B45-9D59-29EAD8561C00}">
                <asvg:svgBlip xmlns:r="http://schemas.openxmlformats.org/officeDocument/2006/relationships" xmlns:asvg="http://schemas.microsoft.com/office/drawing/2016/SVG/main" r:embed="rId27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6946106"/>
            <a:ext cx="577007" cy="28426"/>
          </a:xfrm>
          <a:prstGeom prst="rect">
            <a:avLst/>
          </a:prstGeom>
        </p:spPr>
      </p:pic>
      <p:pic>
        <p:nvPicPr>
          <p:cNvPr id="740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 amt="100000"/>
            <a:extLst>
              <a:ext uri="{EAF3B642-BA1E-4ECE-9021-9A38E220A058}">
                <asvg:svgBlip xmlns:r="http://schemas.openxmlformats.org/officeDocument/2006/relationships" xmlns:asvg="http://schemas.microsoft.com/office/drawing/2016/SVG/main" r:embed="rId27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3217736" y="3277267"/>
            <a:ext cx="1097280" cy="1097280"/>
          </a:xfrm>
          <a:prstGeom prst="rect">
            <a:avLst/>
          </a:prstGeom>
        </p:spPr>
      </p:pic>
      <p:sp>
        <p:nvSpPr>
          <p:cNvPr id="74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217736" y="4831747"/>
            <a:ext cx="1957388" cy="1933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Primary tool for legacy core banking and monolithic apps</a:t>
            </a:r>
          </a:p>
        </p:txBody>
      </p:sp>
      <p:sp>
        <p:nvSpPr>
          <p:cNvPr id="74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264503" y="4895660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02</a:t>
            </a:r>
          </a:p>
        </p:txBody>
      </p:sp>
      <p:sp>
        <p:nvSpPr>
          <p:cNvPr id="74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217736" y="7126891"/>
            <a:ext cx="19573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Used where re-instrumentation is risky or infeasible</a:t>
            </a:r>
          </a:p>
        </p:txBody>
      </p:sp>
      <p:pic>
        <p:nvPicPr>
          <p:cNvPr id="7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0">
            <a:alphaModFix amt="100000"/>
          </a:blip>
          <a:stretch/>
        </p:blipFill>
        <p:spPr>
          <a:xfrm>
            <a:off x="3217664" y="6946106"/>
            <a:ext cx="581025" cy="28575"/>
          </a:xfrm>
          <a:prstGeom prst="rect">
            <a:avLst/>
          </a:prstGeom>
        </p:spPr>
      </p:pic>
      <p:pic>
        <p:nvPicPr>
          <p:cNvPr id="750" name="shap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3">
            <a:alphaModFix amt="100000"/>
            <a:extLst>
              <a:ext uri="{39C82BE7-5761-4717-88A5-EE5EF0A39DB0}">
                <asvg:svgBlip xmlns:r="http://schemas.openxmlformats.org/officeDocument/2006/relationships" xmlns:asvg="http://schemas.microsoft.com/office/drawing/2016/SVG/main" r:embed="rId28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3217664" y="6946106"/>
            <a:ext cx="577007" cy="28426"/>
          </a:xfrm>
          <a:prstGeom prst="rect">
            <a:avLst/>
          </a:prstGeom>
        </p:spPr>
      </p:pic>
      <p:pic>
        <p:nvPicPr>
          <p:cNvPr id="752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6">
            <a:alphaModFix amt="100000"/>
            <a:extLst>
              <a:ext uri="{E35C123A-FC4C-4DB0-8023-8881E7E38C1D}">
                <asvg:svgBlip xmlns:r="http://schemas.openxmlformats.org/officeDocument/2006/relationships" xmlns:asvg="http://schemas.microsoft.com/office/drawing/2016/SVG/main" r:embed="rId28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674900" y="3277267"/>
            <a:ext cx="1097280" cy="1097280"/>
          </a:xfrm>
          <a:prstGeom prst="rect">
            <a:avLst/>
          </a:prstGeom>
        </p:spPr>
      </p:pic>
      <p:sp>
        <p:nvSpPr>
          <p:cNvPr id="75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74900" y="4831747"/>
            <a:ext cx="1957388" cy="1933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Hybrid strategy: export key metrics and events to OTEL</a:t>
            </a:r>
          </a:p>
        </p:txBody>
      </p:sp>
      <p:sp>
        <p:nvSpPr>
          <p:cNvPr id="75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21382" y="4895660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03</a:t>
            </a:r>
          </a:p>
        </p:txBody>
      </p:sp>
      <p:sp>
        <p:nvSpPr>
          <p:cNvPr id="7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74900" y="7126891"/>
            <a:ext cx="19573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Consolidate visibility while retaining AppD diagnostics</a:t>
            </a:r>
          </a:p>
        </p:txBody>
      </p:sp>
      <p:pic>
        <p:nvPicPr>
          <p:cNvPr id="7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8">
            <a:alphaModFix amt="100000"/>
          </a:blip>
          <a:stretch/>
        </p:blipFill>
        <p:spPr>
          <a:xfrm>
            <a:off x="5674816" y="6946106"/>
            <a:ext cx="581025" cy="28575"/>
          </a:xfrm>
          <a:prstGeom prst="rect">
            <a:avLst/>
          </a:prstGeom>
        </p:spPr>
      </p:pic>
      <p:pic>
        <p:nvPicPr>
          <p:cNvPr id="762" name="shap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1">
            <a:alphaModFix amt="100000"/>
            <a:extLst>
              <a:ext uri="{208DCDDA-7850-488D-83C2-934A7162036C}">
                <asvg:svgBlip xmlns:r="http://schemas.openxmlformats.org/officeDocument/2006/relationships" xmlns:asvg="http://schemas.microsoft.com/office/drawing/2016/SVG/main" r:embed="rId29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674816" y="6946106"/>
            <a:ext cx="577007" cy="28426"/>
          </a:xfrm>
          <a:prstGeom prst="rect">
            <a:avLst/>
          </a:prstGeom>
        </p:spPr>
      </p:pic>
      <p:pic>
        <p:nvPicPr>
          <p:cNvPr id="764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4">
            <a:alphaModFix amt="100000"/>
            <a:extLst>
              <a:ext uri="{0062001E-966D-41DA-BCBF-5F589C244FF9}">
                <asvg:svgBlip xmlns:r="http://schemas.openxmlformats.org/officeDocument/2006/relationships" xmlns:asvg="http://schemas.microsoft.com/office/drawing/2016/SVG/main" r:embed="rId29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131969" y="3277267"/>
            <a:ext cx="1097280" cy="1097280"/>
          </a:xfrm>
          <a:prstGeom prst="rect">
            <a:avLst/>
          </a:prstGeom>
        </p:spPr>
      </p:pic>
      <p:sp>
        <p:nvSpPr>
          <p:cNvPr id="76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31969" y="4831747"/>
            <a:ext cx="1957388" cy="1933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Operational controls: maintain runbooks and clarify ownership</a:t>
            </a:r>
          </a:p>
        </p:txBody>
      </p:sp>
      <p:sp>
        <p:nvSpPr>
          <p:cNvPr id="76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70450" y="4895660"/>
            <a:ext cx="28098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04</a:t>
            </a:r>
          </a:p>
        </p:txBody>
      </p:sp>
      <p:sp>
        <p:nvSpPr>
          <p:cNvPr id="77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31969" y="7126891"/>
            <a:ext cx="19573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incident paths when issues cross legacy and cloud</a:t>
            </a:r>
          </a:p>
        </p:txBody>
      </p:sp>
      <p:pic>
        <p:nvPicPr>
          <p:cNvPr id="7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6">
            <a:alphaModFix amt="100000"/>
          </a:blip>
          <a:stretch/>
        </p:blipFill>
        <p:spPr>
          <a:xfrm>
            <a:off x="8131969" y="6946106"/>
            <a:ext cx="581025" cy="28575"/>
          </a:xfrm>
          <a:prstGeom prst="rect">
            <a:avLst/>
          </a:prstGeom>
        </p:spPr>
      </p:pic>
      <p:pic>
        <p:nvPicPr>
          <p:cNvPr id="774" name="shap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9">
            <a:alphaModFix amt="100000"/>
            <a:extLst>
              <a:ext uri="{17B18E44-E0FA-4D7E-B9D3-EA2672BB91FF}">
                <asvg:svgBlip xmlns:r="http://schemas.openxmlformats.org/officeDocument/2006/relationships" xmlns:asvg="http://schemas.microsoft.com/office/drawing/2016/SVG/main" r:embed="rId29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131969" y="6946106"/>
            <a:ext cx="577007" cy="28426"/>
          </a:xfrm>
          <a:prstGeom prst="rect">
            <a:avLst/>
          </a:prstGeom>
        </p:spPr>
      </p:pic>
      <p:pic>
        <p:nvPicPr>
          <p:cNvPr id="776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2">
            <a:alphaModFix amt="100000"/>
            <a:extLst>
              <a:ext uri="{BC6A84D5-1C98-45DE-A13F-CF59D2BDBB10}">
                <asvg:svgBlip xmlns:r="http://schemas.openxmlformats.org/officeDocument/2006/relationships" xmlns:asvg="http://schemas.microsoft.com/office/drawing/2016/SVG/main" r:embed="rId30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589038" y="3277267"/>
            <a:ext cx="1097280" cy="1097280"/>
          </a:xfrm>
          <a:prstGeom prst="rect">
            <a:avLst/>
          </a:prstGeom>
        </p:spPr>
      </p:pic>
      <p:sp>
        <p:nvSpPr>
          <p:cNvPr id="778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89038" y="4831747"/>
            <a:ext cx="1957388" cy="1933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Balance: keep AppD for deep troubleshooting and OTEL for centralization</a:t>
            </a:r>
          </a:p>
        </p:txBody>
      </p:sp>
      <p:sp>
        <p:nvSpPr>
          <p:cNvPr id="780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32948" y="4895660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05</a:t>
            </a:r>
          </a:p>
        </p:txBody>
      </p:sp>
      <p:sp>
        <p:nvSpPr>
          <p:cNvPr id="78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89038" y="7126891"/>
            <a:ext cx="19573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Preserve diagnostic depth and enterprise visibility</a:t>
            </a:r>
          </a:p>
        </p:txBody>
      </p:sp>
      <p:pic>
        <p:nvPicPr>
          <p:cNvPr id="7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4">
            <a:alphaModFix amt="100000"/>
          </a:blip>
          <a:stretch/>
        </p:blipFill>
        <p:spPr>
          <a:xfrm>
            <a:off x="10588971" y="6946106"/>
            <a:ext cx="581025" cy="28575"/>
          </a:xfrm>
          <a:prstGeom prst="rect">
            <a:avLst/>
          </a:prstGeom>
        </p:spPr>
      </p:pic>
      <p:pic>
        <p:nvPicPr>
          <p:cNvPr id="786" name="shap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7">
            <a:alphaModFix amt="100000"/>
            <a:extLst>
              <a:ext uri="{5B76AF7B-5FD0-450E-B9A4-6B31790B176E}">
                <asvg:svgBlip xmlns:r="http://schemas.openxmlformats.org/officeDocument/2006/relationships" xmlns:asvg="http://schemas.microsoft.com/office/drawing/2016/SVG/main" r:embed="rId30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588971" y="6946106"/>
            <a:ext cx="577007" cy="28426"/>
          </a:xfrm>
          <a:prstGeom prst="rect">
            <a:avLst/>
          </a:prstGeom>
        </p:spPr>
      </p:pic>
      <p:pic>
        <p:nvPicPr>
          <p:cNvPr id="78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0">
            <a:alphaModFix amt="100000"/>
            <a:extLst>
              <a:ext uri="{F8823132-F5A0-4ECD-9C7D-6DDDECB72910}">
                <asvg:svgBlip xmlns:r="http://schemas.openxmlformats.org/officeDocument/2006/relationships" xmlns:asvg="http://schemas.microsoft.com/office/drawing/2016/SVG/main" r:embed="rId30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69526" y="2946940"/>
            <a:ext cx="274320" cy="274320"/>
          </a:xfrm>
          <a:prstGeom prst="rect">
            <a:avLst/>
          </a:prstGeom>
        </p:spPr>
      </p:pic>
      <p:sp>
        <p:nvSpPr>
          <p:cNvPr id="79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2486120"/>
            <a:ext cx="41290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Export BT metrics/events to central OTEL pipeline</a:t>
            </a:r>
          </a:p>
        </p:txBody>
      </p:sp>
      <p:sp>
        <p:nvSpPr>
          <p:cNvPr id="79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3011614"/>
            <a:ext cx="4129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Selective signal export for consolidated dashboards</a:t>
            </a:r>
          </a:p>
        </p:txBody>
      </p:sp>
      <p:pic>
        <p:nvPicPr>
          <p:cNvPr id="79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3">
            <a:alphaModFix amt="100000"/>
            <a:extLst>
              <a:ext uri="{C802DA40-7C9C-41EE-B6DA-9BD173CE1F65}">
                <asvg:svgBlip xmlns:r="http://schemas.openxmlformats.org/officeDocument/2006/relationships" xmlns:asvg="http://schemas.microsoft.com/office/drawing/2016/SVG/main" r:embed="rId31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69526" y="4371499"/>
            <a:ext cx="274320" cy="274320"/>
          </a:xfrm>
          <a:prstGeom prst="rect">
            <a:avLst/>
          </a:prstGeom>
        </p:spPr>
      </p:pic>
      <p:sp>
        <p:nvSpPr>
          <p:cNvPr id="79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3910679"/>
            <a:ext cx="41290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Keep AppD agents active for JVM and .NET diagnostics</a:t>
            </a:r>
          </a:p>
        </p:txBody>
      </p:sp>
      <p:sp>
        <p:nvSpPr>
          <p:cNvPr id="79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4436174"/>
            <a:ext cx="4129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Retain snapshots and deep traces for legacy faults</a:t>
            </a:r>
          </a:p>
        </p:txBody>
      </p:sp>
      <p:pic>
        <p:nvPicPr>
          <p:cNvPr id="80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6">
            <a:alphaModFix amt="100000"/>
            <a:extLst>
              <a:ext uri="{61D6EE61-B52A-48D2-A41E-54C07B24FBCA}">
                <asvg:svgBlip xmlns:r="http://schemas.openxmlformats.org/officeDocument/2006/relationships" xmlns:asvg="http://schemas.microsoft.com/office/drawing/2016/SVG/main" r:embed="rId31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69526" y="5796058"/>
            <a:ext cx="274320" cy="274320"/>
          </a:xfrm>
          <a:prstGeom prst="rect">
            <a:avLst/>
          </a:prstGeom>
        </p:spPr>
      </p:pic>
      <p:sp>
        <p:nvSpPr>
          <p:cNvPr id="80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5335238"/>
            <a:ext cx="41290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Update runbooks and incident ownership across boundaries</a:t>
            </a:r>
          </a:p>
        </p:txBody>
      </p:sp>
      <p:sp>
        <p:nvSpPr>
          <p:cNvPr id="80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5860732"/>
            <a:ext cx="4129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Clear roles when incidents span legacy and cloud</a:t>
            </a:r>
          </a:p>
        </p:txBody>
      </p:sp>
      <p:pic>
        <p:nvPicPr>
          <p:cNvPr id="80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9">
            <a:alphaModFix amt="100000"/>
            <a:extLst>
              <a:ext uri="{AF176B9C-F860-4DB8-B2E0-67EB36374BD2}">
                <asvg:svgBlip xmlns:r="http://schemas.openxmlformats.org/officeDocument/2006/relationships" xmlns:asvg="http://schemas.microsoft.com/office/drawing/2016/SVG/main" r:embed="rId31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69526" y="7220617"/>
            <a:ext cx="274320" cy="274320"/>
          </a:xfrm>
          <a:prstGeom prst="rect">
            <a:avLst/>
          </a:prstGeom>
        </p:spPr>
      </p:pic>
      <p:sp>
        <p:nvSpPr>
          <p:cNvPr id="80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6759797"/>
            <a:ext cx="41290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 integration health between AppD and OTEL path</a:t>
            </a:r>
          </a:p>
        </p:txBody>
      </p:sp>
      <p:sp>
        <p:nvSpPr>
          <p:cNvPr id="81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7285292"/>
            <a:ext cx="4129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Validate fidelity and latency of exported signals</a:t>
            </a:r>
          </a:p>
        </p:txBody>
      </p:sp>
      <p:pic>
        <p:nvPicPr>
          <p:cNvPr id="812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2">
            <a:alphaModFix amt="100000"/>
            <a:extLst>
              <a:ext uri="{405CF86A-A356-42EC-B11E-F98051C6E763}">
                <asvg:svgBlip xmlns:r="http://schemas.openxmlformats.org/officeDocument/2006/relationships" xmlns:asvg="http://schemas.microsoft.com/office/drawing/2016/SVG/main" r:embed="rId32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69526" y="8645176"/>
            <a:ext cx="274320" cy="274320"/>
          </a:xfrm>
          <a:prstGeom prst="rect">
            <a:avLst/>
          </a:prstGeom>
        </p:spPr>
      </p:pic>
      <p:sp>
        <p:nvSpPr>
          <p:cNvPr id="81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8184356"/>
            <a:ext cx="41290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Summary: retain AppD for depth, OTEL for consolidation</a:t>
            </a:r>
          </a:p>
        </p:txBody>
      </p:sp>
      <p:sp>
        <p:nvSpPr>
          <p:cNvPr id="81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96150" y="8709850"/>
            <a:ext cx="4129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Hybrid approach delivers both diagnostics and unified view</a:t>
            </a:r>
          </a:p>
        </p:txBody>
      </p:sp>
      <p:sp>
        <p:nvSpPr>
          <p:cNvPr id="81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Legacy Monitoring with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AppDynamics</a:t>
            </a:r>
          </a:p>
        </p:txBody>
      </p:sp>
      <p:sp>
        <p:nvSpPr>
          <p:cNvPr id="8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Keep deep diagnostics for monoliths while unifying signals to OTEL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82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7806" y="5379244"/>
            <a:ext cx="726548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Unified metrics model in OTEL: span metrics, resource attributes, logs</a:t>
            </a:r>
          </a:p>
        </p:txBody>
      </p:sp>
      <p:pic>
        <p:nvPicPr>
          <p:cNvPr id="82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 amt="100000"/>
          </a:blip>
          <a:stretch/>
        </p:blipFill>
        <p:spPr>
          <a:xfrm>
            <a:off x="9699422" y="5521822"/>
            <a:ext cx="71140" cy="71140"/>
          </a:xfrm>
          <a:prstGeom prst="rect">
            <a:avLst/>
          </a:prstGeom>
        </p:spPr>
      </p:pic>
      <p:sp>
        <p:nvSpPr>
          <p:cNvPr id="83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7806" y="6092476"/>
            <a:ext cx="726548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Example mapping: Business Transaction response time to OTEL span metric named span.duration.ms with service and BT labels</a:t>
            </a:r>
          </a:p>
        </p:txBody>
      </p:sp>
      <p:pic>
        <p:nvPicPr>
          <p:cNvPr id="8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2">
            <a:alphaModFix amt="100000"/>
          </a:blip>
          <a:stretch/>
        </p:blipFill>
        <p:spPr>
          <a:xfrm>
            <a:off x="9699498" y="6235160"/>
            <a:ext cx="71140" cy="71140"/>
          </a:xfrm>
          <a:prstGeom prst="rect">
            <a:avLst/>
          </a:prstGeom>
        </p:spPr>
      </p:pic>
      <p:sp>
        <p:nvSpPr>
          <p:cNvPr id="83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7806" y="6805708"/>
            <a:ext cx="726548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Integration approaches: AppD API exporter, custom OTEL exporter, periodic batch export or synthetic transactions</a:t>
            </a:r>
          </a:p>
        </p:txBody>
      </p:sp>
      <p:pic>
        <p:nvPicPr>
          <p:cNvPr id="8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4">
            <a:alphaModFix amt="100000"/>
          </a:blip>
          <a:stretch/>
        </p:blipFill>
        <p:spPr>
          <a:xfrm>
            <a:off x="9699498" y="6948392"/>
            <a:ext cx="71140" cy="71140"/>
          </a:xfrm>
          <a:prstGeom prst="rect">
            <a:avLst/>
          </a:prstGeom>
        </p:spPr>
      </p:pic>
      <p:sp>
        <p:nvSpPr>
          <p:cNvPr id="83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7806" y="7519035"/>
            <a:ext cx="726548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Validation phase: inventory metrics, map units and labels, parity checks in Grafana dashboards</a:t>
            </a:r>
          </a:p>
        </p:txBody>
      </p:sp>
      <p:pic>
        <p:nvPicPr>
          <p:cNvPr id="84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6">
            <a:alphaModFix amt="100000"/>
          </a:blip>
          <a:stretch/>
        </p:blipFill>
        <p:spPr>
          <a:xfrm>
            <a:off x="9699498" y="7661624"/>
            <a:ext cx="71140" cy="71140"/>
          </a:xfrm>
          <a:prstGeom prst="rect">
            <a:avLst/>
          </a:prstGeom>
        </p:spPr>
      </p:pic>
      <p:sp>
        <p:nvSpPr>
          <p:cNvPr id="84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99498" y="5021104"/>
            <a:ext cx="74437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OTEL-consolidated view</a:t>
            </a:r>
          </a:p>
        </p:txBody>
      </p:sp>
      <p:pic>
        <p:nvPicPr>
          <p:cNvPr id="8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8">
            <a:alphaModFix amt="100000"/>
          </a:blip>
          <a:stretch/>
        </p:blipFill>
        <p:spPr>
          <a:xfrm>
            <a:off x="9318575" y="4015234"/>
            <a:ext cx="8172450" cy="4600575"/>
          </a:xfrm>
          <a:prstGeom prst="rect">
            <a:avLst/>
          </a:prstGeom>
        </p:spPr>
      </p:pic>
      <p:pic>
        <p:nvPicPr>
          <p:cNvPr id="846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40">
            <a:alphaModFix amt="100000"/>
          </a:blip>
          <a:stretch/>
        </p:blipFill>
        <p:spPr>
          <a:xfrm>
            <a:off x="9699498" y="3253359"/>
            <a:ext cx="1466850" cy="1466850"/>
          </a:xfrm>
          <a:prstGeom prst="rect">
            <a:avLst/>
          </a:prstGeom>
        </p:spPr>
      </p:pic>
      <p:pic>
        <p:nvPicPr>
          <p:cNvPr id="8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2">
            <a:alphaModFix amt="100000"/>
          </a:blip>
          <a:stretch/>
        </p:blipFill>
        <p:spPr>
          <a:xfrm>
            <a:off x="10723512" y="4277469"/>
            <a:ext cx="438150" cy="438150"/>
          </a:xfrm>
          <a:prstGeom prst="rect">
            <a:avLst/>
          </a:prstGeom>
        </p:spPr>
      </p:pic>
      <p:sp>
        <p:nvSpPr>
          <p:cNvPr id="85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79" y="5379244"/>
            <a:ext cx="726548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Rich BT and node instrumentation: Business Transaction response time, CPU, errors</a:t>
            </a:r>
          </a:p>
        </p:txBody>
      </p:sp>
      <p:pic>
        <p:nvPicPr>
          <p:cNvPr id="85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4">
            <a:alphaModFix amt="100000"/>
          </a:blip>
          <a:stretch/>
        </p:blipFill>
        <p:spPr>
          <a:xfrm>
            <a:off x="1141571" y="5521833"/>
            <a:ext cx="71140" cy="71140"/>
          </a:xfrm>
          <a:prstGeom prst="rect">
            <a:avLst/>
          </a:prstGeom>
        </p:spPr>
      </p:pic>
      <p:sp>
        <p:nvSpPr>
          <p:cNvPr id="85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79" y="6092476"/>
            <a:ext cx="726548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Proprietary KPIs and UI optimized for AppD workflows</a:t>
            </a:r>
          </a:p>
        </p:txBody>
      </p:sp>
      <p:pic>
        <p:nvPicPr>
          <p:cNvPr id="85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6">
            <a:alphaModFix amt="100000"/>
          </a:blip>
          <a:stretch/>
        </p:blipFill>
        <p:spPr>
          <a:xfrm>
            <a:off x="1141571" y="6235160"/>
            <a:ext cx="71140" cy="71140"/>
          </a:xfrm>
          <a:prstGeom prst="rect">
            <a:avLst/>
          </a:prstGeom>
        </p:spPr>
      </p:pic>
      <p:sp>
        <p:nvSpPr>
          <p:cNvPr id="85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79" y="6449092"/>
            <a:ext cx="726548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APIs available for metric and event export</a:t>
            </a:r>
          </a:p>
        </p:txBody>
      </p:sp>
      <p:pic>
        <p:nvPicPr>
          <p:cNvPr id="86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8">
            <a:alphaModFix amt="100000"/>
          </a:blip>
          <a:stretch/>
        </p:blipFill>
        <p:spPr>
          <a:xfrm>
            <a:off x="1141571" y="6591776"/>
            <a:ext cx="71140" cy="71140"/>
          </a:xfrm>
          <a:prstGeom prst="rect">
            <a:avLst/>
          </a:prstGeom>
        </p:spPr>
      </p:pic>
      <p:sp>
        <p:nvSpPr>
          <p:cNvPr id="86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79" y="6805708"/>
            <a:ext cx="726548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Immediate real-time dashboards and deep diagnostic traces</a:t>
            </a:r>
          </a:p>
        </p:txBody>
      </p:sp>
      <p:pic>
        <p:nvPicPr>
          <p:cNvPr id="8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0">
            <a:alphaModFix amt="100000"/>
          </a:blip>
          <a:stretch/>
        </p:blipFill>
        <p:spPr>
          <a:xfrm>
            <a:off x="1141571" y="6948392"/>
            <a:ext cx="71140" cy="71140"/>
          </a:xfrm>
          <a:prstGeom prst="rect">
            <a:avLst/>
          </a:prstGeom>
        </p:spPr>
      </p:pic>
      <p:sp>
        <p:nvSpPr>
          <p:cNvPr id="86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1571" y="5021104"/>
            <a:ext cx="74437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AppDynamics native view</a:t>
            </a:r>
          </a:p>
        </p:txBody>
      </p:sp>
      <p:pic>
        <p:nvPicPr>
          <p:cNvPr id="8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2">
            <a:alphaModFix amt="100000"/>
          </a:blip>
          <a:stretch/>
        </p:blipFill>
        <p:spPr>
          <a:xfrm>
            <a:off x="760661" y="4015234"/>
            <a:ext cx="8172450" cy="4600575"/>
          </a:xfrm>
          <a:prstGeom prst="rect">
            <a:avLst/>
          </a:prstGeom>
        </p:spPr>
      </p:pic>
      <p:pic>
        <p:nvPicPr>
          <p:cNvPr id="87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4">
            <a:alphaModFix amt="100000"/>
          </a:blip>
          <a:stretch/>
        </p:blipFill>
        <p:spPr>
          <a:xfrm>
            <a:off x="8651825" y="5839420"/>
            <a:ext cx="952351" cy="952351"/>
          </a:xfrm>
          <a:prstGeom prst="rect">
            <a:avLst/>
          </a:prstGeom>
        </p:spPr>
      </p:pic>
      <p:sp>
        <p:nvSpPr>
          <p:cNvPr id="872" name="::befor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28031" y="5815679"/>
            <a:ext cx="1000030" cy="100003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ctr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1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Vs</a:t>
            </a:r>
          </a:p>
        </p:txBody>
      </p:sp>
      <p:pic>
        <p:nvPicPr>
          <p:cNvPr id="874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56">
            <a:alphaModFix amt="100000"/>
          </a:blip>
          <a:stretch/>
        </p:blipFill>
        <p:spPr>
          <a:xfrm>
            <a:off x="1141571" y="3253359"/>
            <a:ext cx="1466850" cy="1466850"/>
          </a:xfrm>
          <a:prstGeom prst="rect">
            <a:avLst/>
          </a:prstGeom>
        </p:spPr>
      </p:pic>
      <p:pic>
        <p:nvPicPr>
          <p:cNvPr id="8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8">
            <a:alphaModFix amt="100000"/>
          </a:blip>
          <a:stretch/>
        </p:blipFill>
        <p:spPr>
          <a:xfrm>
            <a:off x="2165598" y="4277469"/>
            <a:ext cx="438150" cy="438150"/>
          </a:xfrm>
          <a:prstGeom prst="rect">
            <a:avLst/>
          </a:prstGeom>
        </p:spPr>
      </p:pic>
      <p:sp>
        <p:nvSpPr>
          <p:cNvPr id="87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6768762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Integrating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AppDynamics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into OTEL View</a:t>
            </a:r>
          </a:p>
        </p:txBody>
      </p:sp>
      <p:sp>
        <p:nvSpPr>
          <p:cNvPr id="88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67687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Side-by-side native AppDynamics and OTEL-consolidated perspectives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7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4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88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7">
            <a:alphaModFix amt="100000"/>
            <a:extLst>
              <a:ext uri="{75B861B0-A2CD-4B1C-A573-63B110C201C2}">
                <asvg:svgBlip xmlns:r="http://schemas.openxmlformats.org/officeDocument/2006/relationships" xmlns:asvg="http://schemas.microsoft.com/office/drawing/2016/SVG/main" r:embed="rId36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6650236"/>
            <a:ext cx="16734834" cy="2743051"/>
          </a:xfrm>
          <a:prstGeom prst="rect">
            <a:avLst/>
          </a:prstGeom>
        </p:spPr>
      </p:pic>
      <p:pic>
        <p:nvPicPr>
          <p:cNvPr id="8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9">
            <a:alphaModFix amt="100000"/>
          </a:blip>
          <a:stretch/>
        </p:blipFill>
        <p:spPr>
          <a:xfrm>
            <a:off x="1637348" y="2436019"/>
            <a:ext cx="1037481" cy="1065609"/>
          </a:xfrm>
          <a:prstGeom prst="rect">
            <a:avLst/>
          </a:prstGeom>
        </p:spPr>
      </p:pic>
      <p:pic>
        <p:nvPicPr>
          <p:cNvPr id="88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2">
            <a:alphaModFix amt="100000"/>
            <a:extLst>
              <a:ext uri="{4ECEE211-E4F0-4DFD-94CE-8C7A47254D0F}">
                <asvg:svgBlip xmlns:r="http://schemas.openxmlformats.org/officeDocument/2006/relationships" xmlns:asvg="http://schemas.microsoft.com/office/drawing/2016/SVG/main" r:embed="rId37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861566" y="2660237"/>
            <a:ext cx="587788" cy="587788"/>
          </a:xfrm>
          <a:prstGeom prst="rect">
            <a:avLst/>
          </a:prstGeom>
        </p:spPr>
      </p:pic>
      <p:sp>
        <p:nvSpPr>
          <p:cNvPr id="89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3352" y="3655124"/>
            <a:ext cx="25193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Domain Sources</a:t>
            </a:r>
          </a:p>
        </p:txBody>
      </p:sp>
      <p:sp>
        <p:nvSpPr>
          <p:cNvPr id="89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3352" y="4089368"/>
            <a:ext cx="2519362" cy="2019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PowerApps front-end, DCP Azure services, GCP microservices, legacy on-prem with AppDynamics emitting telemetry.</a:t>
            </a:r>
          </a:p>
        </p:txBody>
      </p:sp>
      <p:pic>
        <p:nvPicPr>
          <p:cNvPr id="8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4">
            <a:alphaModFix amt="100000"/>
          </a:blip>
          <a:stretch/>
        </p:blipFill>
        <p:spPr>
          <a:xfrm>
            <a:off x="4426363" y="2436019"/>
            <a:ext cx="1037481" cy="1065609"/>
          </a:xfrm>
          <a:prstGeom prst="rect">
            <a:avLst/>
          </a:prstGeom>
        </p:spPr>
      </p:pic>
      <p:pic>
        <p:nvPicPr>
          <p:cNvPr id="895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7">
            <a:alphaModFix amt="100000"/>
            <a:extLst>
              <a:ext uri="{6B283761-0CC5-48A9-91FC-F9AD454E4D5D}">
                <asvg:svgBlip xmlns:r="http://schemas.openxmlformats.org/officeDocument/2006/relationships" xmlns:asvg="http://schemas.microsoft.com/office/drawing/2016/SVG/main" r:embed="rId37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4650581" y="2660237"/>
            <a:ext cx="587788" cy="587788"/>
          </a:xfrm>
          <a:prstGeom prst="rect">
            <a:avLst/>
          </a:prstGeom>
        </p:spPr>
      </p:pic>
      <p:sp>
        <p:nvSpPr>
          <p:cNvPr id="89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02368" y="3655124"/>
            <a:ext cx="25193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Collection Layer</a:t>
            </a:r>
          </a:p>
        </p:txBody>
      </p:sp>
      <p:sp>
        <p:nvSpPr>
          <p:cNvPr id="89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02368" y="4089368"/>
            <a:ext cx="2519362" cy="1352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OTEL Collector standardizes traces, metrics, and logs from all domains.</a:t>
            </a:r>
          </a:p>
        </p:txBody>
      </p:sp>
      <p:pic>
        <p:nvPicPr>
          <p:cNvPr id="8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9">
            <a:alphaModFix amt="100000"/>
          </a:blip>
          <a:stretch/>
        </p:blipFill>
        <p:spPr>
          <a:xfrm>
            <a:off x="7215378" y="2436019"/>
            <a:ext cx="1037481" cy="1065609"/>
          </a:xfrm>
          <a:prstGeom prst="rect">
            <a:avLst/>
          </a:prstGeom>
        </p:spPr>
      </p:pic>
      <p:pic>
        <p:nvPicPr>
          <p:cNvPr id="90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2">
            <a:alphaModFix amt="100000"/>
            <a:extLst>
              <a:ext uri="{C0E0A6EE-CF8A-4410-B894-7EF3FB3B3583}">
                <asvg:svgBlip xmlns:r="http://schemas.openxmlformats.org/officeDocument/2006/relationships" xmlns:asvg="http://schemas.microsoft.com/office/drawing/2016/SVG/main" r:embed="rId38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439596" y="2660237"/>
            <a:ext cx="587788" cy="587788"/>
          </a:xfrm>
          <a:prstGeom prst="rect">
            <a:avLst/>
          </a:prstGeom>
        </p:spPr>
      </p:pic>
      <p:sp>
        <p:nvSpPr>
          <p:cNvPr id="90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1478" y="3655124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Storage and Observability</a:t>
            </a:r>
          </a:p>
        </p:txBody>
      </p:sp>
      <p:sp>
        <p:nvSpPr>
          <p:cNvPr id="90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1478" y="4409218"/>
            <a:ext cx="2519362" cy="1685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Grafana with Loki for logs and Tempo for traces centralizes analysis and dashboards.</a:t>
            </a:r>
          </a:p>
        </p:txBody>
      </p:sp>
      <p:pic>
        <p:nvPicPr>
          <p:cNvPr id="9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4">
            <a:alphaModFix amt="100000"/>
          </a:blip>
          <a:stretch/>
        </p:blipFill>
        <p:spPr>
          <a:xfrm>
            <a:off x="10004374" y="2436019"/>
            <a:ext cx="1037481" cy="1065609"/>
          </a:xfrm>
          <a:prstGeom prst="rect">
            <a:avLst/>
          </a:prstGeom>
        </p:spPr>
      </p:pic>
      <p:pic>
        <p:nvPicPr>
          <p:cNvPr id="907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7">
            <a:alphaModFix amt="100000"/>
            <a:extLst>
              <a:ext uri="{BC26D567-3037-46CE-BDBC-FD77F70C5652}">
                <asvg:svgBlip xmlns:r="http://schemas.openxmlformats.org/officeDocument/2006/relationships" xmlns:asvg="http://schemas.microsoft.com/office/drawing/2016/SVG/main" r:embed="rId38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228707" y="2660237"/>
            <a:ext cx="587788" cy="587788"/>
          </a:xfrm>
          <a:prstGeom prst="rect">
            <a:avLst/>
          </a:prstGeom>
        </p:spPr>
      </p:pic>
      <p:sp>
        <p:nvSpPr>
          <p:cNvPr id="90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3655124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Taxonomy and KPIs</a:t>
            </a:r>
          </a:p>
        </p:txBody>
      </p:sp>
      <p:sp>
        <p:nvSpPr>
          <p:cNvPr id="91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4409218"/>
            <a:ext cx="2519362" cy="1685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Common tagging and labeling conventions with consistent KPI definitions across platforms.</a:t>
            </a:r>
          </a:p>
        </p:txBody>
      </p:sp>
      <p:pic>
        <p:nvPicPr>
          <p:cNvPr id="9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9">
            <a:alphaModFix amt="100000"/>
          </a:blip>
          <a:stretch/>
        </p:blipFill>
        <p:spPr>
          <a:xfrm>
            <a:off x="12793418" y="2436019"/>
            <a:ext cx="1037481" cy="1065609"/>
          </a:xfrm>
          <a:prstGeom prst="rect">
            <a:avLst/>
          </a:prstGeom>
        </p:spPr>
      </p:pic>
      <p:pic>
        <p:nvPicPr>
          <p:cNvPr id="913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2">
            <a:alphaModFix amt="100000"/>
            <a:extLst>
              <a:ext uri="{15208DC7-48C0-4890-A528-2D06AB897B26}">
                <asvg:svgBlip xmlns:r="http://schemas.openxmlformats.org/officeDocument/2006/relationships" xmlns:asvg="http://schemas.microsoft.com/office/drawing/2016/SVG/main" r:embed="rId39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3017722" y="2660237"/>
            <a:ext cx="587788" cy="587788"/>
          </a:xfrm>
          <a:prstGeom prst="rect">
            <a:avLst/>
          </a:prstGeom>
        </p:spPr>
      </p:pic>
      <p:sp>
        <p:nvSpPr>
          <p:cNvPr id="91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69508" y="3655124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Cross-Platform Correlation</a:t>
            </a:r>
          </a:p>
        </p:txBody>
      </p:sp>
      <p:sp>
        <p:nvSpPr>
          <p:cNvPr id="91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69508" y="4409218"/>
            <a:ext cx="2519362" cy="2019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Link traces, logs, and metrics across PowerApps, Azure, GCP, and AppDynamics for a single observability story.</a:t>
            </a:r>
          </a:p>
        </p:txBody>
      </p:sp>
      <p:pic>
        <p:nvPicPr>
          <p:cNvPr id="9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4">
            <a:alphaModFix amt="100000"/>
          </a:blip>
          <a:stretch/>
        </p:blipFill>
        <p:spPr>
          <a:xfrm>
            <a:off x="15582452" y="2436019"/>
            <a:ext cx="1037481" cy="1065609"/>
          </a:xfrm>
          <a:prstGeom prst="rect">
            <a:avLst/>
          </a:prstGeom>
        </p:spPr>
      </p:pic>
      <p:pic>
        <p:nvPicPr>
          <p:cNvPr id="919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7">
            <a:alphaModFix amt="100000"/>
            <a:extLst>
              <a:ext uri="{048491D1-A3E2-401C-8772-3B12485311E4}">
                <asvg:svgBlip xmlns:r="http://schemas.openxmlformats.org/officeDocument/2006/relationships" xmlns:asvg="http://schemas.microsoft.com/office/drawing/2016/SVG/main" r:embed="rId39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806738" y="2660237"/>
            <a:ext cx="587788" cy="587788"/>
          </a:xfrm>
          <a:prstGeom prst="rect">
            <a:avLst/>
          </a:prstGeom>
        </p:spPr>
      </p:pic>
      <p:sp>
        <p:nvSpPr>
          <p:cNvPr id="92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8524" y="3655124"/>
            <a:ext cx="2519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Operational Integrations</a:t>
            </a:r>
          </a:p>
        </p:txBody>
      </p:sp>
      <p:sp>
        <p:nvSpPr>
          <p:cNvPr id="92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8524" y="4409218"/>
            <a:ext cx="2519362" cy="1685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Alerting and ticketing integrations with xMatters and ServiceNow for incident response.</a:t>
            </a:r>
          </a:p>
        </p:txBody>
      </p:sp>
      <p:sp>
        <p:nvSpPr>
          <p:cNvPr id="9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End-to-End Observability Map</a:t>
            </a:r>
          </a:p>
        </p:txBody>
      </p:sp>
      <p:sp>
        <p:nvSpPr>
          <p:cNvPr id="9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PowerApps, Azure, GCP, AppDynamics → OTEL to Grafana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3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9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5">
            <a:alphaModFix amt="100000"/>
          </a:blip>
          <a:stretch/>
        </p:blipFill>
        <p:spPr>
          <a:xfrm>
            <a:off x="760661" y="2320081"/>
            <a:ext cx="1799481" cy="970359"/>
          </a:xfrm>
          <a:prstGeom prst="rect">
            <a:avLst/>
          </a:prstGeom>
        </p:spPr>
      </p:pic>
      <p:pic>
        <p:nvPicPr>
          <p:cNvPr id="9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7">
            <a:alphaModFix amt="100000"/>
          </a:blip>
          <a:stretch/>
        </p:blipFill>
        <p:spPr>
          <a:xfrm>
            <a:off x="760661" y="2348210"/>
            <a:ext cx="1742628" cy="899517"/>
          </a:xfrm>
          <a:prstGeom prst="rect">
            <a:avLst/>
          </a:prstGeom>
        </p:spPr>
      </p:pic>
      <p:sp>
        <p:nvSpPr>
          <p:cNvPr id="935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6113" y="2614327"/>
            <a:ext cx="14811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Schema field</a:t>
            </a:r>
          </a:p>
        </p:txBody>
      </p:sp>
      <p:pic>
        <p:nvPicPr>
          <p:cNvPr id="9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9">
            <a:alphaModFix amt="100000"/>
          </a:blip>
          <a:stretch/>
        </p:blipFill>
        <p:spPr>
          <a:xfrm>
            <a:off x="2500908" y="2320081"/>
            <a:ext cx="3752106" cy="970359"/>
          </a:xfrm>
          <a:prstGeom prst="rect">
            <a:avLst/>
          </a:prstGeom>
        </p:spPr>
      </p:pic>
      <p:pic>
        <p:nvPicPr>
          <p:cNvPr id="9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1">
            <a:alphaModFix amt="100000"/>
          </a:blip>
          <a:stretch/>
        </p:blipFill>
        <p:spPr>
          <a:xfrm>
            <a:off x="2500908" y="2348210"/>
            <a:ext cx="3695253" cy="899517"/>
          </a:xfrm>
          <a:prstGeom prst="rect">
            <a:avLst/>
          </a:prstGeom>
        </p:spPr>
      </p:pic>
      <p:sp>
        <p:nvSpPr>
          <p:cNvPr id="941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71150" y="2614327"/>
            <a:ext cx="985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Purpose</a:t>
            </a:r>
          </a:p>
        </p:txBody>
      </p:sp>
      <p:pic>
        <p:nvPicPr>
          <p:cNvPr id="9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3">
            <a:alphaModFix amt="100000"/>
          </a:blip>
          <a:stretch/>
        </p:blipFill>
        <p:spPr>
          <a:xfrm>
            <a:off x="6193780" y="2320081"/>
            <a:ext cx="2932956" cy="970359"/>
          </a:xfrm>
          <a:prstGeom prst="rect">
            <a:avLst/>
          </a:prstGeom>
        </p:spPr>
      </p:pic>
      <p:pic>
        <p:nvPicPr>
          <p:cNvPr id="9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5">
            <a:alphaModFix amt="100000"/>
          </a:blip>
          <a:stretch/>
        </p:blipFill>
        <p:spPr>
          <a:xfrm>
            <a:off x="6193780" y="2348210"/>
            <a:ext cx="2876103" cy="899517"/>
          </a:xfrm>
          <a:prstGeom prst="rect">
            <a:avLst/>
          </a:prstGeom>
        </p:spPr>
      </p:pic>
      <p:sp>
        <p:nvSpPr>
          <p:cNvPr id="947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55180" y="2614327"/>
            <a:ext cx="985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Example</a:t>
            </a:r>
          </a:p>
        </p:txBody>
      </p:sp>
      <p:pic>
        <p:nvPicPr>
          <p:cNvPr id="9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7">
            <a:alphaModFix amt="100000"/>
          </a:blip>
          <a:stretch/>
        </p:blipFill>
        <p:spPr>
          <a:xfrm>
            <a:off x="9068991" y="2320081"/>
            <a:ext cx="3418731" cy="970359"/>
          </a:xfrm>
          <a:prstGeom prst="rect">
            <a:avLst/>
          </a:prstGeom>
        </p:spPr>
      </p:pic>
      <p:pic>
        <p:nvPicPr>
          <p:cNvPr id="9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9">
            <a:alphaModFix amt="100000"/>
          </a:blip>
          <a:stretch/>
        </p:blipFill>
        <p:spPr>
          <a:xfrm>
            <a:off x="9068991" y="2348210"/>
            <a:ext cx="3361878" cy="899517"/>
          </a:xfrm>
          <a:prstGeom prst="rect">
            <a:avLst/>
          </a:prstGeom>
        </p:spPr>
      </p:pic>
      <p:sp>
        <p:nvSpPr>
          <p:cNvPr id="953" name="text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20084" y="2614327"/>
            <a:ext cx="1890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Privacy handling</a:t>
            </a:r>
          </a:p>
        </p:txBody>
      </p:sp>
      <p:pic>
        <p:nvPicPr>
          <p:cNvPr id="9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1">
            <a:alphaModFix amt="100000"/>
          </a:blip>
          <a:stretch/>
        </p:blipFill>
        <p:spPr>
          <a:xfrm>
            <a:off x="760661" y="3265140"/>
            <a:ext cx="1771203" cy="899517"/>
          </a:xfrm>
          <a:prstGeom prst="rect">
            <a:avLst/>
          </a:prstGeom>
        </p:spPr>
      </p:pic>
      <p:pic>
        <p:nvPicPr>
          <p:cNvPr id="9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3">
            <a:alphaModFix amt="100000"/>
          </a:blip>
          <a:stretch/>
        </p:blipFill>
        <p:spPr>
          <a:xfrm>
            <a:off x="760661" y="3279278"/>
            <a:ext cx="1742628" cy="870942"/>
          </a:xfrm>
          <a:prstGeom prst="rect">
            <a:avLst/>
          </a:prstGeom>
        </p:spPr>
      </p:pic>
      <p:sp>
        <p:nvSpPr>
          <p:cNvPr id="959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3530632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timestamp</a:t>
            </a:r>
          </a:p>
        </p:txBody>
      </p:sp>
      <p:pic>
        <p:nvPicPr>
          <p:cNvPr id="9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5">
            <a:alphaModFix amt="100000"/>
          </a:blip>
          <a:stretch/>
        </p:blipFill>
        <p:spPr>
          <a:xfrm>
            <a:off x="2500908" y="3265140"/>
            <a:ext cx="3723828" cy="899517"/>
          </a:xfrm>
          <a:prstGeom prst="rect">
            <a:avLst/>
          </a:prstGeom>
        </p:spPr>
      </p:pic>
      <p:pic>
        <p:nvPicPr>
          <p:cNvPr id="9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7">
            <a:alphaModFix amt="100000"/>
          </a:blip>
          <a:stretch/>
        </p:blipFill>
        <p:spPr>
          <a:xfrm>
            <a:off x="2500908" y="3279278"/>
            <a:ext cx="3695253" cy="870942"/>
          </a:xfrm>
          <a:prstGeom prst="rect">
            <a:avLst/>
          </a:prstGeom>
        </p:spPr>
      </p:pic>
      <p:sp>
        <p:nvSpPr>
          <p:cNvPr id="965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3530632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Event ordering and correlation</a:t>
            </a:r>
          </a:p>
        </p:txBody>
      </p:sp>
      <p:pic>
        <p:nvPicPr>
          <p:cNvPr id="9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9">
            <a:alphaModFix amt="100000"/>
          </a:blip>
          <a:stretch/>
        </p:blipFill>
        <p:spPr>
          <a:xfrm>
            <a:off x="6193780" y="3265140"/>
            <a:ext cx="2904678" cy="899517"/>
          </a:xfrm>
          <a:prstGeom prst="rect">
            <a:avLst/>
          </a:prstGeom>
        </p:spPr>
      </p:pic>
      <p:pic>
        <p:nvPicPr>
          <p:cNvPr id="9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1">
            <a:alphaModFix amt="100000"/>
          </a:blip>
          <a:stretch/>
        </p:blipFill>
        <p:spPr>
          <a:xfrm>
            <a:off x="6193780" y="3279278"/>
            <a:ext cx="2876103" cy="870942"/>
          </a:xfrm>
          <a:prstGeom prst="rect">
            <a:avLst/>
          </a:prstGeom>
        </p:spPr>
      </p:pic>
      <p:sp>
        <p:nvSpPr>
          <p:cNvPr id="971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3530632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2025-06-01T12:34:56Z</a:t>
            </a:r>
          </a:p>
        </p:txBody>
      </p:sp>
      <p:pic>
        <p:nvPicPr>
          <p:cNvPr id="9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3">
            <a:alphaModFix amt="100000"/>
          </a:blip>
          <a:stretch/>
        </p:blipFill>
        <p:spPr>
          <a:xfrm>
            <a:off x="9068991" y="3265140"/>
            <a:ext cx="3390453" cy="899517"/>
          </a:xfrm>
          <a:prstGeom prst="rect">
            <a:avLst/>
          </a:prstGeom>
        </p:spPr>
      </p:pic>
      <p:pic>
        <p:nvPicPr>
          <p:cNvPr id="9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5">
            <a:alphaModFix amt="100000"/>
          </a:blip>
          <a:stretch/>
        </p:blipFill>
        <p:spPr>
          <a:xfrm>
            <a:off x="9068991" y="3279278"/>
            <a:ext cx="3361878" cy="870942"/>
          </a:xfrm>
          <a:prstGeom prst="rect">
            <a:avLst/>
          </a:prstGeom>
        </p:spPr>
      </p:pic>
      <p:sp>
        <p:nvSpPr>
          <p:cNvPr id="977" name="Label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3530632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Low risk — no PII</a:t>
            </a:r>
          </a:p>
        </p:txBody>
      </p:sp>
      <p:pic>
        <p:nvPicPr>
          <p:cNvPr id="9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7">
            <a:alphaModFix amt="100000"/>
          </a:blip>
          <a:stretch/>
        </p:blipFill>
        <p:spPr>
          <a:xfrm>
            <a:off x="760666" y="4138517"/>
            <a:ext cx="1771203" cy="899517"/>
          </a:xfrm>
          <a:prstGeom prst="rect">
            <a:avLst/>
          </a:prstGeom>
        </p:spPr>
      </p:pic>
      <p:pic>
        <p:nvPicPr>
          <p:cNvPr id="9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9">
            <a:alphaModFix amt="100000"/>
          </a:blip>
          <a:stretch/>
        </p:blipFill>
        <p:spPr>
          <a:xfrm>
            <a:off x="760666" y="4152614"/>
            <a:ext cx="1742628" cy="870942"/>
          </a:xfrm>
          <a:prstGeom prst="rect">
            <a:avLst/>
          </a:prstGeom>
        </p:spPr>
      </p:pic>
      <p:sp>
        <p:nvSpPr>
          <p:cNvPr id="983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4403884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level</a:t>
            </a:r>
          </a:p>
        </p:txBody>
      </p:sp>
      <p:pic>
        <p:nvPicPr>
          <p:cNvPr id="9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1">
            <a:alphaModFix amt="100000"/>
          </a:blip>
          <a:stretch/>
        </p:blipFill>
        <p:spPr>
          <a:xfrm>
            <a:off x="2500979" y="4138517"/>
            <a:ext cx="3723828" cy="899517"/>
          </a:xfrm>
          <a:prstGeom prst="rect">
            <a:avLst/>
          </a:prstGeom>
        </p:spPr>
      </p:pic>
      <p:pic>
        <p:nvPicPr>
          <p:cNvPr id="9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3">
            <a:alphaModFix amt="100000"/>
          </a:blip>
          <a:stretch/>
        </p:blipFill>
        <p:spPr>
          <a:xfrm>
            <a:off x="2500979" y="4152614"/>
            <a:ext cx="3695253" cy="870942"/>
          </a:xfrm>
          <a:prstGeom prst="rect">
            <a:avLst/>
          </a:prstGeom>
        </p:spPr>
      </p:pic>
      <p:sp>
        <p:nvSpPr>
          <p:cNvPr id="989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4403884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Severity classification</a:t>
            </a:r>
          </a:p>
        </p:txBody>
      </p:sp>
      <p:pic>
        <p:nvPicPr>
          <p:cNvPr id="9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5">
            <a:alphaModFix amt="100000"/>
          </a:blip>
          <a:stretch/>
        </p:blipFill>
        <p:spPr>
          <a:xfrm>
            <a:off x="6193822" y="4138517"/>
            <a:ext cx="2904678" cy="899517"/>
          </a:xfrm>
          <a:prstGeom prst="rect">
            <a:avLst/>
          </a:prstGeom>
        </p:spPr>
      </p:pic>
      <p:pic>
        <p:nvPicPr>
          <p:cNvPr id="9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7">
            <a:alphaModFix amt="100000"/>
          </a:blip>
          <a:stretch/>
        </p:blipFill>
        <p:spPr>
          <a:xfrm>
            <a:off x="6193822" y="4152614"/>
            <a:ext cx="2876103" cy="870942"/>
          </a:xfrm>
          <a:prstGeom prst="rect">
            <a:avLst/>
          </a:prstGeom>
        </p:spPr>
      </p:pic>
      <p:sp>
        <p:nvSpPr>
          <p:cNvPr id="995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4403884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ERROR</a:t>
            </a:r>
          </a:p>
        </p:txBody>
      </p:sp>
      <p:pic>
        <p:nvPicPr>
          <p:cNvPr id="9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9">
            <a:alphaModFix amt="100000"/>
          </a:blip>
          <a:stretch/>
        </p:blipFill>
        <p:spPr>
          <a:xfrm>
            <a:off x="9069038" y="4138517"/>
            <a:ext cx="3390453" cy="899517"/>
          </a:xfrm>
          <a:prstGeom prst="rect">
            <a:avLst/>
          </a:prstGeom>
        </p:spPr>
      </p:pic>
      <p:pic>
        <p:nvPicPr>
          <p:cNvPr id="9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1">
            <a:alphaModFix amt="100000"/>
          </a:blip>
          <a:stretch/>
        </p:blipFill>
        <p:spPr>
          <a:xfrm>
            <a:off x="9069038" y="4152614"/>
            <a:ext cx="3361878" cy="870942"/>
          </a:xfrm>
          <a:prstGeom prst="rect">
            <a:avLst/>
          </a:prstGeom>
        </p:spPr>
      </p:pic>
      <p:sp>
        <p:nvSpPr>
          <p:cNvPr id="1001" name="Label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4403884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Low risk</a:t>
            </a:r>
          </a:p>
        </p:txBody>
      </p:sp>
      <p:pic>
        <p:nvPicPr>
          <p:cNvPr id="10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3">
            <a:alphaModFix amt="100000"/>
          </a:blip>
          <a:stretch/>
        </p:blipFill>
        <p:spPr>
          <a:xfrm>
            <a:off x="760666" y="5011769"/>
            <a:ext cx="1771203" cy="899517"/>
          </a:xfrm>
          <a:prstGeom prst="rect">
            <a:avLst/>
          </a:prstGeom>
        </p:spPr>
      </p:pic>
      <p:pic>
        <p:nvPicPr>
          <p:cNvPr id="10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5">
            <a:alphaModFix amt="100000"/>
          </a:blip>
          <a:stretch/>
        </p:blipFill>
        <p:spPr>
          <a:xfrm>
            <a:off x="760666" y="5025866"/>
            <a:ext cx="1742628" cy="870942"/>
          </a:xfrm>
          <a:prstGeom prst="rect">
            <a:avLst/>
          </a:prstGeom>
        </p:spPr>
      </p:pic>
      <p:sp>
        <p:nvSpPr>
          <p:cNvPr id="1007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5277136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service</a:t>
            </a:r>
          </a:p>
        </p:txBody>
      </p:sp>
      <p:pic>
        <p:nvPicPr>
          <p:cNvPr id="10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7">
            <a:alphaModFix amt="100000"/>
          </a:blip>
          <a:stretch/>
        </p:blipFill>
        <p:spPr>
          <a:xfrm>
            <a:off x="2500979" y="5011769"/>
            <a:ext cx="3723828" cy="899517"/>
          </a:xfrm>
          <a:prstGeom prst="rect">
            <a:avLst/>
          </a:prstGeom>
        </p:spPr>
      </p:pic>
      <p:pic>
        <p:nvPicPr>
          <p:cNvPr id="10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9">
            <a:alphaModFix amt="100000"/>
          </a:blip>
          <a:stretch/>
        </p:blipFill>
        <p:spPr>
          <a:xfrm>
            <a:off x="2500979" y="5025866"/>
            <a:ext cx="3695253" cy="870942"/>
          </a:xfrm>
          <a:prstGeom prst="rect">
            <a:avLst/>
          </a:prstGeom>
        </p:spPr>
      </p:pic>
      <p:sp>
        <p:nvSpPr>
          <p:cNvPr id="1013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5277136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Service or component source</a:t>
            </a:r>
          </a:p>
        </p:txBody>
      </p:sp>
      <p:pic>
        <p:nvPicPr>
          <p:cNvPr id="10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1">
            <a:alphaModFix amt="100000"/>
          </a:blip>
          <a:stretch/>
        </p:blipFill>
        <p:spPr>
          <a:xfrm>
            <a:off x="6193822" y="5011769"/>
            <a:ext cx="2904678" cy="899517"/>
          </a:xfrm>
          <a:prstGeom prst="rect">
            <a:avLst/>
          </a:prstGeom>
        </p:spPr>
      </p:pic>
      <p:pic>
        <p:nvPicPr>
          <p:cNvPr id="10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3">
            <a:alphaModFix amt="100000"/>
          </a:blip>
          <a:stretch/>
        </p:blipFill>
        <p:spPr>
          <a:xfrm>
            <a:off x="6193822" y="5025866"/>
            <a:ext cx="2876103" cy="870942"/>
          </a:xfrm>
          <a:prstGeom prst="rect">
            <a:avLst/>
          </a:prstGeom>
        </p:spPr>
      </p:pic>
      <p:sp>
        <p:nvSpPr>
          <p:cNvPr id="1019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5277136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payments-api</a:t>
            </a:r>
          </a:p>
        </p:txBody>
      </p:sp>
      <p:pic>
        <p:nvPicPr>
          <p:cNvPr id="10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5">
            <a:alphaModFix amt="100000"/>
          </a:blip>
          <a:stretch/>
        </p:blipFill>
        <p:spPr>
          <a:xfrm>
            <a:off x="9069038" y="5011769"/>
            <a:ext cx="3390453" cy="899517"/>
          </a:xfrm>
          <a:prstGeom prst="rect">
            <a:avLst/>
          </a:prstGeom>
        </p:spPr>
      </p:pic>
      <p:pic>
        <p:nvPicPr>
          <p:cNvPr id="10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7">
            <a:alphaModFix amt="100000"/>
          </a:blip>
          <a:stretch/>
        </p:blipFill>
        <p:spPr>
          <a:xfrm>
            <a:off x="9069038" y="5025866"/>
            <a:ext cx="3361878" cy="870942"/>
          </a:xfrm>
          <a:prstGeom prst="rect">
            <a:avLst/>
          </a:prstGeom>
        </p:spPr>
      </p:pic>
      <p:sp>
        <p:nvSpPr>
          <p:cNvPr id="1025" name="Label-3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5277136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Low risk</a:t>
            </a:r>
          </a:p>
        </p:txBody>
      </p:sp>
      <p:pic>
        <p:nvPicPr>
          <p:cNvPr id="10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9">
            <a:alphaModFix amt="100000"/>
          </a:blip>
          <a:stretch/>
        </p:blipFill>
        <p:spPr>
          <a:xfrm>
            <a:off x="760666" y="5885021"/>
            <a:ext cx="1771203" cy="899517"/>
          </a:xfrm>
          <a:prstGeom prst="rect">
            <a:avLst/>
          </a:prstGeom>
        </p:spPr>
      </p:pic>
      <p:pic>
        <p:nvPicPr>
          <p:cNvPr id="10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1">
            <a:alphaModFix amt="100000"/>
          </a:blip>
          <a:stretch/>
        </p:blipFill>
        <p:spPr>
          <a:xfrm>
            <a:off x="760666" y="5899118"/>
            <a:ext cx="1742628" cy="870942"/>
          </a:xfrm>
          <a:prstGeom prst="rect">
            <a:avLst/>
          </a:prstGeom>
        </p:spPr>
      </p:pic>
      <p:sp>
        <p:nvSpPr>
          <p:cNvPr id="1031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6150388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correlation_id</a:t>
            </a:r>
          </a:p>
        </p:txBody>
      </p:sp>
      <p:pic>
        <p:nvPicPr>
          <p:cNvPr id="10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3">
            <a:alphaModFix amt="100000"/>
          </a:blip>
          <a:stretch/>
        </p:blipFill>
        <p:spPr>
          <a:xfrm>
            <a:off x="2500979" y="5885021"/>
            <a:ext cx="3723828" cy="899517"/>
          </a:xfrm>
          <a:prstGeom prst="rect">
            <a:avLst/>
          </a:prstGeom>
        </p:spPr>
      </p:pic>
      <p:pic>
        <p:nvPicPr>
          <p:cNvPr id="10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5">
            <a:alphaModFix amt="100000"/>
          </a:blip>
          <a:stretch/>
        </p:blipFill>
        <p:spPr>
          <a:xfrm>
            <a:off x="2500979" y="5899118"/>
            <a:ext cx="3695253" cy="870942"/>
          </a:xfrm>
          <a:prstGeom prst="rect">
            <a:avLst/>
          </a:prstGeom>
        </p:spPr>
      </p:pic>
      <p:sp>
        <p:nvSpPr>
          <p:cNvPr id="1037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6150388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Trace across services</a:t>
            </a:r>
          </a:p>
        </p:txBody>
      </p:sp>
      <p:pic>
        <p:nvPicPr>
          <p:cNvPr id="10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7">
            <a:alphaModFix amt="100000"/>
          </a:blip>
          <a:stretch/>
        </p:blipFill>
        <p:spPr>
          <a:xfrm>
            <a:off x="6193822" y="5885021"/>
            <a:ext cx="2904678" cy="899517"/>
          </a:xfrm>
          <a:prstGeom prst="rect">
            <a:avLst/>
          </a:prstGeom>
        </p:spPr>
      </p:pic>
      <p:pic>
        <p:nvPicPr>
          <p:cNvPr id="10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9">
            <a:alphaModFix amt="100000"/>
          </a:blip>
          <a:stretch/>
        </p:blipFill>
        <p:spPr>
          <a:xfrm>
            <a:off x="6193822" y="5899118"/>
            <a:ext cx="2876103" cy="870942"/>
          </a:xfrm>
          <a:prstGeom prst="rect">
            <a:avLst/>
          </a:prstGeom>
        </p:spPr>
      </p:pic>
      <p:sp>
        <p:nvSpPr>
          <p:cNvPr id="1043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6150388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abc123-trace</a:t>
            </a:r>
          </a:p>
        </p:txBody>
      </p:sp>
      <p:pic>
        <p:nvPicPr>
          <p:cNvPr id="10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1">
            <a:alphaModFix amt="100000"/>
          </a:blip>
          <a:stretch/>
        </p:blipFill>
        <p:spPr>
          <a:xfrm>
            <a:off x="9069038" y="5885021"/>
            <a:ext cx="3390453" cy="899517"/>
          </a:xfrm>
          <a:prstGeom prst="rect">
            <a:avLst/>
          </a:prstGeom>
        </p:spPr>
      </p:pic>
      <p:pic>
        <p:nvPicPr>
          <p:cNvPr id="10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3">
            <a:alphaModFix amt="100000"/>
          </a:blip>
          <a:stretch/>
        </p:blipFill>
        <p:spPr>
          <a:xfrm>
            <a:off x="9069038" y="5899118"/>
            <a:ext cx="3361878" cy="870942"/>
          </a:xfrm>
          <a:prstGeom prst="rect">
            <a:avLst/>
          </a:prstGeom>
        </p:spPr>
      </p:pic>
      <p:sp>
        <p:nvSpPr>
          <p:cNvPr id="1049" name="Label-4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6150388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Tokenized if links to user</a:t>
            </a:r>
          </a:p>
        </p:txBody>
      </p:sp>
      <p:pic>
        <p:nvPicPr>
          <p:cNvPr id="10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5">
            <a:alphaModFix amt="100000"/>
          </a:blip>
          <a:stretch/>
        </p:blipFill>
        <p:spPr>
          <a:xfrm>
            <a:off x="760666" y="6758273"/>
            <a:ext cx="1771203" cy="899517"/>
          </a:xfrm>
          <a:prstGeom prst="rect">
            <a:avLst/>
          </a:prstGeom>
        </p:spPr>
      </p:pic>
      <p:pic>
        <p:nvPicPr>
          <p:cNvPr id="10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7">
            <a:alphaModFix amt="100000"/>
          </a:blip>
          <a:stretch/>
        </p:blipFill>
        <p:spPr>
          <a:xfrm>
            <a:off x="760666" y="6772370"/>
            <a:ext cx="1742628" cy="870942"/>
          </a:xfrm>
          <a:prstGeom prst="rect">
            <a:avLst/>
          </a:prstGeom>
        </p:spPr>
      </p:pic>
      <p:sp>
        <p:nvSpPr>
          <p:cNvPr id="1055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7023544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error_code</a:t>
            </a:r>
          </a:p>
        </p:txBody>
      </p:sp>
      <p:pic>
        <p:nvPicPr>
          <p:cNvPr id="10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9">
            <a:alphaModFix amt="100000"/>
          </a:blip>
          <a:stretch/>
        </p:blipFill>
        <p:spPr>
          <a:xfrm>
            <a:off x="2500979" y="6758273"/>
            <a:ext cx="3723828" cy="899517"/>
          </a:xfrm>
          <a:prstGeom prst="rect">
            <a:avLst/>
          </a:prstGeom>
        </p:spPr>
      </p:pic>
      <p:pic>
        <p:nvPicPr>
          <p:cNvPr id="10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1">
            <a:alphaModFix amt="100000"/>
          </a:blip>
          <a:stretch/>
        </p:blipFill>
        <p:spPr>
          <a:xfrm>
            <a:off x="2500979" y="6772370"/>
            <a:ext cx="3695253" cy="870942"/>
          </a:xfrm>
          <a:prstGeom prst="rect">
            <a:avLst/>
          </a:prstGeom>
        </p:spPr>
      </p:pic>
      <p:sp>
        <p:nvSpPr>
          <p:cNvPr id="1061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7023544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Operational diagnostics</a:t>
            </a:r>
          </a:p>
        </p:txBody>
      </p:sp>
      <p:pic>
        <p:nvPicPr>
          <p:cNvPr id="10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3">
            <a:alphaModFix amt="100000"/>
          </a:blip>
          <a:stretch/>
        </p:blipFill>
        <p:spPr>
          <a:xfrm>
            <a:off x="6193822" y="6758273"/>
            <a:ext cx="2904678" cy="899517"/>
          </a:xfrm>
          <a:prstGeom prst="rect">
            <a:avLst/>
          </a:prstGeom>
        </p:spPr>
      </p:pic>
      <p:pic>
        <p:nvPicPr>
          <p:cNvPr id="10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5">
            <a:alphaModFix amt="100000"/>
          </a:blip>
          <a:stretch/>
        </p:blipFill>
        <p:spPr>
          <a:xfrm>
            <a:off x="6193822" y="6772370"/>
            <a:ext cx="2876103" cy="870942"/>
          </a:xfrm>
          <a:prstGeom prst="rect">
            <a:avLst/>
          </a:prstGeom>
        </p:spPr>
      </p:pic>
      <p:sp>
        <p:nvSpPr>
          <p:cNvPr id="1067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7023544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PAYMENT_402</a:t>
            </a:r>
          </a:p>
        </p:txBody>
      </p:sp>
      <p:pic>
        <p:nvPicPr>
          <p:cNvPr id="10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7">
            <a:alphaModFix amt="100000"/>
          </a:blip>
          <a:stretch/>
        </p:blipFill>
        <p:spPr>
          <a:xfrm>
            <a:off x="9069038" y="6758273"/>
            <a:ext cx="3390453" cy="899517"/>
          </a:xfrm>
          <a:prstGeom prst="rect">
            <a:avLst/>
          </a:prstGeom>
        </p:spPr>
      </p:pic>
      <p:pic>
        <p:nvPicPr>
          <p:cNvPr id="10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9">
            <a:alphaModFix amt="100000"/>
          </a:blip>
          <a:stretch/>
        </p:blipFill>
        <p:spPr>
          <a:xfrm>
            <a:off x="9069038" y="6772370"/>
            <a:ext cx="3361878" cy="870942"/>
          </a:xfrm>
          <a:prstGeom prst="rect">
            <a:avLst/>
          </a:prstGeom>
        </p:spPr>
      </p:pic>
      <p:sp>
        <p:nvSpPr>
          <p:cNvPr id="1073" name="Label-5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7023544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Low risk</a:t>
            </a:r>
          </a:p>
        </p:txBody>
      </p:sp>
      <p:pic>
        <p:nvPicPr>
          <p:cNvPr id="10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1">
            <a:alphaModFix amt="100000"/>
          </a:blip>
          <a:stretch/>
        </p:blipFill>
        <p:spPr>
          <a:xfrm>
            <a:off x="760666" y="7631430"/>
            <a:ext cx="1771203" cy="899517"/>
          </a:xfrm>
          <a:prstGeom prst="rect">
            <a:avLst/>
          </a:prstGeom>
        </p:spPr>
      </p:pic>
      <p:pic>
        <p:nvPicPr>
          <p:cNvPr id="10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3">
            <a:alphaModFix amt="100000"/>
          </a:blip>
          <a:stretch/>
        </p:blipFill>
        <p:spPr>
          <a:xfrm>
            <a:off x="760666" y="7645622"/>
            <a:ext cx="1742628" cy="870942"/>
          </a:xfrm>
          <a:prstGeom prst="rect">
            <a:avLst/>
          </a:prstGeom>
        </p:spPr>
      </p:pic>
      <p:sp>
        <p:nvSpPr>
          <p:cNvPr id="1079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7896796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region</a:t>
            </a:r>
          </a:p>
        </p:txBody>
      </p:sp>
      <p:pic>
        <p:nvPicPr>
          <p:cNvPr id="10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5">
            <a:alphaModFix amt="100000"/>
          </a:blip>
          <a:stretch/>
        </p:blipFill>
        <p:spPr>
          <a:xfrm>
            <a:off x="2500979" y="7631430"/>
            <a:ext cx="3723828" cy="899517"/>
          </a:xfrm>
          <a:prstGeom prst="rect">
            <a:avLst/>
          </a:prstGeom>
        </p:spPr>
      </p:pic>
      <p:pic>
        <p:nvPicPr>
          <p:cNvPr id="10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7">
            <a:alphaModFix amt="100000"/>
          </a:blip>
          <a:stretch/>
        </p:blipFill>
        <p:spPr>
          <a:xfrm>
            <a:off x="2500979" y="7645622"/>
            <a:ext cx="3695253" cy="870942"/>
          </a:xfrm>
          <a:prstGeom prst="rect">
            <a:avLst/>
          </a:prstGeom>
        </p:spPr>
      </p:pic>
      <p:sp>
        <p:nvSpPr>
          <p:cNvPr id="1085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7896796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Data residency and routing</a:t>
            </a:r>
          </a:p>
        </p:txBody>
      </p:sp>
      <p:pic>
        <p:nvPicPr>
          <p:cNvPr id="10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9">
            <a:alphaModFix amt="100000"/>
          </a:blip>
          <a:stretch/>
        </p:blipFill>
        <p:spPr>
          <a:xfrm>
            <a:off x="6193822" y="7631430"/>
            <a:ext cx="2904678" cy="899517"/>
          </a:xfrm>
          <a:prstGeom prst="rect">
            <a:avLst/>
          </a:prstGeom>
        </p:spPr>
      </p:pic>
      <p:pic>
        <p:nvPicPr>
          <p:cNvPr id="10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1">
            <a:alphaModFix amt="100000"/>
          </a:blip>
          <a:stretch/>
        </p:blipFill>
        <p:spPr>
          <a:xfrm>
            <a:off x="6193822" y="7645622"/>
            <a:ext cx="2876103" cy="870942"/>
          </a:xfrm>
          <a:prstGeom prst="rect">
            <a:avLst/>
          </a:prstGeom>
        </p:spPr>
      </p:pic>
      <p:sp>
        <p:nvSpPr>
          <p:cNvPr id="1091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7896796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us-east-1</a:t>
            </a:r>
          </a:p>
        </p:txBody>
      </p:sp>
      <p:pic>
        <p:nvPicPr>
          <p:cNvPr id="10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3">
            <a:alphaModFix amt="100000"/>
          </a:blip>
          <a:stretch/>
        </p:blipFill>
        <p:spPr>
          <a:xfrm>
            <a:off x="9069038" y="7631430"/>
            <a:ext cx="3390453" cy="899517"/>
          </a:xfrm>
          <a:prstGeom prst="rect">
            <a:avLst/>
          </a:prstGeom>
        </p:spPr>
      </p:pic>
      <p:pic>
        <p:nvPicPr>
          <p:cNvPr id="10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5">
            <a:alphaModFix amt="100000"/>
          </a:blip>
          <a:stretch/>
        </p:blipFill>
        <p:spPr>
          <a:xfrm>
            <a:off x="9069038" y="7645622"/>
            <a:ext cx="3361878" cy="870942"/>
          </a:xfrm>
          <a:prstGeom prst="rect">
            <a:avLst/>
          </a:prstGeom>
        </p:spPr>
      </p:pic>
      <p:sp>
        <p:nvSpPr>
          <p:cNvPr id="1097" name="Label-6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7896796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Handled per regional policy</a:t>
            </a:r>
          </a:p>
        </p:txBody>
      </p:sp>
      <p:pic>
        <p:nvPicPr>
          <p:cNvPr id="10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7">
            <a:alphaModFix amt="100000"/>
          </a:blip>
          <a:stretch/>
        </p:blipFill>
        <p:spPr>
          <a:xfrm>
            <a:off x="760661" y="8504634"/>
            <a:ext cx="1771203" cy="918567"/>
          </a:xfrm>
          <a:prstGeom prst="rect">
            <a:avLst/>
          </a:prstGeom>
        </p:spPr>
      </p:pic>
      <p:pic>
        <p:nvPicPr>
          <p:cNvPr id="11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9">
            <a:alphaModFix amt="100000"/>
          </a:blip>
          <a:stretch/>
        </p:blipFill>
        <p:spPr>
          <a:xfrm>
            <a:off x="760661" y="8518773"/>
            <a:ext cx="1742628" cy="889992"/>
          </a:xfrm>
          <a:prstGeom prst="rect">
            <a:avLst/>
          </a:prstGeom>
        </p:spPr>
      </p:pic>
      <p:sp>
        <p:nvSpPr>
          <p:cNvPr id="1103" name="Label-7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1914" y="8780050"/>
            <a:ext cx="16335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</a:t>
            </a:r>
          </a:p>
        </p:txBody>
      </p:sp>
      <p:pic>
        <p:nvPicPr>
          <p:cNvPr id="11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1">
            <a:alphaModFix amt="100000"/>
          </a:blip>
          <a:stretch/>
        </p:blipFill>
        <p:spPr>
          <a:xfrm>
            <a:off x="2500908" y="8504634"/>
            <a:ext cx="3723828" cy="918567"/>
          </a:xfrm>
          <a:prstGeom prst="rect">
            <a:avLst/>
          </a:prstGeom>
        </p:spPr>
      </p:pic>
      <p:pic>
        <p:nvPicPr>
          <p:cNvPr id="11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3">
            <a:alphaModFix amt="100000"/>
          </a:blip>
          <a:stretch/>
        </p:blipFill>
        <p:spPr>
          <a:xfrm>
            <a:off x="2500908" y="8518773"/>
            <a:ext cx="3695253" cy="889992"/>
          </a:xfrm>
          <a:prstGeom prst="rect">
            <a:avLst/>
          </a:prstGeom>
        </p:spPr>
      </p:pic>
      <p:sp>
        <p:nvSpPr>
          <p:cNvPr id="1109" name="Label-7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2226" y="8780050"/>
            <a:ext cx="35861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Runtime context</a:t>
            </a:r>
          </a:p>
        </p:txBody>
      </p:sp>
      <p:pic>
        <p:nvPicPr>
          <p:cNvPr id="11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5">
            <a:alphaModFix amt="100000"/>
          </a:blip>
          <a:stretch/>
        </p:blipFill>
        <p:spPr>
          <a:xfrm>
            <a:off x="6193780" y="8504634"/>
            <a:ext cx="2904678" cy="918567"/>
          </a:xfrm>
          <a:prstGeom prst="rect">
            <a:avLst/>
          </a:prstGeom>
        </p:spPr>
      </p:pic>
      <p:pic>
        <p:nvPicPr>
          <p:cNvPr id="11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7">
            <a:alphaModFix amt="100000"/>
          </a:blip>
          <a:stretch/>
        </p:blipFill>
        <p:spPr>
          <a:xfrm>
            <a:off x="6193780" y="8518773"/>
            <a:ext cx="2876103" cy="889992"/>
          </a:xfrm>
          <a:prstGeom prst="rect">
            <a:avLst/>
          </a:prstGeom>
        </p:spPr>
      </p:pic>
      <p:sp>
        <p:nvSpPr>
          <p:cNvPr id="1115" name="Label-7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4974" y="8780050"/>
            <a:ext cx="2767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prod</a:t>
            </a:r>
          </a:p>
        </p:txBody>
      </p:sp>
      <p:pic>
        <p:nvPicPr>
          <p:cNvPr id="11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9">
            <a:alphaModFix amt="100000"/>
          </a:blip>
          <a:stretch/>
        </p:blipFill>
        <p:spPr>
          <a:xfrm>
            <a:off x="9068991" y="8504634"/>
            <a:ext cx="3390453" cy="918567"/>
          </a:xfrm>
          <a:prstGeom prst="rect">
            <a:avLst/>
          </a:prstGeom>
        </p:spPr>
      </p:pic>
      <p:pic>
        <p:nvPicPr>
          <p:cNvPr id="11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1">
            <a:alphaModFix amt="100000"/>
          </a:blip>
          <a:stretch/>
        </p:blipFill>
        <p:spPr>
          <a:xfrm>
            <a:off x="9068991" y="8518773"/>
            <a:ext cx="3361878" cy="889992"/>
          </a:xfrm>
          <a:prstGeom prst="rect">
            <a:avLst/>
          </a:prstGeom>
        </p:spPr>
      </p:pic>
      <p:sp>
        <p:nvSpPr>
          <p:cNvPr id="1121" name="Label-7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0285" y="8780050"/>
            <a:ext cx="32527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Restricted for debug data</a:t>
            </a:r>
          </a:p>
        </p:txBody>
      </p:sp>
      <p:pic>
        <p:nvPicPr>
          <p:cNvPr id="11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3">
            <a:alphaModFix amt="100000"/>
          </a:blip>
          <a:stretch/>
        </p:blipFill>
        <p:spPr>
          <a:xfrm>
            <a:off x="12969526" y="3014948"/>
            <a:ext cx="190500" cy="190500"/>
          </a:xfrm>
          <a:prstGeom prst="rect">
            <a:avLst/>
          </a:prstGeom>
        </p:spPr>
      </p:pic>
      <p:sp>
        <p:nvSpPr>
          <p:cNvPr id="112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2950178"/>
            <a:ext cx="40624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Retention tiers</a:t>
            </a:r>
          </a:p>
        </p:txBody>
      </p:sp>
      <p:sp>
        <p:nvSpPr>
          <p:cNvPr id="112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3308318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Hot logs 30–90 days; warm/cold moved to archive per regulation</a:t>
            </a:r>
          </a:p>
        </p:txBody>
      </p:sp>
      <p:pic>
        <p:nvPicPr>
          <p:cNvPr id="11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5">
            <a:alphaModFix amt="100000"/>
          </a:blip>
          <a:stretch/>
        </p:blipFill>
        <p:spPr>
          <a:xfrm>
            <a:off x="12969526" y="4238625"/>
            <a:ext cx="190500" cy="190500"/>
          </a:xfrm>
          <a:prstGeom prst="rect">
            <a:avLst/>
          </a:prstGeom>
        </p:spPr>
      </p:pic>
      <p:sp>
        <p:nvSpPr>
          <p:cNvPr id="113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4173950"/>
            <a:ext cx="40624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Masking at ingestion</a:t>
            </a:r>
          </a:p>
        </p:txBody>
      </p:sp>
      <p:sp>
        <p:nvSpPr>
          <p:cNvPr id="113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4531995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Apply masking or tokenization to prevent PII storage</a:t>
            </a:r>
          </a:p>
        </p:txBody>
      </p:sp>
      <p:pic>
        <p:nvPicPr>
          <p:cNvPr id="11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7">
            <a:alphaModFix amt="100000"/>
          </a:blip>
          <a:stretch/>
        </p:blipFill>
        <p:spPr>
          <a:xfrm>
            <a:off x="12969526" y="5462302"/>
            <a:ext cx="190500" cy="190500"/>
          </a:xfrm>
          <a:prstGeom prst="rect">
            <a:avLst/>
          </a:prstGeom>
        </p:spPr>
      </p:pic>
      <p:sp>
        <p:nvSpPr>
          <p:cNvPr id="113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5397627"/>
            <a:ext cx="40624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Role based access control</a:t>
            </a:r>
          </a:p>
        </p:txBody>
      </p:sp>
      <p:sp>
        <p:nvSpPr>
          <p:cNvPr id="113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5755672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RBAC for dashboards and raw logs with least privilege</a:t>
            </a:r>
          </a:p>
        </p:txBody>
      </p:sp>
      <p:pic>
        <p:nvPicPr>
          <p:cNvPr id="11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9">
            <a:alphaModFix amt="100000"/>
          </a:blip>
          <a:stretch/>
        </p:blipFill>
        <p:spPr>
          <a:xfrm>
            <a:off x="12969526" y="6685978"/>
            <a:ext cx="190500" cy="190500"/>
          </a:xfrm>
          <a:prstGeom prst="rect">
            <a:avLst/>
          </a:prstGeom>
        </p:spPr>
      </p:pic>
      <p:sp>
        <p:nvSpPr>
          <p:cNvPr id="114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6621304"/>
            <a:ext cx="40624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Periodic access reviews</a:t>
            </a:r>
          </a:p>
        </p:txBody>
      </p:sp>
      <p:sp>
        <p:nvSpPr>
          <p:cNvPr id="114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6979348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Regular reviews and audit logging for compliance</a:t>
            </a:r>
          </a:p>
        </p:txBody>
      </p:sp>
      <p:pic>
        <p:nvPicPr>
          <p:cNvPr id="11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1">
            <a:alphaModFix amt="100000"/>
          </a:blip>
          <a:stretch/>
        </p:blipFill>
        <p:spPr>
          <a:xfrm>
            <a:off x="12969526" y="7909750"/>
            <a:ext cx="190500" cy="190500"/>
          </a:xfrm>
          <a:prstGeom prst="rect">
            <a:avLst/>
          </a:prstGeom>
        </p:spPr>
      </p:pic>
      <p:sp>
        <p:nvSpPr>
          <p:cNvPr id="114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7844980"/>
            <a:ext cx="40624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Auditor evidence</a:t>
            </a:r>
          </a:p>
        </p:txBody>
      </p:sp>
      <p:sp>
        <p:nvSpPr>
          <p:cNvPr id="115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8203120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Provide traceable pipelines and incident records on request</a:t>
            </a:r>
          </a:p>
        </p:txBody>
      </p:sp>
      <p:sp>
        <p:nvSpPr>
          <p:cNvPr id="115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Governance, Standards and Compliance</a:t>
            </a:r>
          </a:p>
        </p:txBody>
      </p:sp>
      <p:sp>
        <p:nvSpPr>
          <p:cNvPr id="115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 log schema, retention, masking and access controls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116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2724245"/>
            <a:ext cx="600551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Availability: </a:t>
            </a:r>
            <a:r>
              <a:rPr lang="en-US" sz="1800" b="1" dirty="0">
                <a:solidFill>
                  <a:srgbClr val="131523"/>
                </a:solidFill>
                <a:latin typeface="Lexend Medium" panose="00000700000000000000" pitchFamily="2" charset="0"/>
              </a:rPr>
              <a:t>% uptime</a:t>
            </a:r>
            <a:r>
              <a:rPr lang="en-US" sz="1800" dirty="0">
                <a:solidFill>
                  <a:srgbClr val="131523"/>
                </a:solidFill>
                <a:latin typeface="Lexend Medium" panose="00000700000000000000" pitchFamily="2" charset="0"/>
              </a:rPr>
              <a:t> for core lending APIs</a:t>
            </a:r>
          </a:p>
        </p:txBody>
      </p:sp>
      <p:sp>
        <p:nvSpPr>
          <p:cNvPr id="116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3036570"/>
            <a:ext cx="60055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Track service availability for customer-facing endpoints</a:t>
            </a:r>
          </a:p>
        </p:txBody>
      </p:sp>
      <p:sp>
        <p:nvSpPr>
          <p:cNvPr id="116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3545491"/>
            <a:ext cx="573881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Latency: </a:t>
            </a:r>
            <a:r>
              <a:rPr lang="en-US" sz="1800" b="1" dirty="0">
                <a:solidFill>
                  <a:srgbClr val="131523"/>
                </a:solidFill>
                <a:latin typeface="Lexend Medium" panose="00000700000000000000" pitchFamily="2" charset="0"/>
              </a:rPr>
              <a:t>P95 and P99</a:t>
            </a:r>
            <a:r>
              <a:rPr lang="en-US" sz="1800" dirty="0">
                <a:solidFill>
                  <a:srgbClr val="131523"/>
                </a:solidFill>
                <a:latin typeface="Lexend Medium" panose="00000700000000000000" pitchFamily="2" charset="0"/>
              </a:rPr>
              <a:t> (example P95 under 200 ms)</a:t>
            </a:r>
          </a:p>
        </p:txBody>
      </p:sp>
      <p:sp>
        <p:nvSpPr>
          <p:cNvPr id="116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3857816"/>
            <a:ext cx="57388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Measure tail latency for credit decision and API calls</a:t>
            </a:r>
          </a:p>
        </p:txBody>
      </p:sp>
      <p:sp>
        <p:nvSpPr>
          <p:cNvPr id="116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4366832"/>
            <a:ext cx="618648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Error rate: 5xx and failed transaction counts</a:t>
            </a:r>
          </a:p>
        </p:txBody>
      </p:sp>
      <p:sp>
        <p:nvSpPr>
          <p:cNvPr id="117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4679156"/>
            <a:ext cx="61864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Monitor API and transaction failures impacting customers</a:t>
            </a:r>
          </a:p>
        </p:txBody>
      </p:sp>
      <p:sp>
        <p:nvSpPr>
          <p:cNvPr id="117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5188172"/>
            <a:ext cx="65960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STP percent: Straight Through Processing for critical flows</a:t>
            </a:r>
          </a:p>
        </p:txBody>
      </p:sp>
      <p:sp>
        <p:nvSpPr>
          <p:cNvPr id="117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5500497"/>
            <a:ext cx="65960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Percent of flows completing without manual intervention</a:t>
            </a:r>
          </a:p>
        </p:txBody>
      </p:sp>
      <p:sp>
        <p:nvSpPr>
          <p:cNvPr id="117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6009418"/>
            <a:ext cx="673893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SLO examples: 99.9% availability; P95 latency under 200 ms</a:t>
            </a:r>
          </a:p>
        </p:txBody>
      </p:sp>
      <p:sp>
        <p:nvSpPr>
          <p:cNvPr id="117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6321742"/>
            <a:ext cx="67389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Concrete targets for core lending APIs and decision endpoint</a:t>
            </a:r>
          </a:p>
        </p:txBody>
      </p:sp>
      <p:sp>
        <p:nvSpPr>
          <p:cNvPr id="118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6830758"/>
            <a:ext cx="784383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Ownership: assign an owner per SLO and measure SLIs in production</a:t>
            </a:r>
          </a:p>
        </p:txBody>
      </p:sp>
      <p:sp>
        <p:nvSpPr>
          <p:cNvPr id="1183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7143083"/>
            <a:ext cx="7843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Clear accountability and production-grade measurement</a:t>
            </a:r>
          </a:p>
        </p:txBody>
      </p:sp>
      <p:sp>
        <p:nvSpPr>
          <p:cNvPr id="1185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7652099"/>
            <a:ext cx="68627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Error budget policy: throttle risky changes and gate releases</a:t>
            </a:r>
          </a:p>
        </p:txBody>
      </p:sp>
      <p:sp>
        <p:nvSpPr>
          <p:cNvPr id="1187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7964424"/>
            <a:ext cx="6862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error budgets to balance reliability and feature delivery</a:t>
            </a:r>
          </a:p>
        </p:txBody>
      </p:sp>
      <p:sp>
        <p:nvSpPr>
          <p:cNvPr id="1189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8473345"/>
            <a:ext cx="71294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Operations: incorporate SLOs into release gating and incidents</a:t>
            </a:r>
          </a:p>
        </p:txBody>
      </p:sp>
      <p:sp>
        <p:nvSpPr>
          <p:cNvPr id="1191" name="Description of a 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371" y="8785670"/>
            <a:ext cx="71294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SLOs for prioritization and post-incident refinement</a:t>
            </a:r>
          </a:p>
        </p:txBody>
      </p:sp>
      <p:sp>
        <p:nvSpPr>
          <p:cNvPr id="119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6768762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SRE KPIs and SLOs for Credit and Lending Apps</a:t>
            </a:r>
          </a:p>
        </p:txBody>
      </p:sp>
      <p:sp>
        <p:nvSpPr>
          <p:cNvPr id="119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67687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Core reliability measures and actionable adoption guidance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0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3">
            <a:alphaModFix amt="100000"/>
          </a:blip>
          <a:stretch/>
        </p:blipFill>
        <p:spPr>
          <a:xfrm>
            <a:off x="0" y="0"/>
            <a:ext cx="1647825" cy="2181225"/>
          </a:xfrm>
          <a:prstGeom prst="rect">
            <a:avLst/>
          </a:prstGeom>
        </p:spPr>
      </p:pic>
      <p:pic>
        <p:nvPicPr>
          <p:cNvPr id="12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5">
            <a:alphaModFix amt="100000"/>
          </a:blip>
          <a:stretch/>
        </p:blipFill>
        <p:spPr>
          <a:xfrm>
            <a:off x="16925354" y="8881872"/>
            <a:ext cx="1333500" cy="1390650"/>
          </a:xfrm>
          <a:prstGeom prst="rect">
            <a:avLst/>
          </a:prstGeom>
        </p:spPr>
      </p:pic>
      <p:sp>
        <p:nvSpPr>
          <p:cNvPr id="1202" name="$50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1358" y="2037778"/>
            <a:ext cx="17478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b="1" dirty="0">
                <a:solidFill>
                  <a:srgbClr val="F44336">
                    <a:alpha val="100000"/>
                  </a:srgbClr>
                </a:solidFill>
                <a:latin typeface="Lexend" panose="00000700000000000000" pitchFamily="2" charset="0"/>
              </a:rPr>
              <a:t>0–3 months</a:t>
            </a:r>
          </a:p>
        </p:txBody>
      </p:sp>
      <p:sp>
        <p:nvSpPr>
          <p:cNvPr id="120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1999678"/>
            <a:ext cx="7510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Standards and initial platform setup</a:t>
            </a:r>
          </a:p>
        </p:txBody>
      </p:sp>
      <p:sp>
        <p:nvSpPr>
          <p:cNvPr id="120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2357723"/>
            <a:ext cx="75104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Finalize logging schema and correlation ID; implement PowerApps to App Insights to OTEL pattern; stand up OTEL Collector and initial Grafana dashboards</a:t>
            </a:r>
          </a:p>
        </p:txBody>
      </p:sp>
      <p:sp>
        <p:nvSpPr>
          <p:cNvPr id="1205" name="$50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1358" y="3770376"/>
            <a:ext cx="17478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b="1" dirty="0">
                <a:solidFill>
                  <a:srgbClr val="FF733E">
                    <a:alpha val="100000"/>
                  </a:srgbClr>
                </a:solidFill>
                <a:latin typeface="Lexend" panose="00000700000000000000" pitchFamily="2" charset="0"/>
              </a:rPr>
              <a:t>3–6 months</a:t>
            </a:r>
          </a:p>
        </p:txBody>
      </p:sp>
      <p:sp>
        <p:nvSpPr>
          <p:cNvPr id="120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3732371"/>
            <a:ext cx="7510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Service onboarding and incident pipeline</a:t>
            </a:r>
          </a:p>
        </p:txBody>
      </p:sp>
      <p:sp>
        <p:nvSpPr>
          <p:cNvPr id="12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4090416"/>
            <a:ext cx="75104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Onboard key Azure and GCP services; integrate xMatters and ServiceNow pipeline; roll out first SLOs and error budgets</a:t>
            </a:r>
          </a:p>
        </p:txBody>
      </p:sp>
      <p:sp>
        <p:nvSpPr>
          <p:cNvPr id="1208" name="$50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1358" y="5146453"/>
            <a:ext cx="17478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b="1" dirty="0">
                <a:solidFill>
                  <a:srgbClr val="F3B125">
                    <a:alpha val="100000"/>
                  </a:srgbClr>
                </a:solidFill>
                <a:latin typeface="Lexend" panose="00000700000000000000" pitchFamily="2" charset="0"/>
              </a:rPr>
              <a:t>6–12 months</a:t>
            </a:r>
          </a:p>
        </p:txBody>
      </p:sp>
      <p:sp>
        <p:nvSpPr>
          <p:cNvPr id="120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5108448"/>
            <a:ext cx="7510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Legacy coverage and SRE maturity</a:t>
            </a:r>
          </a:p>
        </p:txBody>
      </p:sp>
      <p:sp>
        <p:nvSpPr>
          <p:cNvPr id="121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5466493"/>
            <a:ext cx="75104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Extend coverage to legacy via AppDynamics to OTEL bridge; mature RCA, runbooks, and SRE practices; introduce anomaly detection and ML where useful</a:t>
            </a:r>
          </a:p>
        </p:txBody>
      </p:sp>
      <p:sp>
        <p:nvSpPr>
          <p:cNvPr id="1211" name="$50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1358" y="6879146"/>
            <a:ext cx="174783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b="1" dirty="0">
                <a:solidFill>
                  <a:srgbClr val="FFCD6E">
                    <a:alpha val="100000"/>
                  </a:srgbClr>
                </a:solidFill>
                <a:latin typeface="Lexend" panose="00000700000000000000" pitchFamily="2" charset="0"/>
              </a:rPr>
              <a:t>Ongoing</a:t>
            </a:r>
          </a:p>
        </p:txBody>
      </p:sp>
      <p:sp>
        <p:nvSpPr>
          <p:cNvPr id="121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6841141"/>
            <a:ext cx="7510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Deployment controls and verification</a:t>
            </a:r>
          </a:p>
        </p:txBody>
      </p:sp>
      <p:sp>
        <p:nvSpPr>
          <p:cNvPr id="121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361468" y="7199186"/>
            <a:ext cx="75104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pilots and phased rollouts; verify telemetry parity; maintain onboarding backlog; engage app teams early; schedule governance checkpoints</a:t>
            </a:r>
          </a:p>
        </p:txBody>
      </p:sp>
      <p:pic>
        <p:nvPicPr>
          <p:cNvPr id="12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7">
            <a:alphaModFix amt="100000"/>
          </a:blip>
          <a:stretch/>
        </p:blipFill>
        <p:spPr>
          <a:xfrm>
            <a:off x="3018086" y="2095203"/>
            <a:ext cx="28575" cy="4838700"/>
          </a:xfrm>
          <a:prstGeom prst="rect">
            <a:avLst/>
          </a:prstGeom>
        </p:spPr>
      </p:pic>
      <p:pic>
        <p:nvPicPr>
          <p:cNvPr id="12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9">
            <a:alphaModFix amt="100000"/>
          </a:blip>
          <a:stretch/>
        </p:blipFill>
        <p:spPr>
          <a:xfrm>
            <a:off x="2937224" y="2000060"/>
            <a:ext cx="189756" cy="217884"/>
          </a:xfrm>
          <a:prstGeom prst="rect">
            <a:avLst/>
          </a:prstGeom>
        </p:spPr>
      </p:pic>
      <p:pic>
        <p:nvPicPr>
          <p:cNvPr id="121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2">
            <a:alphaModFix amt="100000"/>
            <a:extLst>
              <a:ext uri="{AC66915A-7B9B-400F-9D8A-EC457B9F5001}">
                <asvg:svgBlip xmlns:r="http://schemas.openxmlformats.org/officeDocument/2006/relationships" xmlns:asvg="http://schemas.microsoft.com/office/drawing/2016/SVG/main" r:embed="rId56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965400" y="2080766"/>
            <a:ext cx="476101" cy="28426"/>
          </a:xfrm>
          <a:prstGeom prst="rect">
            <a:avLst/>
          </a:prstGeom>
        </p:spPr>
      </p:pic>
      <p:pic>
        <p:nvPicPr>
          <p:cNvPr id="12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4">
            <a:alphaModFix amt="100000"/>
          </a:blip>
          <a:stretch/>
        </p:blipFill>
        <p:spPr>
          <a:xfrm>
            <a:off x="2937224" y="3733610"/>
            <a:ext cx="189756" cy="217884"/>
          </a:xfrm>
          <a:prstGeom prst="rect">
            <a:avLst/>
          </a:prstGeom>
        </p:spPr>
      </p:pic>
      <p:pic>
        <p:nvPicPr>
          <p:cNvPr id="1218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7">
            <a:alphaModFix amt="100000"/>
            <a:extLst>
              <a:ext uri="{EFBD39FE-CDA5-48E5-A256-BA9C947FED77}">
                <asvg:svgBlip xmlns:r="http://schemas.openxmlformats.org/officeDocument/2006/relationships" xmlns:asvg="http://schemas.microsoft.com/office/drawing/2016/SVG/main" r:embed="rId56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965400" y="3814316"/>
            <a:ext cx="476101" cy="28426"/>
          </a:xfrm>
          <a:prstGeom prst="rect">
            <a:avLst/>
          </a:prstGeom>
        </p:spPr>
      </p:pic>
      <p:pic>
        <p:nvPicPr>
          <p:cNvPr id="12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9">
            <a:alphaModFix amt="100000"/>
          </a:blip>
          <a:stretch/>
        </p:blipFill>
        <p:spPr>
          <a:xfrm>
            <a:off x="2937224" y="5105210"/>
            <a:ext cx="189756" cy="217884"/>
          </a:xfrm>
          <a:prstGeom prst="rect">
            <a:avLst/>
          </a:prstGeom>
        </p:spPr>
      </p:pic>
      <p:pic>
        <p:nvPicPr>
          <p:cNvPr id="122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2">
            <a:alphaModFix amt="100000"/>
            <a:extLst>
              <a:ext uri="{56FF1DCC-96EB-46F0-A77F-DC2B52CF5A6E}">
                <asvg:svgBlip xmlns:r="http://schemas.openxmlformats.org/officeDocument/2006/relationships" xmlns:asvg="http://schemas.microsoft.com/office/drawing/2016/SVG/main" r:embed="rId57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965400" y="5186065"/>
            <a:ext cx="476101" cy="28426"/>
          </a:xfrm>
          <a:prstGeom prst="rect">
            <a:avLst/>
          </a:prstGeom>
        </p:spPr>
      </p:pic>
      <p:pic>
        <p:nvPicPr>
          <p:cNvPr id="12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4">
            <a:alphaModFix amt="100000"/>
          </a:blip>
          <a:stretch/>
        </p:blipFill>
        <p:spPr>
          <a:xfrm>
            <a:off x="2937224" y="6838855"/>
            <a:ext cx="189756" cy="217884"/>
          </a:xfrm>
          <a:prstGeom prst="rect">
            <a:avLst/>
          </a:prstGeom>
        </p:spPr>
      </p:pic>
      <p:pic>
        <p:nvPicPr>
          <p:cNvPr id="122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7">
            <a:alphaModFix amt="100000"/>
            <a:extLst>
              <a:ext uri="{E8833D61-C58E-4158-8A2B-614F5BFB976B}">
                <asvg:svgBlip xmlns:r="http://schemas.openxmlformats.org/officeDocument/2006/relationships" xmlns:asvg="http://schemas.microsoft.com/office/drawing/2016/SVG/main" r:embed="rId57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965400" y="6919615"/>
            <a:ext cx="476101" cy="28426"/>
          </a:xfrm>
          <a:prstGeom prst="rect">
            <a:avLst/>
          </a:prstGeom>
        </p:spPr>
      </p:pic>
      <p:sp>
        <p:nvSpPr>
          <p:cNvPr id="12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28526" y="3730752"/>
            <a:ext cx="5662612" cy="1943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Implementation Roadmap: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Unified Observability</a:t>
            </a:r>
          </a:p>
        </p:txBody>
      </p:sp>
      <p:sp>
        <p:nvSpPr>
          <p:cNvPr id="12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28526" y="5781294"/>
            <a:ext cx="56626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6–12 month timeline for PowerApps, Azure, OTEL, Grafana, GCP, AppDynamics, xMatters, ServiceNow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3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12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5">
            <a:alphaModFix amt="100000"/>
          </a:blip>
          <a:stretch/>
        </p:blipFill>
        <p:spPr>
          <a:xfrm>
            <a:off x="760661" y="3569940"/>
            <a:ext cx="11753402" cy="1471017"/>
          </a:xfrm>
          <a:prstGeom prst="rect">
            <a:avLst/>
          </a:prstGeom>
        </p:spPr>
      </p:pic>
      <p:pic>
        <p:nvPicPr>
          <p:cNvPr id="12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7">
            <a:alphaModFix amt="100000"/>
          </a:blip>
          <a:stretch/>
        </p:blipFill>
        <p:spPr>
          <a:xfrm>
            <a:off x="1065371" y="4129183"/>
            <a:ext cx="342900" cy="342900"/>
          </a:xfrm>
          <a:prstGeom prst="rect">
            <a:avLst/>
          </a:prstGeom>
        </p:spPr>
      </p:pic>
      <p:sp>
        <p:nvSpPr>
          <p:cNvPr id="1235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5569" y="4165568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123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3874675"/>
            <a:ext cx="1052988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Unified, cross-platform observability</a:t>
            </a:r>
          </a:p>
        </p:txBody>
      </p:sp>
      <p:sp>
        <p:nvSpPr>
          <p:cNvPr id="123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4369880"/>
            <a:ext cx="105298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Single view across PowerApps, Azure, GCP, and legacy systems</a:t>
            </a:r>
          </a:p>
        </p:txBody>
      </p:sp>
      <p:pic>
        <p:nvPicPr>
          <p:cNvPr id="12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9">
            <a:alphaModFix amt="100000"/>
          </a:blip>
          <a:stretch/>
        </p:blipFill>
        <p:spPr>
          <a:xfrm>
            <a:off x="760666" y="5183600"/>
            <a:ext cx="11753402" cy="1471017"/>
          </a:xfrm>
          <a:prstGeom prst="rect">
            <a:avLst/>
          </a:prstGeom>
        </p:spPr>
      </p:pic>
      <p:pic>
        <p:nvPicPr>
          <p:cNvPr id="12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1">
            <a:alphaModFix amt="100000"/>
          </a:blip>
          <a:stretch/>
        </p:blipFill>
        <p:spPr>
          <a:xfrm>
            <a:off x="1065371" y="5742813"/>
            <a:ext cx="342900" cy="342900"/>
          </a:xfrm>
          <a:prstGeom prst="rect">
            <a:avLst/>
          </a:prstGeom>
        </p:spPr>
      </p:pic>
      <p:sp>
        <p:nvSpPr>
          <p:cNvPr id="1245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6712" y="5779198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124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5488305"/>
            <a:ext cx="1052988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Faster incident detection and recovery</a:t>
            </a:r>
          </a:p>
        </p:txBody>
      </p:sp>
      <p:sp>
        <p:nvSpPr>
          <p:cNvPr id="124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5983510"/>
            <a:ext cx="105298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Improved MTTR with end-to-end traceability</a:t>
            </a:r>
          </a:p>
        </p:txBody>
      </p:sp>
      <p:pic>
        <p:nvPicPr>
          <p:cNvPr id="12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3">
            <a:alphaModFix amt="100000"/>
          </a:blip>
          <a:stretch/>
        </p:blipFill>
        <p:spPr>
          <a:xfrm>
            <a:off x="760666" y="6797230"/>
            <a:ext cx="11753402" cy="1471017"/>
          </a:xfrm>
          <a:prstGeom prst="rect">
            <a:avLst/>
          </a:prstGeom>
        </p:spPr>
      </p:pic>
      <p:pic>
        <p:nvPicPr>
          <p:cNvPr id="12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5">
            <a:alphaModFix amt="100000"/>
          </a:blip>
          <a:stretch/>
        </p:blipFill>
        <p:spPr>
          <a:xfrm>
            <a:off x="1065371" y="7356443"/>
            <a:ext cx="342900" cy="342900"/>
          </a:xfrm>
          <a:prstGeom prst="rect">
            <a:avLst/>
          </a:prstGeom>
        </p:spPr>
      </p:pic>
      <p:sp>
        <p:nvSpPr>
          <p:cNvPr id="1255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2807" y="7392829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125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7101935"/>
            <a:ext cx="1052988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Stronger compliance and audit readiness</a:t>
            </a:r>
          </a:p>
        </p:txBody>
      </p:sp>
      <p:sp>
        <p:nvSpPr>
          <p:cNvPr id="125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2976" y="7597140"/>
            <a:ext cx="105298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SRE and compliance controls for lending</a:t>
            </a:r>
          </a:p>
        </p:txBody>
      </p:sp>
      <p:pic>
        <p:nvPicPr>
          <p:cNvPr id="126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8">
            <a:alphaModFix amt="100000"/>
            <a:extLst>
              <a:ext uri="{BA1A7B47-60F0-414D-A731-FBDF5B341483}">
                <asvg:svgBlip xmlns:r="http://schemas.openxmlformats.org/officeDocument/2006/relationships" xmlns:asvg="http://schemas.microsoft.com/office/drawing/2016/SVG/main" r:embed="rId59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916590" y="3659219"/>
            <a:ext cx="274320" cy="274320"/>
          </a:xfrm>
          <a:prstGeom prst="rect">
            <a:avLst/>
          </a:prstGeom>
        </p:spPr>
      </p:pic>
      <p:sp>
        <p:nvSpPr>
          <p:cNvPr id="126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3198400"/>
            <a:ext cx="38242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Confirm scope and prioritization of app onboarding</a:t>
            </a:r>
          </a:p>
        </p:txBody>
      </p:sp>
      <p:sp>
        <p:nvSpPr>
          <p:cNvPr id="126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3723894"/>
            <a:ext cx="38242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which apps enter pilot and priority order</a:t>
            </a:r>
          </a:p>
        </p:txBody>
      </p:sp>
      <p:pic>
        <p:nvPicPr>
          <p:cNvPr id="1267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1">
            <a:alphaModFix amt="100000"/>
            <a:extLst>
              <a:ext uri="{7115FDF2-B494-421E-921A-1DC3AD13EFAB}">
                <asvg:svgBlip xmlns:r="http://schemas.openxmlformats.org/officeDocument/2006/relationships" xmlns:asvg="http://schemas.microsoft.com/office/drawing/2016/SVG/main" r:embed="rId60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916590" y="5083778"/>
            <a:ext cx="274320" cy="274320"/>
          </a:xfrm>
          <a:prstGeom prst="rect">
            <a:avLst/>
          </a:prstGeom>
        </p:spPr>
      </p:pic>
      <p:sp>
        <p:nvSpPr>
          <p:cNvPr id="126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4622959"/>
            <a:ext cx="38242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Align stakeholders: App teams, SRE, Security, Compliance</a:t>
            </a:r>
          </a:p>
        </p:txBody>
      </p:sp>
      <p:sp>
        <p:nvSpPr>
          <p:cNvPr id="127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5148453"/>
            <a:ext cx="38242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Secure owners and decision makers for pilot</a:t>
            </a:r>
          </a:p>
        </p:txBody>
      </p:sp>
      <p:pic>
        <p:nvPicPr>
          <p:cNvPr id="127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4">
            <a:alphaModFix amt="100000"/>
            <a:extLst>
              <a:ext uri="{D95D30E1-8D00-4C8B-B791-F890EAB0BAE2}">
                <asvg:svgBlip xmlns:r="http://schemas.openxmlformats.org/officeDocument/2006/relationships" xmlns:asvg="http://schemas.microsoft.com/office/drawing/2016/SVG/main" r:embed="rId60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916590" y="6508337"/>
            <a:ext cx="274320" cy="274320"/>
          </a:xfrm>
          <a:prstGeom prst="rect">
            <a:avLst/>
          </a:prstGeom>
        </p:spPr>
      </p:pic>
      <p:sp>
        <p:nvSpPr>
          <p:cNvPr id="127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6047518"/>
            <a:ext cx="38242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Start pilot: one end-to-end lending flow (example)</a:t>
            </a:r>
          </a:p>
        </p:txBody>
      </p:sp>
      <p:sp>
        <p:nvSpPr>
          <p:cNvPr id="127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6573012"/>
            <a:ext cx="38242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Pilot kickoff to validate schema and SLOs</a:t>
            </a:r>
          </a:p>
        </p:txBody>
      </p:sp>
      <p:pic>
        <p:nvPicPr>
          <p:cNvPr id="1279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7">
            <a:alphaModFix amt="100000"/>
            <a:extLst>
              <a:ext uri="{2958F8AC-FD2E-4DE6-BE44-21204DB557AB}">
                <asvg:svgBlip xmlns:r="http://schemas.openxmlformats.org/officeDocument/2006/relationships" xmlns:asvg="http://schemas.microsoft.com/office/drawing/2016/SVG/main" r:embed="rId60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916590" y="7932896"/>
            <a:ext cx="274320" cy="274320"/>
          </a:xfrm>
          <a:prstGeom prst="rect">
            <a:avLst/>
          </a:prstGeom>
        </p:spPr>
      </p:pic>
      <p:sp>
        <p:nvSpPr>
          <p:cNvPr id="128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7472077"/>
            <a:ext cx="382428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Call to action: approve pilot, nominate owners, schedule kickoff workshop</a:t>
            </a:r>
          </a:p>
        </p:txBody>
      </p:sp>
      <p:sp>
        <p:nvSpPr>
          <p:cNvPr id="128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7997571"/>
            <a:ext cx="38242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Workshop to define schema, SLOs, and onboarding priority</a:t>
            </a:r>
          </a:p>
        </p:txBody>
      </p:sp>
      <p:sp>
        <p:nvSpPr>
          <p:cNvPr id="128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Closing: Unified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Observability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Target-State</a:t>
            </a:r>
          </a:p>
        </p:txBody>
      </p:sp>
      <p:sp>
        <p:nvSpPr>
          <p:cNvPr id="128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Benefits, immediate next steps, and pilot 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25065891, orderId: 10076738</dc:title>
  <dc:creator>Presentations.AI Exporter</dc:creator>
  <lastModifiedBy>Presentations.AI Exporter</lastModifiedBy>
  <revision>1</revision>
  <dcterms:created xsi:type="dcterms:W3CDTF">2025-12-11T00:49:36.0000000Z</dcterms:created>
  <dcterms:modified xsi:type="dcterms:W3CDTF">2025-12-11T00:49:36.0000000Z</dcterms:modified>
</coreProperties>
</file>