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dat" ContentType="application/x-fontdata"/>
  <Default Extension="bin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media/image3.bin" ContentType="image/jpeg"/>
  <Override PartName="/ppt/slides/slide2.xml" ContentType="application/vnd.openxmlformats-officedocument.presentationml.slide+xml"/>
  <Override PartName="/ppt/media/image10.bin" ContentType="image/jpeg"/>
  <Override PartName="/ppt/media/image12.bin" ContentType="image/jpeg"/>
  <Override PartName="/ppt/media/image14.bin" ContentType="image/jpeg"/>
  <Override PartName="/ppt/media/image16.bin" ContentType="image/jpeg"/>
  <Override PartName="/ppt/media/image18.bin" ContentType="image/jpeg"/>
  <Override PartName="/ppt/slides/slide3.xml" ContentType="application/vnd.openxmlformats-officedocument.presentationml.slide+xml"/>
  <Override PartName="/ppt/media/image23.bin" ContentType="image/svg+xml"/>
  <Override PartName="/ppt/slides/slide4.xml" ContentType="application/vnd.openxmlformats-officedocument.presentationml.slide+xml"/>
  <Override PartName="/ppt/media/image33.bin" ContentType="image/svg+xml"/>
  <Override PartName="/ppt/media/image41.bin" ContentType="image/svg+xml"/>
  <Override PartName="/ppt/media/image49.bin" ContentType="image/svg+xml"/>
  <Override PartName="/ppt/media/image57.bin" ContentType="image/svg+xml"/>
  <Override PartName="/ppt/media/image65.bin" ContentType="image/svg+xml"/>
  <Override PartName="/ppt/slides/slide5.xml" ContentType="application/vnd.openxmlformats-officedocument.presentationml.slide+xml"/>
  <Override PartName="/ppt/media/image71.bin" ContentType="image/svg+xml"/>
  <Override PartName="/ppt/media/image74.bin" ContentType="image/svg+xml"/>
  <Override PartName="/ppt/media/image77.bin" ContentType="image/svg+xml"/>
  <Override PartName="/ppt/media/image80.bin" ContentType="image/svg+xml"/>
  <Override PartName="/ppt/media/image83.bin" ContentType="image/svg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embedTrueTypeFonts="1" saveSubsetFonts="0">
  <p:sldMasterIdLst>
    <p:sldMasterId id="2147483672" r:id="rId1"/>
  </p:sldMasterIdLst>
  <p:sldIdLst>
    <p:sldId id="301" r:id="rId9"/>
    <p:sldId id="321" r:id="rId23"/>
    <p:sldId id="377" r:id="rId53"/>
    <p:sldId id="394" r:id="rId62"/>
    <p:sldId id="532" r:id="rId143"/>
    <p:sldId id="582" r:id="rId176"/>
  </p:sldIdLst>
  <p:sldSz cx="18288000" cy="10287000"/>
  <p:notesSz cx="18288000" cy="10287000"/>
  <p:embeddedFontLst>
    <p:embeddedFont>
      <p:font typeface="Lexend Medium" pitchFamily="2" charset="77"/>
      <p:regular r:id="rId6"/>
    </p:embeddedFont>
    <p:embeddedFont>
      <p:font typeface="Inter" pitchFamily="2" charset="77"/>
      <p:regular r:id="rId7"/>
    </p:embeddedFont>
    <p:embeddedFont>
      <p:font typeface="Lexend" pitchFamily="2" charset="77"/>
      <p:bold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viewProps" Target="viewProps.xml" Id="rId3" /><Relationship Type="http://schemas.openxmlformats.org/officeDocument/2006/relationships/presProps" Target="presProps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5" /><Relationship Type="http://schemas.openxmlformats.org/officeDocument/2006/relationships/theme" Target="theme/theme1.xml" Id="rId4" /><Relationship Type="http://schemas.openxmlformats.org/officeDocument/2006/relationships/font" Target="/ppt/fonts/font.dat" Id="rId6" /><Relationship Type="http://schemas.openxmlformats.org/officeDocument/2006/relationships/font" Target="/ppt/fonts/font2.dat" Id="rId7" /><Relationship Type="http://schemas.openxmlformats.org/officeDocument/2006/relationships/font" Target="/ppt/fonts/font3.dat" Id="rId8" /><Relationship Type="http://schemas.openxmlformats.org/officeDocument/2006/relationships/slide" Target="/ppt/slides/slide1.xml" Id="rId9" /><Relationship Type="http://schemas.openxmlformats.org/officeDocument/2006/relationships/slide" Target="/ppt/slides/slide2.xml" Id="rId23" /><Relationship Type="http://schemas.openxmlformats.org/officeDocument/2006/relationships/slide" Target="/ppt/slides/slide3.xml" Id="rId53" /><Relationship Type="http://schemas.openxmlformats.org/officeDocument/2006/relationships/slide" Target="/ppt/slides/slide4.xml" Id="rId62" /><Relationship Type="http://schemas.openxmlformats.org/officeDocument/2006/relationships/slide" Target="/ppt/slides/slide5.xml" Id="rId143" /><Relationship Type="http://schemas.openxmlformats.org/officeDocument/2006/relationships/slide" Target="/ppt/slides/slide6.xml" Id="rId176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757450"/>
      </p:ext>
    </p:extLst>
  </p:cSld>
  <p:clrMapOvr>
    <a:masterClrMapping/>
  </p:clrMapOvr>
</p:sldLayout>
</file>

<file path=ppt/slideLayouts/slideLayout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595789"/>
      </p:ext>
    </p:extLst>
  </p:cSld>
  <p:clrMapOvr>
    <a:masterClrMapping/>
  </p:clrMapOvr>
</p:sldLayout>
</file>

<file path=ppt/slideLayouts/slideLayout3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559282"/>
      </p:ext>
    </p:extLst>
  </p:cSld>
  <p:clrMapOvr>
    <a:masterClrMapping/>
  </p:clrMapOvr>
</p:sldLayout>
</file>

<file path=ppt/slideLayouts/slideLayout4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65825"/>
      </p:ext>
    </p:extLst>
  </p:cSld>
  <p:clrMapOvr>
    <a:masterClrMapping/>
  </p:clrMapOvr>
</p:sldLayout>
</file>

<file path=ppt/slideLayouts/slideLayout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391113"/>
      </p:ext>
    </p:extLst>
  </p:cSld>
  <p:clrMapOvr>
    <a:masterClrMapping/>
  </p:clrMapOvr>
</p:sldLayout>
</file>

<file path=ppt/slideLayouts/slideLayout6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817637"/>
      </p:ext>
    </p:extLst>
  </p:cSld>
  <p:clrMapOvr>
    <a:masterClrMapping/>
  </p:clrMapOvr>
</p:sldLayout>
</file>

<file path=ppt/slideLayouts/slideLayout7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754893"/>
      </p:ext>
    </p:extLst>
  </p:cSld>
  <p:clrMapOvr>
    <a:masterClrMapping/>
  </p:clrMapOvr>
</p:sldLayout>
</file>

<file path=ppt/slideLayouts/slideLayout8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941404"/>
      </p:ext>
    </p:extLst>
  </p:cSld>
  <p:clrMapOvr>
    <a:masterClrMapping/>
  </p:clrMapOvr>
</p:sldLayout>
</file>

<file path=ppt/slideLayouts/slideLayout9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80297"/>
      </p:ext>
    </p:extLst>
  </p:cSld>
  <p:clrMapOvr>
    <a:masterClrMapping/>
  </p:clrMapOvr>
</p:sldLayout>
</file>

<file path=ppt/slideLayouts/slideLayout10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150442"/>
      </p:ext>
    </p:extLst>
  </p:cSld>
  <p:clrMapOvr>
    <a:masterClrMapping/>
  </p:clrMapOvr>
</p:sldLayout>
</file>

<file path=ppt/slideLayouts/slideLayout1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084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0" /><Relationship Type="http://schemas.openxmlformats.org/officeDocument/2006/relationships/image" Target="/ppt/media/image.bin" Id="rId12" /><Relationship Type="http://schemas.openxmlformats.org/officeDocument/2006/relationships/image" Target="/ppt/media/image2.bin" Id="rId14" /><Relationship Type="http://schemas.openxmlformats.org/officeDocument/2006/relationships/image" Target="/ppt/media/image3.bin" Id="rId16" /><Relationship Type="http://schemas.openxmlformats.org/officeDocument/2006/relationships/image" Target="/ppt/media/image4.bin" Id="rId18" /><Relationship Type="http://schemas.openxmlformats.org/officeDocument/2006/relationships/image" Target="/ppt/media/image5.bin" Id="rId20" /><Relationship Type="http://schemas.openxmlformats.org/officeDocument/2006/relationships/image" Target="/ppt/media/image6.bin" Id="rId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24" /><Relationship Type="http://schemas.openxmlformats.org/officeDocument/2006/relationships/image" Target="/ppt/media/image7.bin" Id="rId26" /><Relationship Type="http://schemas.openxmlformats.org/officeDocument/2006/relationships/image" Target="/ppt/media/image8.bin" Id="rId28" /><Relationship Type="http://schemas.openxmlformats.org/officeDocument/2006/relationships/image" Target="/ppt/media/image9.bin" Id="rId30" /><Relationship Type="http://schemas.openxmlformats.org/officeDocument/2006/relationships/image" Target="/ppt/media/image10.bin" Id="rId32" /><Relationship Type="http://schemas.openxmlformats.org/officeDocument/2006/relationships/image" Target="/ppt/media/image11.bin" Id="rId34" /><Relationship Type="http://schemas.openxmlformats.org/officeDocument/2006/relationships/image" Target="/ppt/media/image12.bin" Id="rId36" /><Relationship Type="http://schemas.openxmlformats.org/officeDocument/2006/relationships/image" Target="/ppt/media/image13.bin" Id="rId38" /><Relationship Type="http://schemas.openxmlformats.org/officeDocument/2006/relationships/image" Target="/ppt/media/image14.bin" Id="rId40" /><Relationship Type="http://schemas.openxmlformats.org/officeDocument/2006/relationships/image" Target="/ppt/media/image15.bin" Id="rId42" /><Relationship Type="http://schemas.openxmlformats.org/officeDocument/2006/relationships/image" Target="/ppt/media/image16.bin" Id="rId44" /><Relationship Type="http://schemas.openxmlformats.org/officeDocument/2006/relationships/image" Target="/ppt/media/image17.bin" Id="rId46" /><Relationship Type="http://schemas.openxmlformats.org/officeDocument/2006/relationships/image" Target="/ppt/media/image18.bin" Id="rId48" /><Relationship Type="http://schemas.openxmlformats.org/officeDocument/2006/relationships/image" Target="/ppt/media/image19.bin" Id="rId50" /><Relationship Type="http://schemas.openxmlformats.org/officeDocument/2006/relationships/image" Target="/ppt/media/image20.bin" Id="rId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54" /><Relationship Type="http://schemas.openxmlformats.org/officeDocument/2006/relationships/image" Target="/ppt/media/image21.bin" Id="rId56" /><Relationship Type="http://schemas.openxmlformats.org/officeDocument/2006/relationships/image" Target="/ppt/media/image22.bin" Id="rId58" /><Relationship Type="http://schemas.openxmlformats.org/officeDocument/2006/relationships/image" Target="/ppt/media/image23.bin" Id="rId60" /><Relationship Type="http://schemas.openxmlformats.org/officeDocument/2006/relationships/image" Target="/ppt/media/image24.bin" Id="rId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63" /><Relationship Type="http://schemas.openxmlformats.org/officeDocument/2006/relationships/image" Target="/ppt/media/image25.bin" Id="rId65" /><Relationship Type="http://schemas.openxmlformats.org/officeDocument/2006/relationships/image" Target="/ppt/media/image26.bin" Id="rId67" /><Relationship Type="http://schemas.openxmlformats.org/officeDocument/2006/relationships/image" Target="/ppt/media/image27.bin" Id="rId69" /><Relationship Type="http://schemas.openxmlformats.org/officeDocument/2006/relationships/image" Target="/ppt/media/image28.bin" Id="rId71" /><Relationship Type="http://schemas.openxmlformats.org/officeDocument/2006/relationships/image" Target="/ppt/media/image29.bin" Id="rId73" /><Relationship Type="http://schemas.openxmlformats.org/officeDocument/2006/relationships/image" Target="/ppt/media/image30.bin" Id="rId75" /><Relationship Type="http://schemas.openxmlformats.org/officeDocument/2006/relationships/image" Target="/ppt/media/image31.bin" Id="rId77" /><Relationship Type="http://schemas.openxmlformats.org/officeDocument/2006/relationships/image" Target="/ppt/media/image32.bin" Id="rId79" /><Relationship Type="http://schemas.openxmlformats.org/officeDocument/2006/relationships/image" Target="/ppt/media/image33.bin" Id="rId81" /><Relationship Type="http://schemas.openxmlformats.org/officeDocument/2006/relationships/image" Target="/ppt/media/image34.bin" Id="rId82" /><Relationship Type="http://schemas.openxmlformats.org/officeDocument/2006/relationships/image" Target="/ppt/media/image35.bin" Id="rId84" /><Relationship Type="http://schemas.openxmlformats.org/officeDocument/2006/relationships/image" Target="/ppt/media/image36.bin" Id="rId86" /><Relationship Type="http://schemas.openxmlformats.org/officeDocument/2006/relationships/image" Target="/ppt/media/image37.bin" Id="rId88" /><Relationship Type="http://schemas.openxmlformats.org/officeDocument/2006/relationships/image" Target="/ppt/media/image38.bin" Id="rId90" /><Relationship Type="http://schemas.openxmlformats.org/officeDocument/2006/relationships/image" Target="/ppt/media/image39.bin" Id="rId92" /><Relationship Type="http://schemas.openxmlformats.org/officeDocument/2006/relationships/image" Target="/ppt/media/image40.bin" Id="rId94" /><Relationship Type="http://schemas.openxmlformats.org/officeDocument/2006/relationships/image" Target="/ppt/media/image41.bin" Id="rId96" /><Relationship Type="http://schemas.openxmlformats.org/officeDocument/2006/relationships/image" Target="/ppt/media/image42.bin" Id="rId97" /><Relationship Type="http://schemas.openxmlformats.org/officeDocument/2006/relationships/image" Target="/ppt/media/image43.bin" Id="rId99" /><Relationship Type="http://schemas.openxmlformats.org/officeDocument/2006/relationships/image" Target="/ppt/media/image44.bin" Id="rId101" /><Relationship Type="http://schemas.openxmlformats.org/officeDocument/2006/relationships/image" Target="/ppt/media/image45.bin" Id="rId103" /><Relationship Type="http://schemas.openxmlformats.org/officeDocument/2006/relationships/image" Target="/ppt/media/image46.bin" Id="rId105" /><Relationship Type="http://schemas.openxmlformats.org/officeDocument/2006/relationships/image" Target="/ppt/media/image47.bin" Id="rId107" /><Relationship Type="http://schemas.openxmlformats.org/officeDocument/2006/relationships/image" Target="/ppt/media/image48.bin" Id="rId109" /><Relationship Type="http://schemas.openxmlformats.org/officeDocument/2006/relationships/image" Target="/ppt/media/image49.bin" Id="rId111" /><Relationship Type="http://schemas.openxmlformats.org/officeDocument/2006/relationships/image" Target="/ppt/media/image50.bin" Id="rId112" /><Relationship Type="http://schemas.openxmlformats.org/officeDocument/2006/relationships/image" Target="/ppt/media/image51.bin" Id="rId114" /><Relationship Type="http://schemas.openxmlformats.org/officeDocument/2006/relationships/image" Target="/ppt/media/image52.bin" Id="rId116" /><Relationship Type="http://schemas.openxmlformats.org/officeDocument/2006/relationships/image" Target="/ppt/media/image53.bin" Id="rId118" /><Relationship Type="http://schemas.openxmlformats.org/officeDocument/2006/relationships/image" Target="/ppt/media/image54.bin" Id="rId120" /><Relationship Type="http://schemas.openxmlformats.org/officeDocument/2006/relationships/image" Target="/ppt/media/image55.bin" Id="rId122" /><Relationship Type="http://schemas.openxmlformats.org/officeDocument/2006/relationships/image" Target="/ppt/media/image56.bin" Id="rId124" /><Relationship Type="http://schemas.openxmlformats.org/officeDocument/2006/relationships/image" Target="/ppt/media/image57.bin" Id="rId126" /><Relationship Type="http://schemas.openxmlformats.org/officeDocument/2006/relationships/image" Target="/ppt/media/image58.bin" Id="rId127" /><Relationship Type="http://schemas.openxmlformats.org/officeDocument/2006/relationships/image" Target="/ppt/media/image59.bin" Id="rId129" /><Relationship Type="http://schemas.openxmlformats.org/officeDocument/2006/relationships/image" Target="/ppt/media/image60.bin" Id="rId131" /><Relationship Type="http://schemas.openxmlformats.org/officeDocument/2006/relationships/image" Target="/ppt/media/image61.bin" Id="rId133" /><Relationship Type="http://schemas.openxmlformats.org/officeDocument/2006/relationships/image" Target="/ppt/media/image62.bin" Id="rId135" /><Relationship Type="http://schemas.openxmlformats.org/officeDocument/2006/relationships/image" Target="/ppt/media/image63.bin" Id="rId137" /><Relationship Type="http://schemas.openxmlformats.org/officeDocument/2006/relationships/image" Target="/ppt/media/image64.bin" Id="rId139" /><Relationship Type="http://schemas.openxmlformats.org/officeDocument/2006/relationships/image" Target="/ppt/media/image65.bin" Id="rId141" /><Relationship Type="http://schemas.openxmlformats.org/officeDocument/2006/relationships/image" Target="/ppt/media/image66.bin" Id="rId1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44" /><Relationship Type="http://schemas.openxmlformats.org/officeDocument/2006/relationships/image" Target="/ppt/media/image67.bin" Id="rId146" /><Relationship Type="http://schemas.openxmlformats.org/officeDocument/2006/relationships/image" Target="/ppt/media/image68.bin" Id="rId148" /><Relationship Type="http://schemas.openxmlformats.org/officeDocument/2006/relationships/image" Target="/ppt/media/image69.bin" Id="rId150" /><Relationship Type="http://schemas.openxmlformats.org/officeDocument/2006/relationships/image" Target="/ppt/media/image70.bin" Id="rId152" /><Relationship Type="http://schemas.openxmlformats.org/officeDocument/2006/relationships/image" Target="/ppt/media/image71.bin" Id="rId154" /><Relationship Type="http://schemas.openxmlformats.org/officeDocument/2006/relationships/image" Target="/ppt/media/image72.bin" Id="rId155" /><Relationship Type="http://schemas.openxmlformats.org/officeDocument/2006/relationships/image" Target="/ppt/media/image73.bin" Id="rId157" /><Relationship Type="http://schemas.openxmlformats.org/officeDocument/2006/relationships/image" Target="/ppt/media/image74.bin" Id="rId159" /><Relationship Type="http://schemas.openxmlformats.org/officeDocument/2006/relationships/image" Target="/ppt/media/image75.bin" Id="rId160" /><Relationship Type="http://schemas.openxmlformats.org/officeDocument/2006/relationships/image" Target="/ppt/media/image76.bin" Id="rId162" /><Relationship Type="http://schemas.openxmlformats.org/officeDocument/2006/relationships/image" Target="/ppt/media/image77.bin" Id="rId164" /><Relationship Type="http://schemas.openxmlformats.org/officeDocument/2006/relationships/image" Target="/ppt/media/image78.bin" Id="rId165" /><Relationship Type="http://schemas.openxmlformats.org/officeDocument/2006/relationships/image" Target="/ppt/media/image79.bin" Id="rId167" /><Relationship Type="http://schemas.openxmlformats.org/officeDocument/2006/relationships/image" Target="/ppt/media/image80.bin" Id="rId169" /><Relationship Type="http://schemas.openxmlformats.org/officeDocument/2006/relationships/image" Target="/ppt/media/image81.bin" Id="rId170" /><Relationship Type="http://schemas.openxmlformats.org/officeDocument/2006/relationships/image" Target="/ppt/media/image82.bin" Id="rId172" /><Relationship Type="http://schemas.openxmlformats.org/officeDocument/2006/relationships/image" Target="/ppt/media/image83.bin" Id="rId174" /><Relationship Type="http://schemas.openxmlformats.org/officeDocument/2006/relationships/image" Target="/ppt/media/image84.bin" Id="rId1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77" /><Relationship Type="http://schemas.openxmlformats.org/officeDocument/2006/relationships/image" Target="/ppt/media/image85.bin" Id="rId179" /><Relationship Type="http://schemas.openxmlformats.org/officeDocument/2006/relationships/image" Target="/ppt/media/image86.bin" Id="rId181" /><Relationship Type="http://schemas.openxmlformats.org/officeDocument/2006/relationships/image" Target="/ppt/media/image87.bin" Id="rId183" /><Relationship Type="http://schemas.openxmlformats.org/officeDocument/2006/relationships/image" Target="/ppt/media/image88.bin" Id="rId185" /><Relationship Type="http://schemas.openxmlformats.org/officeDocument/2006/relationships/image" Target="/ppt/media/image89.bin" Id="rId187" /><Relationship Type="http://schemas.openxmlformats.org/officeDocument/2006/relationships/image" Target="/ppt/media/image90.bin" Id="rId189" /><Relationship Type="http://schemas.openxmlformats.org/officeDocument/2006/relationships/image" Target="/ppt/media/image91.bin" Id="rId191" /><Relationship Type="http://schemas.openxmlformats.org/officeDocument/2006/relationships/image" Target="/ppt/media/image92.bin" Id="rId193" /><Relationship Type="http://schemas.openxmlformats.org/officeDocument/2006/relationships/image" Target="/ppt/media/image93.bin" Id="rId195" /><Relationship Type="http://schemas.openxmlformats.org/officeDocument/2006/relationships/image" Target="/ppt/media/image94.bin" Id="rId197" /><Relationship Type="http://schemas.openxmlformats.org/officeDocument/2006/relationships/image" Target="/ppt/media/image95.bin" Id="rId199" /><Relationship Type="http://schemas.openxmlformats.org/officeDocument/2006/relationships/image" Target="/ppt/media/image96.bin" Id="rId201" /><Relationship Type="http://schemas.openxmlformats.org/officeDocument/2006/relationships/image" Target="/ppt/media/image97.bin" Id="rId203" /><Relationship Type="http://schemas.openxmlformats.org/officeDocument/2006/relationships/image" Target="/ppt/media/image98.bin" Id="rId205" /><Relationship Type="http://schemas.openxmlformats.org/officeDocument/2006/relationships/image" Target="/ppt/media/image99.bin" Id="rId207" /><Relationship Type="http://schemas.openxmlformats.org/officeDocument/2006/relationships/image" Target="/ppt/media/image100.bin" Id="rId209" /></Relationships>
</file>

<file path=ppt/slides/slide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0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alphaModFix amt="100000"/>
          </a:blip>
          <a:stretch/>
        </p:blipFill>
        <p:spPr>
          <a:xfrm>
            <a:off x="3315593" y="0"/>
            <a:ext cx="14972405" cy="10287000"/>
          </a:xfrm>
          <a:prstGeom prst="rect">
            <a:avLst/>
          </a:prstGeom>
        </p:spPr>
      </p:pic>
      <p:pic>
        <p:nvPicPr>
          <p:cNvPr id="304" name="coverimag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6">
            <a:alphaModFix amt="100000"/>
          </a:blip>
          <a:stretch/>
        </p:blipFill>
        <p:spPr>
          <a:xfrm>
            <a:off x="761905" y="761905"/>
            <a:ext cx="16764000" cy="8763000"/>
          </a:xfrm>
          <a:prstGeom prst="rect">
            <a:avLst/>
          </a:prstGeom>
        </p:spPr>
      </p:pic>
      <p:pic>
        <p:nvPicPr>
          <p:cNvPr id="30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alphaModFix amt="60000"/>
          </a:blip>
          <a:stretch/>
        </p:blipFill>
        <p:spPr>
          <a:xfrm>
            <a:off x="761905" y="761905"/>
            <a:ext cx="16764000" cy="8763000"/>
          </a:xfrm>
          <a:prstGeom prst="rect">
            <a:avLst/>
          </a:prstGeom>
        </p:spPr>
      </p:pic>
      <p:sp>
        <p:nvSpPr>
          <p:cNvPr id="308" name="Presenter Name-40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23905" y="7432358"/>
            <a:ext cx="152733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FFFFFF">
                    <a:alpha val="100000"/>
                  </a:srgbClr>
                </a:solidFill>
                <a:latin typeface="Lexend Medium" panose="00000700000000000000" pitchFamily="2" charset="0"/>
              </a:rPr>
              <a:t>Skandan </a:t>
            </a:r>
          </a:p>
        </p:txBody>
      </p:sp>
      <p:sp>
        <p:nvSpPr>
          <p:cNvPr id="310" name="Presenter Designation-48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23905" y="7752398"/>
            <a:ext cx="15273338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AI/ML Engineer</a:t>
            </a:r>
          </a:p>
        </p:txBody>
      </p:sp>
      <p:pic>
        <p:nvPicPr>
          <p:cNvPr id="312" name="sgPresentorImageNod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20">
            <a:alphaModFix amt="100000"/>
          </a:blip>
          <a:stretch/>
        </p:blipFill>
        <p:spPr>
          <a:xfrm>
            <a:off x="1523905" y="6365748"/>
            <a:ext cx="876300" cy="876300"/>
          </a:xfrm>
          <a:prstGeom prst="rect">
            <a:avLst/>
          </a:prstGeom>
        </p:spPr>
      </p:pic>
      <p:pic>
        <p:nvPicPr>
          <p:cNvPr id="31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">
            <a:alphaModFix amt="100000"/>
          </a:blip>
          <a:stretch/>
        </p:blipFill>
        <p:spPr>
          <a:xfrm>
            <a:off x="2137315" y="6979158"/>
            <a:ext cx="266700" cy="266700"/>
          </a:xfrm>
          <a:prstGeom prst="rect">
            <a:avLst/>
          </a:prstGeom>
        </p:spPr>
      </p:pic>
      <p:sp>
        <p:nvSpPr>
          <p:cNvPr id="316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23905" y="2915602"/>
            <a:ext cx="12225338" cy="16764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dirty="0">
                <a:solidFill>
                  <a:srgbClr val="FFFFFF">
                    <a:alpha val="100000"/>
                  </a:srgbClr>
                </a:solidFill>
                <a:latin typeface="Lexend Medium" panose="00000700000000000000" pitchFamily="2" charset="0"/>
              </a:rPr>
              <a:t>Secure, Unified Logging and Monitoring for Offsite Environments</a:t>
            </a:r>
          </a:p>
        </p:txBody>
      </p:sp>
      <p:sp>
        <p:nvSpPr>
          <p:cNvPr id="318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23905" y="4692872"/>
            <a:ext cx="12225338" cy="12287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Enterprise strategy for Wholesale Credit and Lending</a:t>
            </a:r>
            <a:r>
              <a:rPr lang="en-US" sz="2100" spc="-4" dirty="0">
                <a:solidFill>
                  <a:srgbClr val="FFFFFF"/>
                </a:solidFill>
                <a:latin typeface="Inter" panose="00000700000000000000" pitchFamily="2" charset="0"/>
              </a:rPr>
              <a:t>Centralized visibility, early anomaly detection, auditability, and cross-environment standards for DCP, GCP, and legacy on-prem.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2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alphaModFix amt="100000"/>
          </a:blip>
          <a:stretch/>
        </p:blipFill>
        <p:spPr>
          <a:xfrm>
            <a:off x="16611410" y="0"/>
            <a:ext cx="1647825" cy="2181225"/>
          </a:xfrm>
          <a:prstGeom prst="rect">
            <a:avLst/>
          </a:prstGeom>
        </p:spPr>
      </p:pic>
      <p:pic>
        <p:nvPicPr>
          <p:cNvPr id="32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0">
            <a:alphaModFix amt="100000"/>
          </a:blip>
          <a:stretch/>
        </p:blipFill>
        <p:spPr>
          <a:xfrm>
            <a:off x="760661" y="3418136"/>
            <a:ext cx="295275" cy="295275"/>
          </a:xfrm>
          <a:prstGeom prst="rect">
            <a:avLst/>
          </a:prstGeom>
        </p:spPr>
      </p:pic>
      <p:pic>
        <p:nvPicPr>
          <p:cNvPr id="326" name="image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2">
            <a:alphaModFix amt="100000"/>
          </a:blip>
          <a:stretch/>
        </p:blipFill>
        <p:spPr>
          <a:xfrm>
            <a:off x="760666" y="3418237"/>
            <a:ext cx="1466850" cy="1466850"/>
          </a:xfrm>
          <a:prstGeom prst="rect">
            <a:avLst/>
          </a:prstGeom>
        </p:spPr>
      </p:pic>
      <p:sp>
        <p:nvSpPr>
          <p:cNvPr id="328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406491" y="3989737"/>
            <a:ext cx="37671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Centralized visibility</a:t>
            </a:r>
          </a:p>
        </p:txBody>
      </p:sp>
      <p:sp>
        <p:nvSpPr>
          <p:cNvPr id="330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4995482"/>
            <a:ext cx="5405438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Reduces mean time to detect across distributed stacks; assign owners and map flows</a:t>
            </a:r>
          </a:p>
        </p:txBody>
      </p:sp>
      <p:pic>
        <p:nvPicPr>
          <p:cNvPr id="33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4">
            <a:alphaModFix amt="100000"/>
          </a:blip>
          <a:stretch/>
        </p:blipFill>
        <p:spPr>
          <a:xfrm>
            <a:off x="6440388" y="3418136"/>
            <a:ext cx="295275" cy="295275"/>
          </a:xfrm>
          <a:prstGeom prst="rect">
            <a:avLst/>
          </a:prstGeom>
        </p:spPr>
      </p:pic>
      <p:pic>
        <p:nvPicPr>
          <p:cNvPr id="334" name="image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6">
            <a:alphaModFix amt="100000"/>
          </a:blip>
          <a:stretch/>
        </p:blipFill>
        <p:spPr>
          <a:xfrm>
            <a:off x="6440424" y="3418237"/>
            <a:ext cx="1466850" cy="1466850"/>
          </a:xfrm>
          <a:prstGeom prst="rect">
            <a:avLst/>
          </a:prstGeom>
        </p:spPr>
      </p:pic>
      <p:sp>
        <p:nvSpPr>
          <p:cNvPr id="336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086249" y="3989737"/>
            <a:ext cx="37671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Early anomaly detection</a:t>
            </a:r>
          </a:p>
        </p:txBody>
      </p:sp>
      <p:sp>
        <p:nvSpPr>
          <p:cNvPr id="338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440424" y="4995482"/>
            <a:ext cx="5405438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Enables faster containment and fewer loan-processing errors; align alerting and tooling</a:t>
            </a:r>
          </a:p>
        </p:txBody>
      </p:sp>
      <p:pic>
        <p:nvPicPr>
          <p:cNvPr id="34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8">
            <a:alphaModFix amt="100000"/>
          </a:blip>
          <a:stretch/>
        </p:blipFill>
        <p:spPr>
          <a:xfrm>
            <a:off x="12119972" y="3418136"/>
            <a:ext cx="295275" cy="295275"/>
          </a:xfrm>
          <a:prstGeom prst="rect">
            <a:avLst/>
          </a:prstGeom>
        </p:spPr>
      </p:pic>
      <p:pic>
        <p:nvPicPr>
          <p:cNvPr id="342" name="image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0">
            <a:alphaModFix amt="100000"/>
          </a:blip>
          <a:stretch/>
        </p:blipFill>
        <p:spPr>
          <a:xfrm>
            <a:off x="12120086" y="3418237"/>
            <a:ext cx="1466850" cy="1466850"/>
          </a:xfrm>
          <a:prstGeom prst="rect">
            <a:avLst/>
          </a:prstGeom>
        </p:spPr>
      </p:pic>
      <p:sp>
        <p:nvSpPr>
          <p:cNvPr id="344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765911" y="3989737"/>
            <a:ext cx="37671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Risk and audit compliance</a:t>
            </a:r>
          </a:p>
        </p:txBody>
      </p:sp>
      <p:sp>
        <p:nvSpPr>
          <p:cNvPr id="346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120086" y="4995482"/>
            <a:ext cx="5405438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Ensures traceability for credit decisions and regulatory checks; define retention and encryption policies</a:t>
            </a:r>
          </a:p>
        </p:txBody>
      </p:sp>
      <p:pic>
        <p:nvPicPr>
          <p:cNvPr id="34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2">
            <a:alphaModFix amt="100000"/>
          </a:blip>
          <a:stretch/>
        </p:blipFill>
        <p:spPr>
          <a:xfrm>
            <a:off x="760661" y="6370737"/>
            <a:ext cx="295275" cy="295275"/>
          </a:xfrm>
          <a:prstGeom prst="rect">
            <a:avLst/>
          </a:prstGeom>
        </p:spPr>
      </p:pic>
      <p:pic>
        <p:nvPicPr>
          <p:cNvPr id="350" name="image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4">
            <a:alphaModFix amt="100000"/>
          </a:blip>
          <a:stretch/>
        </p:blipFill>
        <p:spPr>
          <a:xfrm>
            <a:off x="760666" y="6370796"/>
            <a:ext cx="1466850" cy="1466850"/>
          </a:xfrm>
          <a:prstGeom prst="rect">
            <a:avLst/>
          </a:prstGeom>
        </p:spPr>
      </p:pic>
      <p:sp>
        <p:nvSpPr>
          <p:cNvPr id="352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406491" y="6782372"/>
            <a:ext cx="3767138" cy="647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Standardization across DCP, GCP, and legacy</a:t>
            </a:r>
          </a:p>
        </p:txBody>
      </p:sp>
      <p:sp>
        <p:nvSpPr>
          <p:cNvPr id="354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948041"/>
            <a:ext cx="5405438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Reduces incident friction and onboarding time; standardize schemas and tooling integrations</a:t>
            </a:r>
          </a:p>
        </p:txBody>
      </p:sp>
      <p:pic>
        <p:nvPicPr>
          <p:cNvPr id="35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6">
            <a:alphaModFix amt="100000"/>
          </a:blip>
          <a:stretch/>
        </p:blipFill>
        <p:spPr>
          <a:xfrm>
            <a:off x="6440388" y="6370737"/>
            <a:ext cx="295275" cy="295275"/>
          </a:xfrm>
          <a:prstGeom prst="rect">
            <a:avLst/>
          </a:prstGeom>
        </p:spPr>
      </p:pic>
      <p:pic>
        <p:nvPicPr>
          <p:cNvPr id="358" name="imageNode4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8">
            <a:alphaModFix amt="100000"/>
          </a:blip>
          <a:stretch/>
        </p:blipFill>
        <p:spPr>
          <a:xfrm>
            <a:off x="6440424" y="6370796"/>
            <a:ext cx="1466850" cy="1466850"/>
          </a:xfrm>
          <a:prstGeom prst="rect">
            <a:avLst/>
          </a:prstGeom>
        </p:spPr>
      </p:pic>
      <p:sp>
        <p:nvSpPr>
          <p:cNvPr id="360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086249" y="6942296"/>
            <a:ext cx="37671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Offsite readiness</a:t>
            </a:r>
          </a:p>
        </p:txBody>
      </p:sp>
      <p:sp>
        <p:nvSpPr>
          <p:cNvPr id="362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440424" y="7948041"/>
            <a:ext cx="5405438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Maintains availability during failover and audits; replicate logs offsite with encryption</a:t>
            </a:r>
          </a:p>
        </p:txBody>
      </p:sp>
      <p:pic>
        <p:nvPicPr>
          <p:cNvPr id="36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0">
            <a:alphaModFix amt="100000"/>
          </a:blip>
          <a:stretch/>
        </p:blipFill>
        <p:spPr>
          <a:xfrm>
            <a:off x="12119972" y="6370737"/>
            <a:ext cx="295275" cy="295275"/>
          </a:xfrm>
          <a:prstGeom prst="rect">
            <a:avLst/>
          </a:prstGeom>
        </p:spPr>
      </p:pic>
      <p:pic>
        <p:nvPicPr>
          <p:cNvPr id="366" name="imageNode5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52">
            <a:alphaModFix amt="100000"/>
          </a:blip>
          <a:stretch/>
        </p:blipFill>
        <p:spPr>
          <a:xfrm>
            <a:off x="12120086" y="6370796"/>
            <a:ext cx="1466850" cy="1466850"/>
          </a:xfrm>
          <a:prstGeom prst="rect">
            <a:avLst/>
          </a:prstGeom>
        </p:spPr>
      </p:pic>
      <p:sp>
        <p:nvSpPr>
          <p:cNvPr id="368" name="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765911" y="6782372"/>
            <a:ext cx="3767138" cy="647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Common implementation priorities</a:t>
            </a:r>
          </a:p>
        </p:txBody>
      </p:sp>
      <p:sp>
        <p:nvSpPr>
          <p:cNvPr id="370" name="Description of a 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120086" y="7948041"/>
            <a:ext cx="5405438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Define ownership, map data flows, align retention and encryption policies</a:t>
            </a:r>
          </a:p>
        </p:txBody>
      </p:sp>
      <p:sp>
        <p:nvSpPr>
          <p:cNvPr id="372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26567"/>
            <a:ext cx="13234988" cy="12954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Strategic Objectives for Application Logging and Monitoring</a:t>
            </a:r>
          </a:p>
        </p:txBody>
      </p:sp>
      <p:sp>
        <p:nvSpPr>
          <p:cNvPr id="374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2129980"/>
            <a:ext cx="1323498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Why these goals matter for Wholesale Credit and Lending operations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3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6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7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8">
            <a:alphaModFix amt="100000"/>
          </a:blip>
          <a:stretch/>
        </p:blipFill>
        <p:spPr>
          <a:xfrm>
            <a:off x="16611410" y="0"/>
            <a:ext cx="1647825" cy="2181225"/>
          </a:xfrm>
          <a:prstGeom prst="rect">
            <a:avLst/>
          </a:prstGeom>
        </p:spPr>
      </p:pic>
      <p:pic>
        <p:nvPicPr>
          <p:cNvPr id="380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1">
            <a:alphaModFix amt="100000"/>
            <a:extLst>
              <a:ext uri="{121A81C4-7D5C-449B-B2B1-7E64C3506831}">
                <asvg:svgBlip xmlns:r="http://schemas.openxmlformats.org/officeDocument/2006/relationships" xmlns:asvg="http://schemas.microsoft.com/office/drawing/2016/SVG/main" r:embed="rId60"/>
                <a14:useLocalDpi xmlns:a14="http://schemas.microsoft.com/office/drawing/2010/main" val="0"/>
              </a:ext>
            </a:extLst>
          </a:blip>
          <a:srcRect l="0" t="-29" r="0" b="-29"/>
          <a:stretch/>
        </p:blipFill>
        <p:spPr>
          <a:xfrm>
            <a:off x="4944332" y="2928652"/>
            <a:ext cx="8367712" cy="6579870"/>
          </a:xfrm>
          <a:prstGeom prst="rect">
            <a:avLst/>
          </a:prstGeom>
        </p:spPr>
      </p:pic>
      <p:sp>
        <p:nvSpPr>
          <p:cNvPr id="381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3703320"/>
            <a:ext cx="623411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Application Logging Layer</a:t>
            </a:r>
          </a:p>
        </p:txBody>
      </p:sp>
      <p:sp>
        <p:nvSpPr>
          <p:cNvPr id="382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4061365"/>
            <a:ext cx="6234112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Standardize JSON logs with required fields and correlation IDs; mask sensitive fields at source.</a:t>
            </a:r>
          </a:p>
        </p:txBody>
      </p:sp>
      <p:sp>
        <p:nvSpPr>
          <p:cNvPr id="383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286172" y="5019294"/>
            <a:ext cx="62436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Log Transport Layer</a:t>
            </a:r>
          </a:p>
        </p:txBody>
      </p:sp>
      <p:sp>
        <p:nvSpPr>
          <p:cNvPr id="384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286172" y="5377339"/>
            <a:ext cx="6243638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Environment-specific mappings and encrypted pipelines to deliver logs to storage reliably.</a:t>
            </a:r>
          </a:p>
        </p:txBody>
      </p:sp>
      <p:sp>
        <p:nvSpPr>
          <p:cNvPr id="385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6335268"/>
            <a:ext cx="623411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Log Storage and Analytics</a:t>
            </a:r>
          </a:p>
        </p:txBody>
      </p:sp>
      <p:sp>
        <p:nvSpPr>
          <p:cNvPr id="386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6693313"/>
            <a:ext cx="6234112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SIEM and BigQuery with hot and cold tiers plus offsite archiving for cost and query performance.</a:t>
            </a:r>
          </a:p>
        </p:txBody>
      </p:sp>
      <p:sp>
        <p:nvSpPr>
          <p:cNvPr id="387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286172" y="7651242"/>
            <a:ext cx="62436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Monitoring and Observability Layer</a:t>
            </a:r>
          </a:p>
        </p:txBody>
      </p:sp>
      <p:sp>
        <p:nvSpPr>
          <p:cNvPr id="388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286172" y="8009287"/>
            <a:ext cx="6243638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OpenTelemetry metrics and traces feeding dashboards and alerting rules for SRE, risk, and audit needs.</a:t>
            </a:r>
          </a:p>
        </p:txBody>
      </p:sp>
      <p:sp>
        <p:nvSpPr>
          <p:cNvPr id="389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26567"/>
            <a:ext cx="13234988" cy="12954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Architecture Blueprint for Logging and Monitoring</a:t>
            </a:r>
          </a:p>
        </p:txBody>
      </p:sp>
      <p:sp>
        <p:nvSpPr>
          <p:cNvPr id="391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2129980"/>
            <a:ext cx="1323498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Layered strategy for reliable logs, analytics, and observability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4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5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9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7">
            <a:alphaModFix amt="100000"/>
          </a:blip>
          <a:stretch/>
        </p:blipFill>
        <p:spPr>
          <a:xfrm>
            <a:off x="16611410" y="0"/>
            <a:ext cx="1647825" cy="2181225"/>
          </a:xfrm>
          <a:prstGeom prst="rect">
            <a:avLst/>
          </a:prstGeom>
        </p:spPr>
      </p:pic>
      <p:pic>
        <p:nvPicPr>
          <p:cNvPr id="39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9">
            <a:alphaModFix amt="100000"/>
          </a:blip>
          <a:stretch/>
        </p:blipFill>
        <p:spPr>
          <a:xfrm>
            <a:off x="760666" y="3080956"/>
            <a:ext cx="533400" cy="533400"/>
          </a:xfrm>
          <a:prstGeom prst="rect">
            <a:avLst/>
          </a:prstGeom>
        </p:spPr>
      </p:pic>
      <p:sp>
        <p:nvSpPr>
          <p:cNvPr id="399" name="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54297" y="3137630"/>
            <a:ext cx="376238" cy="428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308"/>
              </a:lnSpc>
            </a:pPr>
            <a:r>
              <a:rPr lang="en-US" sz="2205" b="1" dirty="0">
                <a:solidFill>
                  <a:srgbClr val="FFFFFF">
                    <a:alpha val="100000"/>
                  </a:srgbClr>
                </a:solidFill>
                <a:latin typeface="Lexend" panose="00000700000000000000" pitchFamily="2" charset="0"/>
              </a:rPr>
              <a:t>01</a:t>
            </a:r>
          </a:p>
        </p:txBody>
      </p:sp>
      <p:sp>
        <p:nvSpPr>
          <p:cNvPr id="401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4389692"/>
            <a:ext cx="295751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Logging Standards</a:t>
            </a:r>
          </a:p>
        </p:txBody>
      </p:sp>
      <p:sp>
        <p:nvSpPr>
          <p:cNvPr id="403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38974" y="5080730"/>
            <a:ext cx="2779204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Use </a:t>
            </a:r>
            <a:r>
              <a:rPr lang="en-US" sz="1800" b="1" spc="-4" dirty="0">
                <a:solidFill>
                  <a:srgbClr val="4C4C4F"/>
                </a:solidFill>
                <a:latin typeface="Inter" panose="00000700000000000000" pitchFamily="2" charset="0"/>
              </a:rPr>
              <a:t>JSON</a:t>
            </a:r>
            <a:r>
              <a:rPr lang="en-US" sz="1800" spc="-4" dirty="0">
                <a:solidFill>
                  <a:srgbClr val="4C4C4F"/>
                </a:solidFill>
                <a:latin typeface="Inter" panose="00000700000000000000" pitchFamily="2" charset="0"/>
              </a:rPr>
              <a:t> logging format for all services</a:t>
            </a:r>
          </a:p>
        </p:txBody>
      </p:sp>
      <p:pic>
        <p:nvPicPr>
          <p:cNvPr id="405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1">
            <a:alphaModFix amt="100000"/>
          </a:blip>
          <a:stretch/>
        </p:blipFill>
        <p:spPr>
          <a:xfrm>
            <a:off x="760666" y="5223415"/>
            <a:ext cx="71140" cy="71140"/>
          </a:xfrm>
          <a:prstGeom prst="rect">
            <a:avLst/>
          </a:prstGeom>
        </p:spPr>
      </p:pic>
      <p:sp>
        <p:nvSpPr>
          <p:cNvPr id="407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38974" y="5794058"/>
            <a:ext cx="2779204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Include mandatory correlation IDs in every record</a:t>
            </a:r>
          </a:p>
        </p:txBody>
      </p:sp>
      <p:pic>
        <p:nvPicPr>
          <p:cNvPr id="409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3">
            <a:alphaModFix amt="100000"/>
          </a:blip>
          <a:stretch/>
        </p:blipFill>
        <p:spPr>
          <a:xfrm>
            <a:off x="760666" y="5936647"/>
            <a:ext cx="71140" cy="71140"/>
          </a:xfrm>
          <a:prstGeom prst="rect">
            <a:avLst/>
          </a:prstGeom>
        </p:spPr>
      </p:pic>
      <p:sp>
        <p:nvSpPr>
          <p:cNvPr id="411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38974" y="6864001"/>
            <a:ext cx="2779204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Standardize error codes: AUTH-1000, DB-3000, API-4000, etc</a:t>
            </a:r>
          </a:p>
        </p:txBody>
      </p:sp>
      <p:pic>
        <p:nvPicPr>
          <p:cNvPr id="413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5">
            <a:alphaModFix amt="100000"/>
          </a:blip>
          <a:stretch/>
        </p:blipFill>
        <p:spPr>
          <a:xfrm>
            <a:off x="760666" y="7006590"/>
            <a:ext cx="71140" cy="71140"/>
          </a:xfrm>
          <a:prstGeom prst="rect">
            <a:avLst/>
          </a:prstGeom>
        </p:spPr>
      </p:pic>
      <p:sp>
        <p:nvSpPr>
          <p:cNvPr id="415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38974" y="7933849"/>
            <a:ext cx="2779204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Exclude all PII from logs; adhere to data retention policy</a:t>
            </a:r>
          </a:p>
        </p:txBody>
      </p:sp>
      <p:pic>
        <p:nvPicPr>
          <p:cNvPr id="417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7">
            <a:alphaModFix amt="100000"/>
          </a:blip>
          <a:stretch/>
        </p:blipFill>
        <p:spPr>
          <a:xfrm>
            <a:off x="760666" y="8076533"/>
            <a:ext cx="71140" cy="71140"/>
          </a:xfrm>
          <a:prstGeom prst="rect">
            <a:avLst/>
          </a:prstGeom>
        </p:spPr>
      </p:pic>
      <p:pic>
        <p:nvPicPr>
          <p:cNvPr id="41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9">
            <a:alphaModFix amt="100000"/>
          </a:blip>
          <a:stretch/>
        </p:blipFill>
        <p:spPr>
          <a:xfrm>
            <a:off x="760666" y="4899946"/>
            <a:ext cx="876300" cy="28575"/>
          </a:xfrm>
          <a:prstGeom prst="rect">
            <a:avLst/>
          </a:prstGeom>
        </p:spPr>
      </p:pic>
      <p:pic>
        <p:nvPicPr>
          <p:cNvPr id="421" name="shape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2">
            <a:alphaModFix amt="100000"/>
            <a:extLst>
              <a:ext uri="{E2EA8521-214F-47A6-9A1D-0BBBFD623591}">
                <asvg:svgBlip xmlns:r="http://schemas.openxmlformats.org/officeDocument/2006/relationships" xmlns:asvg="http://schemas.microsoft.com/office/drawing/2016/SVG/main" r:embed="rId81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760661" y="4899869"/>
            <a:ext cx="761851" cy="28426"/>
          </a:xfrm>
          <a:prstGeom prst="rect">
            <a:avLst/>
          </a:prstGeom>
        </p:spPr>
      </p:pic>
      <p:pic>
        <p:nvPicPr>
          <p:cNvPr id="42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4">
            <a:alphaModFix amt="100000"/>
          </a:blip>
          <a:stretch/>
        </p:blipFill>
        <p:spPr>
          <a:xfrm>
            <a:off x="4214241" y="3080956"/>
            <a:ext cx="533400" cy="533400"/>
          </a:xfrm>
          <a:prstGeom prst="rect">
            <a:avLst/>
          </a:prstGeom>
        </p:spPr>
      </p:pic>
      <p:sp>
        <p:nvSpPr>
          <p:cNvPr id="425" name="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309777" y="3137630"/>
            <a:ext cx="376238" cy="428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308"/>
              </a:lnSpc>
            </a:pPr>
            <a:r>
              <a:rPr lang="en-US" sz="2205" b="1" dirty="0">
                <a:solidFill>
                  <a:srgbClr val="FFFFFF">
                    <a:alpha val="100000"/>
                  </a:srgbClr>
                </a:solidFill>
                <a:latin typeface="Lexend" panose="00000700000000000000" pitchFamily="2" charset="0"/>
              </a:rPr>
              <a:t>02</a:t>
            </a:r>
          </a:p>
        </p:txBody>
      </p:sp>
      <p:sp>
        <p:nvSpPr>
          <p:cNvPr id="427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214241" y="4389692"/>
            <a:ext cx="295751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Monitoring Standards</a:t>
            </a:r>
          </a:p>
        </p:txBody>
      </p:sp>
      <p:sp>
        <p:nvSpPr>
          <p:cNvPr id="429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392549" y="5080730"/>
            <a:ext cx="2779204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Define severity guidelines mapped to alert tiers</a:t>
            </a:r>
          </a:p>
        </p:txBody>
      </p:sp>
      <p:pic>
        <p:nvPicPr>
          <p:cNvPr id="431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6">
            <a:alphaModFix amt="100000"/>
          </a:blip>
          <a:stretch/>
        </p:blipFill>
        <p:spPr>
          <a:xfrm>
            <a:off x="4214241" y="5223415"/>
            <a:ext cx="71140" cy="71140"/>
          </a:xfrm>
          <a:prstGeom prst="rect">
            <a:avLst/>
          </a:prstGeom>
        </p:spPr>
      </p:pic>
      <p:sp>
        <p:nvSpPr>
          <p:cNvPr id="433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392549" y="6150674"/>
            <a:ext cx="2779204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Track Monitoring KPIs and SRE SLIs continuously</a:t>
            </a:r>
          </a:p>
        </p:txBody>
      </p:sp>
      <p:pic>
        <p:nvPicPr>
          <p:cNvPr id="435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8">
            <a:alphaModFix amt="100000"/>
          </a:blip>
          <a:stretch/>
        </p:blipFill>
        <p:spPr>
          <a:xfrm>
            <a:off x="4214241" y="6293358"/>
            <a:ext cx="71140" cy="71140"/>
          </a:xfrm>
          <a:prstGeom prst="rect">
            <a:avLst/>
          </a:prstGeom>
        </p:spPr>
      </p:pic>
      <p:sp>
        <p:nvSpPr>
          <p:cNvPr id="437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392549" y="7220617"/>
            <a:ext cx="2779204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CI/CD linting for log schema before deployment</a:t>
            </a:r>
          </a:p>
        </p:txBody>
      </p:sp>
      <p:pic>
        <p:nvPicPr>
          <p:cNvPr id="439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0">
            <a:alphaModFix amt="100000"/>
          </a:blip>
          <a:stretch/>
        </p:blipFill>
        <p:spPr>
          <a:xfrm>
            <a:off x="4214241" y="7363206"/>
            <a:ext cx="71140" cy="71140"/>
          </a:xfrm>
          <a:prstGeom prst="rect">
            <a:avLst/>
          </a:prstGeom>
        </p:spPr>
      </p:pic>
      <p:sp>
        <p:nvSpPr>
          <p:cNvPr id="441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392549" y="8290465"/>
            <a:ext cx="2779204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Periodic audits of log quality and access controls</a:t>
            </a:r>
          </a:p>
        </p:txBody>
      </p:sp>
      <p:pic>
        <p:nvPicPr>
          <p:cNvPr id="443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2">
            <a:alphaModFix amt="100000"/>
          </a:blip>
          <a:stretch/>
        </p:blipFill>
        <p:spPr>
          <a:xfrm>
            <a:off x="4214241" y="8433149"/>
            <a:ext cx="71140" cy="71140"/>
          </a:xfrm>
          <a:prstGeom prst="rect">
            <a:avLst/>
          </a:prstGeom>
        </p:spPr>
      </p:pic>
      <p:pic>
        <p:nvPicPr>
          <p:cNvPr id="44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4">
            <a:alphaModFix amt="100000"/>
          </a:blip>
          <a:stretch/>
        </p:blipFill>
        <p:spPr>
          <a:xfrm>
            <a:off x="4214241" y="4899946"/>
            <a:ext cx="876300" cy="28575"/>
          </a:xfrm>
          <a:prstGeom prst="rect">
            <a:avLst/>
          </a:prstGeom>
        </p:spPr>
      </p:pic>
      <p:pic>
        <p:nvPicPr>
          <p:cNvPr id="447" name="shape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7">
            <a:alphaModFix amt="100000"/>
            <a:extLst>
              <a:ext uri="{DDD8C99B-4A10-449C-957D-276F71B30A15}">
                <asvg:svgBlip xmlns:r="http://schemas.openxmlformats.org/officeDocument/2006/relationships" xmlns:asvg="http://schemas.microsoft.com/office/drawing/2016/SVG/main" r:embed="rId96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4214217" y="4899869"/>
            <a:ext cx="761851" cy="28426"/>
          </a:xfrm>
          <a:prstGeom prst="rect">
            <a:avLst/>
          </a:prstGeom>
        </p:spPr>
      </p:pic>
      <p:pic>
        <p:nvPicPr>
          <p:cNvPr id="44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9">
            <a:alphaModFix amt="100000"/>
          </a:blip>
          <a:stretch/>
        </p:blipFill>
        <p:spPr>
          <a:xfrm>
            <a:off x="7667816" y="3080956"/>
            <a:ext cx="533400" cy="533400"/>
          </a:xfrm>
          <a:prstGeom prst="rect">
            <a:avLst/>
          </a:prstGeom>
        </p:spPr>
      </p:pic>
      <p:sp>
        <p:nvSpPr>
          <p:cNvPr id="451" name="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757255" y="3137630"/>
            <a:ext cx="385762" cy="428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308"/>
              </a:lnSpc>
            </a:pPr>
            <a:r>
              <a:rPr lang="en-US" sz="2205" b="1" dirty="0">
                <a:solidFill>
                  <a:srgbClr val="FFFFFF">
                    <a:alpha val="100000"/>
                  </a:srgbClr>
                </a:solidFill>
                <a:latin typeface="Lexend" panose="00000700000000000000" pitchFamily="2" charset="0"/>
              </a:rPr>
              <a:t>03</a:t>
            </a:r>
          </a:p>
        </p:txBody>
      </p:sp>
      <p:sp>
        <p:nvSpPr>
          <p:cNvPr id="453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67816" y="4389692"/>
            <a:ext cx="295751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SRE SLIs and SLOs</a:t>
            </a:r>
          </a:p>
        </p:txBody>
      </p:sp>
      <p:sp>
        <p:nvSpPr>
          <p:cNvPr id="455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846124" y="5080730"/>
            <a:ext cx="2779204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Availability SLO: </a:t>
            </a:r>
            <a:r>
              <a:rPr lang="en-US" sz="1800" b="1" spc="-4" dirty="0">
                <a:solidFill>
                  <a:srgbClr val="4C4C4F"/>
                </a:solidFill>
                <a:latin typeface="Inter" panose="00000700000000000000" pitchFamily="2" charset="0"/>
              </a:rPr>
              <a:t>99.9%</a:t>
            </a:r>
          </a:p>
        </p:txBody>
      </p:sp>
      <p:pic>
        <p:nvPicPr>
          <p:cNvPr id="457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1">
            <a:alphaModFix amt="100000"/>
          </a:blip>
          <a:stretch/>
        </p:blipFill>
        <p:spPr>
          <a:xfrm>
            <a:off x="7667816" y="5223415"/>
            <a:ext cx="71140" cy="71140"/>
          </a:xfrm>
          <a:prstGeom prst="rect">
            <a:avLst/>
          </a:prstGeom>
        </p:spPr>
      </p:pic>
      <p:sp>
        <p:nvSpPr>
          <p:cNvPr id="459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846124" y="5437442"/>
            <a:ext cx="2779204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P95 latency target: under </a:t>
            </a:r>
            <a:r>
              <a:rPr lang="en-US" sz="1800" b="1" spc="-4" dirty="0">
                <a:solidFill>
                  <a:srgbClr val="4C4C4F"/>
                </a:solidFill>
                <a:latin typeface="Inter" panose="00000700000000000000" pitchFamily="2" charset="0"/>
              </a:rPr>
              <a:t>200ms</a:t>
            </a:r>
          </a:p>
        </p:txBody>
      </p:sp>
      <p:pic>
        <p:nvPicPr>
          <p:cNvPr id="461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3">
            <a:alphaModFix amt="100000"/>
          </a:blip>
          <a:stretch/>
        </p:blipFill>
        <p:spPr>
          <a:xfrm>
            <a:off x="7667816" y="5580031"/>
            <a:ext cx="71140" cy="71140"/>
          </a:xfrm>
          <a:prstGeom prst="rect">
            <a:avLst/>
          </a:prstGeom>
        </p:spPr>
      </p:pic>
      <p:sp>
        <p:nvSpPr>
          <p:cNvPr id="463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846124" y="6150674"/>
            <a:ext cx="2779204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Error rate SLO: under </a:t>
            </a:r>
            <a:r>
              <a:rPr lang="en-US" sz="1800" b="1" spc="-4" dirty="0">
                <a:solidFill>
                  <a:srgbClr val="4C4C4F"/>
                </a:solidFill>
                <a:latin typeface="Inter" panose="00000700000000000000" pitchFamily="2" charset="0"/>
              </a:rPr>
              <a:t>0.1%</a:t>
            </a:r>
          </a:p>
        </p:txBody>
      </p:sp>
      <p:pic>
        <p:nvPicPr>
          <p:cNvPr id="465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5">
            <a:alphaModFix amt="100000"/>
          </a:blip>
          <a:stretch/>
        </p:blipFill>
        <p:spPr>
          <a:xfrm>
            <a:off x="7667816" y="6293358"/>
            <a:ext cx="71140" cy="71140"/>
          </a:xfrm>
          <a:prstGeom prst="rect">
            <a:avLst/>
          </a:prstGeom>
        </p:spPr>
      </p:pic>
      <p:sp>
        <p:nvSpPr>
          <p:cNvPr id="467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846124" y="6864001"/>
            <a:ext cx="2779204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Throughput ranges documented per service</a:t>
            </a:r>
          </a:p>
        </p:txBody>
      </p:sp>
      <p:pic>
        <p:nvPicPr>
          <p:cNvPr id="469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7">
            <a:alphaModFix amt="100000"/>
          </a:blip>
          <a:stretch/>
        </p:blipFill>
        <p:spPr>
          <a:xfrm>
            <a:off x="7667816" y="7006590"/>
            <a:ext cx="71140" cy="71140"/>
          </a:xfrm>
          <a:prstGeom prst="rect">
            <a:avLst/>
          </a:prstGeom>
        </p:spPr>
      </p:pic>
      <p:pic>
        <p:nvPicPr>
          <p:cNvPr id="47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9">
            <a:alphaModFix amt="100000"/>
          </a:blip>
          <a:stretch/>
        </p:blipFill>
        <p:spPr>
          <a:xfrm>
            <a:off x="7667816" y="4899946"/>
            <a:ext cx="876300" cy="28575"/>
          </a:xfrm>
          <a:prstGeom prst="rect">
            <a:avLst/>
          </a:prstGeom>
        </p:spPr>
      </p:pic>
      <p:pic>
        <p:nvPicPr>
          <p:cNvPr id="473" name="shape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2">
            <a:alphaModFix amt="100000"/>
            <a:extLst>
              <a:ext uri="{828FBA1A-5731-4617-91A1-494B85AB7FE2}">
                <asvg:svgBlip xmlns:r="http://schemas.openxmlformats.org/officeDocument/2006/relationships" xmlns:asvg="http://schemas.microsoft.com/office/drawing/2016/SVG/main" r:embed="rId111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7667774" y="4899869"/>
            <a:ext cx="761851" cy="28426"/>
          </a:xfrm>
          <a:prstGeom prst="rect">
            <a:avLst/>
          </a:prstGeom>
        </p:spPr>
      </p:pic>
      <p:pic>
        <p:nvPicPr>
          <p:cNvPr id="47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4">
            <a:alphaModFix amt="100000"/>
          </a:blip>
          <a:stretch/>
        </p:blipFill>
        <p:spPr>
          <a:xfrm>
            <a:off x="11121390" y="3080956"/>
            <a:ext cx="533400" cy="533400"/>
          </a:xfrm>
          <a:prstGeom prst="rect">
            <a:avLst/>
          </a:prstGeom>
        </p:spPr>
      </p:pic>
      <p:sp>
        <p:nvSpPr>
          <p:cNvPr id="477" name="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200924" y="3137630"/>
            <a:ext cx="404812" cy="428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308"/>
              </a:lnSpc>
            </a:pPr>
            <a:r>
              <a:rPr lang="en-US" sz="2205" b="1" dirty="0">
                <a:solidFill>
                  <a:srgbClr val="000000">
                    <a:alpha val="100000"/>
                  </a:srgbClr>
                </a:solidFill>
                <a:latin typeface="Lexend" panose="00000700000000000000" pitchFamily="2" charset="0"/>
              </a:rPr>
              <a:t>04</a:t>
            </a:r>
          </a:p>
        </p:txBody>
      </p:sp>
      <p:sp>
        <p:nvSpPr>
          <p:cNvPr id="479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121390" y="4071461"/>
            <a:ext cx="2957512" cy="647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Governance Practices and Runbooks</a:t>
            </a:r>
          </a:p>
        </p:txBody>
      </p:sp>
      <p:sp>
        <p:nvSpPr>
          <p:cNvPr id="481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299698" y="5082540"/>
            <a:ext cx="2779204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Enforced schema validation at ingestion</a:t>
            </a:r>
          </a:p>
        </p:txBody>
      </p:sp>
      <p:pic>
        <p:nvPicPr>
          <p:cNvPr id="483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6">
            <a:alphaModFix amt="100000"/>
          </a:blip>
          <a:stretch/>
        </p:blipFill>
        <p:spPr>
          <a:xfrm>
            <a:off x="11121390" y="5225224"/>
            <a:ext cx="71140" cy="71140"/>
          </a:xfrm>
          <a:prstGeom prst="rect">
            <a:avLst/>
          </a:prstGeom>
        </p:spPr>
      </p:pic>
      <p:sp>
        <p:nvSpPr>
          <p:cNvPr id="485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299698" y="5795772"/>
            <a:ext cx="2779204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CI/CD linting gates for log schema and metrics</a:t>
            </a:r>
          </a:p>
        </p:txBody>
      </p:sp>
      <p:pic>
        <p:nvPicPr>
          <p:cNvPr id="487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8">
            <a:alphaModFix amt="100000"/>
          </a:blip>
          <a:stretch/>
        </p:blipFill>
        <p:spPr>
          <a:xfrm>
            <a:off x="11121390" y="5938456"/>
            <a:ext cx="71140" cy="71140"/>
          </a:xfrm>
          <a:prstGeom prst="rect">
            <a:avLst/>
          </a:prstGeom>
        </p:spPr>
      </p:pic>
      <p:sp>
        <p:nvSpPr>
          <p:cNvPr id="489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299698" y="6509099"/>
            <a:ext cx="2779204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Runbooks aligned to alerting tiers with playbooks</a:t>
            </a:r>
          </a:p>
        </p:txBody>
      </p:sp>
      <p:pic>
        <p:nvPicPr>
          <p:cNvPr id="491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0">
            <a:alphaModFix amt="100000"/>
          </a:blip>
          <a:stretch/>
        </p:blipFill>
        <p:spPr>
          <a:xfrm>
            <a:off x="11121390" y="6651688"/>
            <a:ext cx="71140" cy="71140"/>
          </a:xfrm>
          <a:prstGeom prst="rect">
            <a:avLst/>
          </a:prstGeom>
        </p:spPr>
      </p:pic>
      <p:sp>
        <p:nvSpPr>
          <p:cNvPr id="493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299698" y="7578947"/>
            <a:ext cx="2779204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Periodic governance audits and remediation tracking</a:t>
            </a:r>
          </a:p>
        </p:txBody>
      </p:sp>
      <p:pic>
        <p:nvPicPr>
          <p:cNvPr id="495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2">
            <a:alphaModFix amt="100000"/>
          </a:blip>
          <a:stretch/>
        </p:blipFill>
        <p:spPr>
          <a:xfrm>
            <a:off x="11121390" y="7721632"/>
            <a:ext cx="71140" cy="71140"/>
          </a:xfrm>
          <a:prstGeom prst="rect">
            <a:avLst/>
          </a:prstGeom>
        </p:spPr>
      </p:pic>
      <p:pic>
        <p:nvPicPr>
          <p:cNvPr id="49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4">
            <a:alphaModFix amt="100000"/>
          </a:blip>
          <a:stretch/>
        </p:blipFill>
        <p:spPr>
          <a:xfrm>
            <a:off x="11121390" y="4901756"/>
            <a:ext cx="876300" cy="28575"/>
          </a:xfrm>
          <a:prstGeom prst="rect">
            <a:avLst/>
          </a:prstGeom>
        </p:spPr>
      </p:pic>
      <p:pic>
        <p:nvPicPr>
          <p:cNvPr id="499" name="shape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7">
            <a:alphaModFix amt="100000"/>
            <a:extLst>
              <a:ext uri="{74ECA480-4904-4BB0-90EB-306F56284D15}">
                <asvg:svgBlip xmlns:r="http://schemas.openxmlformats.org/officeDocument/2006/relationships" xmlns:asvg="http://schemas.microsoft.com/office/drawing/2016/SVG/main" r:embed="rId126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1121333" y="4901655"/>
            <a:ext cx="761851" cy="28426"/>
          </a:xfrm>
          <a:prstGeom prst="rect">
            <a:avLst/>
          </a:prstGeom>
        </p:spPr>
      </p:pic>
      <p:pic>
        <p:nvPicPr>
          <p:cNvPr id="50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9">
            <a:alphaModFix amt="100000"/>
          </a:blip>
          <a:stretch/>
        </p:blipFill>
        <p:spPr>
          <a:xfrm>
            <a:off x="14575060" y="3080956"/>
            <a:ext cx="533400" cy="533400"/>
          </a:xfrm>
          <a:prstGeom prst="rect">
            <a:avLst/>
          </a:prstGeom>
        </p:spPr>
      </p:pic>
      <p:sp>
        <p:nvSpPr>
          <p:cNvPr id="503" name="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663738" y="3137630"/>
            <a:ext cx="385762" cy="428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308"/>
              </a:lnSpc>
            </a:pPr>
            <a:r>
              <a:rPr lang="en-US" sz="2205" b="1" dirty="0">
                <a:solidFill>
                  <a:srgbClr val="FFFFFF">
                    <a:alpha val="100000"/>
                  </a:srgbClr>
                </a:solidFill>
                <a:latin typeface="Lexend" panose="00000700000000000000" pitchFamily="2" charset="0"/>
              </a:rPr>
              <a:t>05</a:t>
            </a:r>
          </a:p>
        </p:txBody>
      </p:sp>
      <p:sp>
        <p:nvSpPr>
          <p:cNvPr id="505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575060" y="4389692"/>
            <a:ext cx="295751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Responsibility Matrix</a:t>
            </a:r>
          </a:p>
        </p:txBody>
      </p:sp>
      <p:sp>
        <p:nvSpPr>
          <p:cNvPr id="507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753368" y="5080730"/>
            <a:ext cx="2779204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Dev: implement logging schema and error codes</a:t>
            </a:r>
          </a:p>
        </p:txBody>
      </p:sp>
      <p:pic>
        <p:nvPicPr>
          <p:cNvPr id="509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1">
            <a:alphaModFix amt="100000"/>
          </a:blip>
          <a:stretch/>
        </p:blipFill>
        <p:spPr>
          <a:xfrm>
            <a:off x="14575060" y="5223415"/>
            <a:ext cx="71140" cy="71140"/>
          </a:xfrm>
          <a:prstGeom prst="rect">
            <a:avLst/>
          </a:prstGeom>
        </p:spPr>
      </p:pic>
      <p:sp>
        <p:nvSpPr>
          <p:cNvPr id="511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753368" y="5794058"/>
            <a:ext cx="2779204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SRE: define SLIs/SLOs, runbooks, monitoring KPIs</a:t>
            </a:r>
          </a:p>
        </p:txBody>
      </p:sp>
      <p:pic>
        <p:nvPicPr>
          <p:cNvPr id="513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3">
            <a:alphaModFix amt="100000"/>
          </a:blip>
          <a:stretch/>
        </p:blipFill>
        <p:spPr>
          <a:xfrm>
            <a:off x="14575060" y="5936647"/>
            <a:ext cx="71140" cy="71140"/>
          </a:xfrm>
          <a:prstGeom prst="rect">
            <a:avLst/>
          </a:prstGeom>
        </p:spPr>
      </p:pic>
      <p:sp>
        <p:nvSpPr>
          <p:cNvPr id="515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753368" y="6864001"/>
            <a:ext cx="2779204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Security: PII controls, access and retention policies</a:t>
            </a:r>
          </a:p>
        </p:txBody>
      </p:sp>
      <p:pic>
        <p:nvPicPr>
          <p:cNvPr id="517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5">
            <a:alphaModFix amt="100000"/>
          </a:blip>
          <a:stretch/>
        </p:blipFill>
        <p:spPr>
          <a:xfrm>
            <a:off x="14575060" y="7006590"/>
            <a:ext cx="71140" cy="71140"/>
          </a:xfrm>
          <a:prstGeom prst="rect">
            <a:avLst/>
          </a:prstGeom>
        </p:spPr>
      </p:pic>
      <p:sp>
        <p:nvSpPr>
          <p:cNvPr id="519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753368" y="7933849"/>
            <a:ext cx="2779204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Audit: periodic reviews and compliance reporting</a:t>
            </a:r>
          </a:p>
        </p:txBody>
      </p:sp>
      <p:pic>
        <p:nvPicPr>
          <p:cNvPr id="521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7">
            <a:alphaModFix amt="100000"/>
          </a:blip>
          <a:stretch/>
        </p:blipFill>
        <p:spPr>
          <a:xfrm>
            <a:off x="14575060" y="8076533"/>
            <a:ext cx="71140" cy="71140"/>
          </a:xfrm>
          <a:prstGeom prst="rect">
            <a:avLst/>
          </a:prstGeom>
        </p:spPr>
      </p:pic>
      <p:pic>
        <p:nvPicPr>
          <p:cNvPr id="52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9">
            <a:alphaModFix amt="100000"/>
          </a:blip>
          <a:stretch/>
        </p:blipFill>
        <p:spPr>
          <a:xfrm>
            <a:off x="14575060" y="4899946"/>
            <a:ext cx="876300" cy="28575"/>
          </a:xfrm>
          <a:prstGeom prst="rect">
            <a:avLst/>
          </a:prstGeom>
        </p:spPr>
      </p:pic>
      <p:pic>
        <p:nvPicPr>
          <p:cNvPr id="525" name="shapeNode4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2">
            <a:alphaModFix amt="100000"/>
            <a:extLst>
              <a:ext uri="{DF607B99-3C16-4AC0-87B8-D3B0081AE7CB}">
                <asvg:svgBlip xmlns:r="http://schemas.openxmlformats.org/officeDocument/2006/relationships" xmlns:asvg="http://schemas.microsoft.com/office/drawing/2016/SVG/main" r:embed="rId141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4575041" y="4899869"/>
            <a:ext cx="761851" cy="28426"/>
          </a:xfrm>
          <a:prstGeom prst="rect">
            <a:avLst/>
          </a:prstGeom>
        </p:spPr>
      </p:pic>
      <p:sp>
        <p:nvSpPr>
          <p:cNvPr id="527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26567"/>
            <a:ext cx="13234988" cy="12954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Standards and Governance Model for Logging and Monitoring</a:t>
            </a:r>
          </a:p>
        </p:txBody>
      </p:sp>
      <p:sp>
        <p:nvSpPr>
          <p:cNvPr id="529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2129980"/>
            <a:ext cx="1323498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Preserve JSON logs, enforce schema, align SRE SLIs/SLOs and ownership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5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6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3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8">
            <a:alphaModFix amt="100000"/>
          </a:blip>
          <a:stretch/>
        </p:blipFill>
        <p:spPr>
          <a:xfrm>
            <a:off x="16611410" y="0"/>
            <a:ext cx="1647825" cy="2181225"/>
          </a:xfrm>
          <a:prstGeom prst="rect">
            <a:avLst/>
          </a:prstGeom>
        </p:spPr>
      </p:pic>
      <p:pic>
        <p:nvPicPr>
          <p:cNvPr id="53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0">
            <a:alphaModFix amt="100000"/>
          </a:blip>
          <a:stretch/>
        </p:blipFill>
        <p:spPr>
          <a:xfrm>
            <a:off x="0" y="2424708"/>
            <a:ext cx="17497425" cy="3238500"/>
          </a:xfrm>
          <a:prstGeom prst="rect">
            <a:avLst/>
          </a:prstGeom>
        </p:spPr>
      </p:pic>
      <p:pic>
        <p:nvPicPr>
          <p:cNvPr id="53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2">
            <a:alphaModFix amt="100000"/>
          </a:blip>
          <a:stretch/>
        </p:blipFill>
        <p:spPr>
          <a:xfrm>
            <a:off x="944612" y="3377059"/>
            <a:ext cx="2619375" cy="1333500"/>
          </a:xfrm>
          <a:prstGeom prst="rect">
            <a:avLst/>
          </a:prstGeom>
        </p:spPr>
      </p:pic>
      <p:pic>
        <p:nvPicPr>
          <p:cNvPr id="539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5">
            <a:alphaModFix amt="100000"/>
            <a:extLst>
              <a:ext uri="{11B4C3EE-39F7-4C93-ADC9-FC21B0FA3E16}">
                <asvg:svgBlip xmlns:r="http://schemas.openxmlformats.org/officeDocument/2006/relationships" xmlns:asvg="http://schemas.microsoft.com/office/drawing/2016/SVG/main" r:embed="rId154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873377" y="3662934"/>
            <a:ext cx="761905" cy="761905"/>
          </a:xfrm>
          <a:prstGeom prst="rect">
            <a:avLst/>
          </a:prstGeom>
        </p:spPr>
      </p:pic>
      <p:sp>
        <p:nvSpPr>
          <p:cNvPr id="541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44690" y="5472494"/>
            <a:ext cx="2195512" cy="9715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GKE / Cloud Run / Compute Engine</a:t>
            </a:r>
          </a:p>
        </p:txBody>
      </p:sp>
      <p:sp>
        <p:nvSpPr>
          <p:cNvPr id="543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44690" y="6546437"/>
            <a:ext cx="2652712" cy="21526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Applications and platform components emit logs and metrics to Cloud Logging and Prometheus for custom metrics</a:t>
            </a:r>
          </a:p>
        </p:txBody>
      </p:sp>
      <p:pic>
        <p:nvPicPr>
          <p:cNvPr id="54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7">
            <a:alphaModFix amt="100000"/>
          </a:blip>
          <a:stretch/>
        </p:blipFill>
        <p:spPr>
          <a:xfrm>
            <a:off x="3659237" y="3377059"/>
            <a:ext cx="2619375" cy="1333500"/>
          </a:xfrm>
          <a:prstGeom prst="rect">
            <a:avLst/>
          </a:prstGeom>
        </p:spPr>
      </p:pic>
      <p:pic>
        <p:nvPicPr>
          <p:cNvPr id="547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0">
            <a:alphaModFix amt="100000"/>
            <a:extLst>
              <a:ext uri="{46C0D5C5-788C-48AF-9039-04E1C622B308}">
                <asvg:svgBlip xmlns:r="http://schemas.openxmlformats.org/officeDocument/2006/relationships" xmlns:asvg="http://schemas.microsoft.com/office/drawing/2016/SVG/main" r:embed="rId159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4588002" y="3662934"/>
            <a:ext cx="761905" cy="761905"/>
          </a:xfrm>
          <a:prstGeom prst="rect">
            <a:avLst/>
          </a:prstGeom>
        </p:spPr>
      </p:pic>
      <p:sp>
        <p:nvSpPr>
          <p:cNvPr id="549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659314" y="5472494"/>
            <a:ext cx="219551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Cloud Logging</a:t>
            </a:r>
          </a:p>
        </p:txBody>
      </p:sp>
      <p:sp>
        <p:nvSpPr>
          <p:cNvPr id="551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659314" y="5906738"/>
            <a:ext cx="2652712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Central log collection, retention, and basic transforms</a:t>
            </a:r>
          </a:p>
        </p:txBody>
      </p:sp>
      <p:pic>
        <p:nvPicPr>
          <p:cNvPr id="55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2">
            <a:alphaModFix amt="100000"/>
          </a:blip>
          <a:stretch/>
        </p:blipFill>
        <p:spPr>
          <a:xfrm>
            <a:off x="6373862" y="3377059"/>
            <a:ext cx="2619375" cy="1333500"/>
          </a:xfrm>
          <a:prstGeom prst="rect">
            <a:avLst/>
          </a:prstGeom>
        </p:spPr>
      </p:pic>
      <p:pic>
        <p:nvPicPr>
          <p:cNvPr id="555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5">
            <a:alphaModFix amt="100000"/>
            <a:extLst>
              <a:ext uri="{2E9F73A2-1F6C-4D74-AC43-8B03954CD542}">
                <asvg:svgBlip xmlns:r="http://schemas.openxmlformats.org/officeDocument/2006/relationships" xmlns:asvg="http://schemas.microsoft.com/office/drawing/2016/SVG/main" r:embed="rId164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7302627" y="3662934"/>
            <a:ext cx="761905" cy="761905"/>
          </a:xfrm>
          <a:prstGeom prst="rect">
            <a:avLst/>
          </a:prstGeom>
        </p:spPr>
      </p:pic>
      <p:sp>
        <p:nvSpPr>
          <p:cNvPr id="557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373940" y="5472494"/>
            <a:ext cx="219551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Log Router</a:t>
            </a:r>
          </a:p>
        </p:txBody>
      </p:sp>
      <p:sp>
        <p:nvSpPr>
          <p:cNvPr id="559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373940" y="5906738"/>
            <a:ext cx="2652712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Filter and route logs; reduce noise and cost before export</a:t>
            </a:r>
          </a:p>
        </p:txBody>
      </p:sp>
      <p:pic>
        <p:nvPicPr>
          <p:cNvPr id="56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7">
            <a:alphaModFix amt="100000"/>
          </a:blip>
          <a:stretch/>
        </p:blipFill>
        <p:spPr>
          <a:xfrm>
            <a:off x="9088487" y="3377059"/>
            <a:ext cx="2619375" cy="1333500"/>
          </a:xfrm>
          <a:prstGeom prst="rect">
            <a:avLst/>
          </a:prstGeom>
        </p:spPr>
      </p:pic>
      <p:pic>
        <p:nvPicPr>
          <p:cNvPr id="563" name="icon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0">
            <a:alphaModFix amt="100000"/>
            <a:extLst>
              <a:ext uri="{83ACDDCB-EA99-4444-89D7-2DA5493543A0}">
                <asvg:svgBlip xmlns:r="http://schemas.openxmlformats.org/officeDocument/2006/relationships" xmlns:asvg="http://schemas.microsoft.com/office/drawing/2016/SVG/main" r:embed="rId169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0017252" y="3662934"/>
            <a:ext cx="761905" cy="761905"/>
          </a:xfrm>
          <a:prstGeom prst="rect">
            <a:avLst/>
          </a:prstGeom>
        </p:spPr>
      </p:pic>
      <p:sp>
        <p:nvSpPr>
          <p:cNvPr id="565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088564" y="5472494"/>
            <a:ext cx="219551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Pub/Sub</a:t>
            </a:r>
          </a:p>
        </p:txBody>
      </p:sp>
      <p:sp>
        <p:nvSpPr>
          <p:cNvPr id="567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088564" y="5906738"/>
            <a:ext cx="2652712" cy="1438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Reliable transport with subscriptions and dead letter queues for delivery guarantees</a:t>
            </a:r>
          </a:p>
        </p:txBody>
      </p:sp>
      <p:pic>
        <p:nvPicPr>
          <p:cNvPr id="56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2">
            <a:alphaModFix amt="100000"/>
          </a:blip>
          <a:stretch/>
        </p:blipFill>
        <p:spPr>
          <a:xfrm>
            <a:off x="11803113" y="3377059"/>
            <a:ext cx="2619375" cy="1333500"/>
          </a:xfrm>
          <a:prstGeom prst="rect">
            <a:avLst/>
          </a:prstGeom>
        </p:spPr>
      </p:pic>
      <p:pic>
        <p:nvPicPr>
          <p:cNvPr id="571" name="iconNode4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5">
            <a:alphaModFix amt="100000"/>
            <a:extLst>
              <a:ext uri="{FAD9596E-1915-4113-B5FE-3CF99191036B}">
                <asvg:svgBlip xmlns:r="http://schemas.openxmlformats.org/officeDocument/2006/relationships" xmlns:asvg="http://schemas.microsoft.com/office/drawing/2016/SVG/main" r:embed="rId174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2731877" y="3662934"/>
            <a:ext cx="761905" cy="761905"/>
          </a:xfrm>
          <a:prstGeom prst="rect">
            <a:avLst/>
          </a:prstGeom>
        </p:spPr>
      </p:pic>
      <p:sp>
        <p:nvSpPr>
          <p:cNvPr id="573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803190" y="5472494"/>
            <a:ext cx="2195512" cy="12858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Consumers: SIEM / BigQuery / Storage</a:t>
            </a:r>
          </a:p>
        </p:txBody>
      </p:sp>
      <p:sp>
        <p:nvSpPr>
          <p:cNvPr id="575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803190" y="6866382"/>
            <a:ext cx="2652712" cy="1790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Splunk or Elastic for security, BigQuery for analytics with enforced schema, Cloud Storage for archives</a:t>
            </a:r>
          </a:p>
        </p:txBody>
      </p:sp>
      <p:sp>
        <p:nvSpPr>
          <p:cNvPr id="577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22662"/>
            <a:ext cx="13234988" cy="666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GCP Logging and Monitoring Strategy</a:t>
            </a:r>
          </a:p>
        </p:txBody>
      </p:sp>
      <p:sp>
        <p:nvSpPr>
          <p:cNvPr id="579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1483424"/>
            <a:ext cx="1323498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Design controls for reliable, cost‑effective log delivery and governance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6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9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8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1">
            <a:alphaModFix amt="100000"/>
          </a:blip>
          <a:stretch/>
        </p:blipFill>
        <p:spPr>
          <a:xfrm>
            <a:off x="16611410" y="0"/>
            <a:ext cx="1647825" cy="2181225"/>
          </a:xfrm>
          <a:prstGeom prst="rect">
            <a:avLst/>
          </a:prstGeom>
        </p:spPr>
      </p:pic>
      <p:sp>
        <p:nvSpPr>
          <p:cNvPr id="585" name="-46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60716" y="3004756"/>
            <a:ext cx="7805738" cy="457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400" spc="-5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Primary Logging</a:t>
            </a:r>
          </a:p>
        </p:txBody>
      </p:sp>
      <p:pic>
        <p:nvPicPr>
          <p:cNvPr id="586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3">
            <a:alphaModFix amt="100000"/>
          </a:blip>
          <a:stretch/>
        </p:blipFill>
        <p:spPr>
          <a:xfrm>
            <a:off x="760666" y="3135058"/>
            <a:ext cx="190351" cy="190351"/>
          </a:xfrm>
          <a:prstGeom prst="rect">
            <a:avLst/>
          </a:prstGeom>
        </p:spPr>
      </p:pic>
      <p:sp>
        <p:nvSpPr>
          <p:cNvPr id="587" name="-407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675066" y="3646265"/>
            <a:ext cx="7291388" cy="819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Collect logs from DCP, GCP, and on-prem apps with standard schema and metadata</a:t>
            </a:r>
          </a:p>
        </p:txBody>
      </p:sp>
      <p:pic>
        <p:nvPicPr>
          <p:cNvPr id="588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5">
            <a:alphaModFix amt="100000"/>
          </a:blip>
          <a:stretch/>
        </p:blipFill>
        <p:spPr>
          <a:xfrm>
            <a:off x="1275011" y="3746153"/>
            <a:ext cx="171301" cy="171301"/>
          </a:xfrm>
          <a:prstGeom prst="rect">
            <a:avLst/>
          </a:prstGeom>
        </p:spPr>
      </p:pic>
      <p:sp>
        <p:nvSpPr>
          <p:cNvPr id="589" name="-489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60716" y="4647152"/>
            <a:ext cx="7805738" cy="457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400" spc="-5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Replicate to Offsite Storage</a:t>
            </a:r>
          </a:p>
        </p:txBody>
      </p:sp>
      <p:pic>
        <p:nvPicPr>
          <p:cNvPr id="590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7">
            <a:alphaModFix amt="100000"/>
          </a:blip>
          <a:stretch/>
        </p:blipFill>
        <p:spPr>
          <a:xfrm>
            <a:off x="760666" y="4777454"/>
            <a:ext cx="190351" cy="190351"/>
          </a:xfrm>
          <a:prstGeom prst="rect">
            <a:avLst/>
          </a:prstGeom>
        </p:spPr>
      </p:pic>
      <p:sp>
        <p:nvSpPr>
          <p:cNvPr id="591" name="-457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675066" y="5288661"/>
            <a:ext cx="7291388" cy="819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Geographically separate storage with encryption and immutability enabled</a:t>
            </a:r>
          </a:p>
        </p:txBody>
      </p:sp>
      <p:pic>
        <p:nvPicPr>
          <p:cNvPr id="592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9">
            <a:alphaModFix amt="100000"/>
          </a:blip>
          <a:stretch/>
        </p:blipFill>
        <p:spPr>
          <a:xfrm>
            <a:off x="1275011" y="5388472"/>
            <a:ext cx="171301" cy="171301"/>
          </a:xfrm>
          <a:prstGeom prst="rect">
            <a:avLst/>
          </a:prstGeom>
        </p:spPr>
      </p:pic>
      <p:sp>
        <p:nvSpPr>
          <p:cNvPr id="593" name="-49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60716" y="6289548"/>
            <a:ext cx="7805738" cy="457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400" spc="-5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Offsite Archive and Analytics</a:t>
            </a:r>
          </a:p>
        </p:txBody>
      </p:sp>
      <p:pic>
        <p:nvPicPr>
          <p:cNvPr id="594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1">
            <a:alphaModFix amt="100000"/>
          </a:blip>
          <a:stretch/>
        </p:blipFill>
        <p:spPr>
          <a:xfrm>
            <a:off x="760666" y="6419850"/>
            <a:ext cx="190351" cy="190351"/>
          </a:xfrm>
          <a:prstGeom prst="rect">
            <a:avLst/>
          </a:prstGeom>
        </p:spPr>
      </p:pic>
      <p:sp>
        <p:nvSpPr>
          <p:cNvPr id="595" name="-46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675066" y="6931057"/>
            <a:ext cx="7291388" cy="819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Archive plus SIEM/analytics pipelines for Splunk ITSI, Dynatrace, Datadog AI</a:t>
            </a:r>
          </a:p>
        </p:txBody>
      </p:sp>
      <p:pic>
        <p:nvPicPr>
          <p:cNvPr id="596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3">
            <a:alphaModFix amt="100000"/>
          </a:blip>
          <a:stretch/>
        </p:blipFill>
        <p:spPr>
          <a:xfrm>
            <a:off x="1275011" y="7030938"/>
            <a:ext cx="171301" cy="171301"/>
          </a:xfrm>
          <a:prstGeom prst="rect">
            <a:avLst/>
          </a:prstGeom>
        </p:spPr>
      </p:pic>
      <p:sp>
        <p:nvSpPr>
          <p:cNvPr id="597" name="-48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60716" y="7931944"/>
            <a:ext cx="7805738" cy="457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400" spc="-5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Read-only Endpoints</a:t>
            </a:r>
          </a:p>
        </p:txBody>
      </p:sp>
      <p:pic>
        <p:nvPicPr>
          <p:cNvPr id="598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5">
            <a:alphaModFix amt="100000"/>
          </a:blip>
          <a:stretch/>
        </p:blipFill>
        <p:spPr>
          <a:xfrm>
            <a:off x="760666" y="8062246"/>
            <a:ext cx="190351" cy="190351"/>
          </a:xfrm>
          <a:prstGeom prst="rect">
            <a:avLst/>
          </a:prstGeom>
        </p:spPr>
      </p:pic>
      <p:sp>
        <p:nvSpPr>
          <p:cNvPr id="599" name="-42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675066" y="8573452"/>
            <a:ext cx="7291388" cy="819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Provide read-only access endpoints for offsite SIEM and downstream consumers</a:t>
            </a:r>
          </a:p>
        </p:txBody>
      </p:sp>
      <p:pic>
        <p:nvPicPr>
          <p:cNvPr id="600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7">
            <a:alphaModFix amt="100000"/>
          </a:blip>
          <a:stretch/>
        </p:blipFill>
        <p:spPr>
          <a:xfrm>
            <a:off x="1275011" y="8673256"/>
            <a:ext cx="171301" cy="171301"/>
          </a:xfrm>
          <a:prstGeom prst="rect">
            <a:avLst/>
          </a:prstGeom>
        </p:spPr>
      </p:pic>
      <p:sp>
        <p:nvSpPr>
          <p:cNvPr id="601" name="-46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718548" y="3004756"/>
            <a:ext cx="7805738" cy="457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400" spc="-5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DR Dashboards and Synthetic Checks</a:t>
            </a:r>
          </a:p>
        </p:txBody>
      </p:sp>
      <p:pic>
        <p:nvPicPr>
          <p:cNvPr id="602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9">
            <a:alphaModFix amt="100000"/>
          </a:blip>
          <a:stretch/>
        </p:blipFill>
        <p:spPr>
          <a:xfrm>
            <a:off x="9318498" y="3135058"/>
            <a:ext cx="190351" cy="190351"/>
          </a:xfrm>
          <a:prstGeom prst="rect">
            <a:avLst/>
          </a:prstGeom>
        </p:spPr>
      </p:pic>
      <p:sp>
        <p:nvSpPr>
          <p:cNvPr id="603" name="-47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232898" y="3646265"/>
            <a:ext cx="7291388" cy="819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Run disaster recovery dashboards and synthetic checks from offsite environment</a:t>
            </a:r>
          </a:p>
        </p:txBody>
      </p:sp>
      <p:pic>
        <p:nvPicPr>
          <p:cNvPr id="604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1">
            <a:alphaModFix amt="100000"/>
          </a:blip>
          <a:stretch/>
        </p:blipFill>
        <p:spPr>
          <a:xfrm>
            <a:off x="9832924" y="3746153"/>
            <a:ext cx="171301" cy="171301"/>
          </a:xfrm>
          <a:prstGeom prst="rect">
            <a:avLst/>
          </a:prstGeom>
        </p:spPr>
      </p:pic>
      <p:sp>
        <p:nvSpPr>
          <p:cNvPr id="605" name="-43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718548" y="4647152"/>
            <a:ext cx="7805738" cy="457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400" spc="-5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Failover Contracts</a:t>
            </a:r>
          </a:p>
        </p:txBody>
      </p:sp>
      <p:pic>
        <p:nvPicPr>
          <p:cNvPr id="606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3">
            <a:alphaModFix amt="100000"/>
          </a:blip>
          <a:stretch/>
        </p:blipFill>
        <p:spPr>
          <a:xfrm>
            <a:off x="9318498" y="4777454"/>
            <a:ext cx="190351" cy="190351"/>
          </a:xfrm>
          <a:prstGeom prst="rect">
            <a:avLst/>
          </a:prstGeom>
        </p:spPr>
      </p:pic>
      <p:sp>
        <p:nvSpPr>
          <p:cNvPr id="607" name="-49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232898" y="5288661"/>
            <a:ext cx="7291388" cy="819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Provider-agnostic ingestion contracts so consumers can failover to offsite endpoints</a:t>
            </a:r>
          </a:p>
        </p:txBody>
      </p:sp>
      <p:pic>
        <p:nvPicPr>
          <p:cNvPr id="608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5">
            <a:alphaModFix amt="100000"/>
          </a:blip>
          <a:stretch/>
        </p:blipFill>
        <p:spPr>
          <a:xfrm>
            <a:off x="9832924" y="5388472"/>
            <a:ext cx="171301" cy="171301"/>
          </a:xfrm>
          <a:prstGeom prst="rect">
            <a:avLst/>
          </a:prstGeom>
        </p:spPr>
      </p:pic>
      <p:sp>
        <p:nvSpPr>
          <p:cNvPr id="609" name="-48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718548" y="6289548"/>
            <a:ext cx="7805738" cy="457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400" spc="-5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Operational Validation</a:t>
            </a:r>
          </a:p>
        </p:txBody>
      </p:sp>
      <p:pic>
        <p:nvPicPr>
          <p:cNvPr id="610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7">
            <a:alphaModFix amt="100000"/>
          </a:blip>
          <a:stretch/>
        </p:blipFill>
        <p:spPr>
          <a:xfrm>
            <a:off x="9318498" y="6419850"/>
            <a:ext cx="190351" cy="190351"/>
          </a:xfrm>
          <a:prstGeom prst="rect">
            <a:avLst/>
          </a:prstGeom>
        </p:spPr>
      </p:pic>
      <p:sp>
        <p:nvSpPr>
          <p:cNvPr id="611" name="-447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232898" y="6931057"/>
            <a:ext cx="7291388" cy="819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131523">
                    <a:alpha val="100000"/>
                  </a:srgbClr>
                </a:solidFill>
                <a:latin typeface="Inter" panose="00000700000000000000" pitchFamily="2" charset="0"/>
              </a:rPr>
              <a:t>Annual failover tests, data integrity validation, and access control parity</a:t>
            </a:r>
          </a:p>
        </p:txBody>
      </p:sp>
      <p:pic>
        <p:nvPicPr>
          <p:cNvPr id="612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9">
            <a:alphaModFix amt="100000"/>
          </a:blip>
          <a:stretch/>
        </p:blipFill>
        <p:spPr>
          <a:xfrm>
            <a:off x="9832924" y="7030938"/>
            <a:ext cx="171301" cy="171301"/>
          </a:xfrm>
          <a:prstGeom prst="rect">
            <a:avLst/>
          </a:prstGeom>
        </p:spPr>
      </p:pic>
      <p:sp>
        <p:nvSpPr>
          <p:cNvPr id="613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726567"/>
            <a:ext cx="13234988" cy="12954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dirty="0">
                <a:solidFill>
                  <a:srgbClr val="131523">
                    <a:alpha val="100000"/>
                  </a:srgbClr>
                </a:solidFill>
                <a:latin typeface="Lexend Medium" panose="00000700000000000000" pitchFamily="2" charset="0"/>
              </a:rPr>
              <a:t>Offsite Consumption Strategy for Application Logging</a:t>
            </a:r>
          </a:p>
        </p:txBody>
      </p:sp>
      <p:sp>
        <p:nvSpPr>
          <p:cNvPr id="615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0666" y="2129980"/>
            <a:ext cx="1323498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4C4C4F">
                    <a:alpha val="80000"/>
                  </a:srgbClr>
                </a:solidFill>
                <a:latin typeface="Inter" panose="00000700000000000000" pitchFamily="2" charset="0"/>
              </a:rPr>
              <a:t>Replicate logs to separate storage with secure, immutable analytics access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143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Exporter Version: 2.6.0.0, docId: 25066756, orderId: 10076274</dc:title>
  <dc:creator>Presentations.AI Exporter</dc:creator>
  <lastModifiedBy>Presentations.AI Exporter</lastModifiedBy>
  <revision>1</revision>
  <dcterms:created xsi:type="dcterms:W3CDTF">2025-12-10T17:54:13.0000000Z</dcterms:created>
  <dcterms:modified xsi:type="dcterms:W3CDTF">2025-12-10T17:54:13.0000000Z</dcterms:modified>
</coreProperties>
</file>