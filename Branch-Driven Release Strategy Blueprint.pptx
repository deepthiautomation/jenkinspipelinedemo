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3.bin" ContentType="image/jpeg"/>
  <Override PartName="/ppt/media/image5.bin" ContentType="image/jpeg"/>
  <Override PartName="/ppt/slides/slide2.xml" ContentType="application/vnd.openxmlformats-officedocument.presentationml.slide+xml"/>
  <Override PartName="/ppt/media/image12.bin" ContentType="image/jpeg"/>
  <Override PartName="/ppt/media/image14.bin" ContentType="image/jpeg"/>
  <Override PartName="/ppt/media/image16.bin" ContentType="image/jpeg"/>
  <Override PartName="/ppt/media/image18.bin" ContentType="image/jpeg"/>
  <Override PartName="/ppt/media/image20.bin" ContentType="image/jpeg"/>
  <Override PartName="/ppt/media/image22.bin" ContentType="image/jpeg"/>
  <Override PartName="/ppt/slides/slide3.xml" ContentType="application/vnd.openxmlformats-officedocument.presentationml.slide+xml"/>
  <Override PartName="/ppt/media/image25.bin" ContentType="image/svg+xml"/>
  <Override PartName="/ppt/slides/slide4.xml" ContentType="application/vnd.openxmlformats-officedocument.presentationml.slide+xml"/>
  <Override PartName="/ppt/media/image29.bin" ContentType="image/svg+xml"/>
  <Override PartName="/ppt/slides/slide5.xml" ContentType="application/vnd.openxmlformats-officedocument.presentationml.slide+xml"/>
  <Override PartName="/ppt/media/image34.bin" ContentType="image/jpeg"/>
  <Override PartName="/ppt/slides/slide6.xml" ContentType="application/vnd.openxmlformats-officedocument.presentationml.slide+xml"/>
  <Override PartName="/ppt/media/image56.bin" ContentType="image/sv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87.bin" ContentType="image/svg+xml"/>
  <Override PartName="/ppt/slides/slide10.xml" ContentType="application/vnd.openxmlformats-officedocument.presentationml.slide+xml"/>
  <Override PartName="/ppt/media/image91.bin" ContentType="image/svg+xml"/>
  <Override PartName="/ppt/media/image93.bin" ContentType="image/svg+xml"/>
  <Override PartName="/ppt/media/image95.bin" ContentType="image/svg+xml"/>
  <Override PartName="/ppt/media/image97.bin" ContentType="image/svg+xml"/>
  <Override PartName="/ppt/media/image99.bin" ContentType="image/svg+xml"/>
  <Override PartName="/ppt/media/image101.bin" ContentType="image/svg+xml"/>
  <Override PartName="/ppt/media/image103.bin" ContentType="image/svg+xml"/>
  <Override PartName="/ppt/media/image105.bin" ContentType="image/svg+xml"/>
  <Override PartName="/ppt/slides/slide11.xml" ContentType="application/vnd.openxmlformats-officedocument.presentationml.slide+xml"/>
  <Override PartName="/ppt/media/image113.bin" ContentType="image/svg+xml"/>
  <Override PartName="/ppt/media/image121.bin" ContentType="image/svg+xml"/>
  <Override PartName="/ppt/media/image129.bin" ContentType="image/svg+xml"/>
  <Override PartName="/ppt/media/image137.bin" ContentType="image/svg+xml"/>
  <Override PartName="/ppt/media/image145.bin" ContentType="image/svg+xml"/>
  <Override PartName="/ppt/slides/slide12.xml" ContentType="application/vnd.openxmlformats-officedocument.presentationml.slide+xml"/>
  <Override PartName="/ppt/media/image152.bin" ContentType="image/svg+xml"/>
  <Override PartName="/ppt/media/image155.bin" ContentType="image/svg+xml"/>
  <Override PartName="/ppt/media/image158.bin" ContentType="image/svg+xml"/>
  <Override PartName="/ppt/media/image161.bin" ContentType="image/svg+xml"/>
  <Override PartName="/ppt/media/image164.bin" ContentType="image/svg+xml"/>
  <Override PartName="/ppt/media/image167.bin" ContentType="image/svg+xml"/>
  <Override PartName="/ppt/media/image170.bin" ContentType="image/svg+xml"/>
  <Override PartName="/ppt/slides/slide13.xml" ContentType="application/vnd.openxmlformats-officedocument.presentationml.slide+xml"/>
  <Override PartName="/ppt/media/image174.bin" ContentType="image/svg+xml"/>
  <Override PartName="/ppt/media/image176.bin" ContentType="image/svg+xml"/>
  <Override PartName="/ppt/media/image178.bin" ContentType="image/svg+xml"/>
  <Override PartName="/ppt/media/image180.bin" ContentType="image/svg+xml"/>
  <Override PartName="/ppt/media/image182.bin" ContentType="image/svg+xml"/>
  <Override PartName="/ppt/media/image184.bin" ContentType="image/svg+xml"/>
  <Override PartName="/ppt/media/image186.bin" ContentType="image/svg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9"/>
    <p:sldId id="321" r:id="rId23"/>
    <p:sldId id="389" r:id="rId57"/>
    <p:sldId id="408" r:id="rId66"/>
    <p:sldId id="423" r:id="rId75"/>
    <p:sldId id="502" r:id="rId123"/>
    <p:sldId id="535" r:id="rId138"/>
    <p:sldId id="571" r:id="rId172"/>
    <p:sldId id="647" r:id="rId190"/>
    <p:sldId id="680" r:id="rId199"/>
    <p:sldId id="748" r:id="rId233"/>
    <p:sldId id="882" r:id="rId312"/>
    <p:sldId id="927" r:id="rId351"/>
    <p:sldId id="991" r:id="rId378"/>
  </p:sldIdLst>
  <p:sldSz cx="18288000" cy="10287000"/>
  <p:notesSz cx="18288000" cy="10287000"/>
  <p:embeddedFontLst>
    <p:embeddedFont>
      <p:font typeface="Lexend Medium" pitchFamily="2" charset="77"/>
      <p:regular r:id="rId6"/>
    </p:embeddedFont>
    <p:embeddedFont>
      <p:font typeface="Inter" pitchFamily="2" charset="77"/>
      <p:regular r:id="rId7"/>
    </p:embeddedFont>
    <p:embeddedFont>
      <p:font typeface="Lexend" pitchFamily="2" charset="7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slide" Target="/ppt/slides/slide1.xml" Id="rId9" /><Relationship Type="http://schemas.openxmlformats.org/officeDocument/2006/relationships/slide" Target="/ppt/slides/slide2.xml" Id="rId23" /><Relationship Type="http://schemas.openxmlformats.org/officeDocument/2006/relationships/slide" Target="/ppt/slides/slide3.xml" Id="rId57" /><Relationship Type="http://schemas.openxmlformats.org/officeDocument/2006/relationships/slide" Target="/ppt/slides/slide4.xml" Id="rId66" /><Relationship Type="http://schemas.openxmlformats.org/officeDocument/2006/relationships/slide" Target="/ppt/slides/slide5.xml" Id="rId75" /><Relationship Type="http://schemas.openxmlformats.org/officeDocument/2006/relationships/slide" Target="/ppt/slides/slide6.xml" Id="rId123" /><Relationship Type="http://schemas.openxmlformats.org/officeDocument/2006/relationships/slide" Target="/ppt/slides/slide7.xml" Id="rId138" /><Relationship Type="http://schemas.openxmlformats.org/officeDocument/2006/relationships/slide" Target="/ppt/slides/slide8.xml" Id="rId172" /><Relationship Type="http://schemas.openxmlformats.org/officeDocument/2006/relationships/slide" Target="/ppt/slides/slide9.xml" Id="rId190" /><Relationship Type="http://schemas.openxmlformats.org/officeDocument/2006/relationships/slide" Target="/ppt/slides/slide10.xml" Id="rId199" /><Relationship Type="http://schemas.openxmlformats.org/officeDocument/2006/relationships/slide" Target="/ppt/slides/slide11.xml" Id="rId233" /><Relationship Type="http://schemas.openxmlformats.org/officeDocument/2006/relationships/slide" Target="/ppt/slides/slide12.xml" Id="rId312" /><Relationship Type="http://schemas.openxmlformats.org/officeDocument/2006/relationships/slide" Target="/ppt/slides/slide13.xml" Id="rId351" /><Relationship Type="http://schemas.openxmlformats.org/officeDocument/2006/relationships/slide" Target="/ppt/slides/slide14.xml" Id="rId378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" /><Relationship Type="http://schemas.openxmlformats.org/officeDocument/2006/relationships/image" Target="/ppt/media/image.bin" Id="rId12" /><Relationship Type="http://schemas.openxmlformats.org/officeDocument/2006/relationships/image" Target="/ppt/media/image2.bin" Id="rId14" /><Relationship Type="http://schemas.openxmlformats.org/officeDocument/2006/relationships/image" Target="/ppt/media/image3.bin" Id="rId16" /><Relationship Type="http://schemas.openxmlformats.org/officeDocument/2006/relationships/image" Target="/ppt/media/image4.bin" Id="rId18" /><Relationship Type="http://schemas.openxmlformats.org/officeDocument/2006/relationships/image" Target="/ppt/media/image5.bin" Id="rId20" /><Relationship Type="http://schemas.openxmlformats.org/officeDocument/2006/relationships/image" Target="/ppt/media/image6.bin" Id="rI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4" /><Relationship Type="http://schemas.openxmlformats.org/officeDocument/2006/relationships/image" Target="/ppt/media/image7.bin" Id="rId26" /><Relationship Type="http://schemas.openxmlformats.org/officeDocument/2006/relationships/image" Target="/ppt/media/image8.bin" Id="rId28" /><Relationship Type="http://schemas.openxmlformats.org/officeDocument/2006/relationships/image" Target="/ppt/media/image9.bin" Id="rId30" /><Relationship Type="http://schemas.openxmlformats.org/officeDocument/2006/relationships/image" Target="/ppt/media/image10.bin" Id="rId32" /><Relationship Type="http://schemas.openxmlformats.org/officeDocument/2006/relationships/image" Target="/ppt/media/image11.bin" Id="rId34" /><Relationship Type="http://schemas.openxmlformats.org/officeDocument/2006/relationships/image" Target="/ppt/media/image12.bin" Id="rId36" /><Relationship Type="http://schemas.openxmlformats.org/officeDocument/2006/relationships/image" Target="/ppt/media/image13.bin" Id="rId38" /><Relationship Type="http://schemas.openxmlformats.org/officeDocument/2006/relationships/image" Target="/ppt/media/image14.bin" Id="rId40" /><Relationship Type="http://schemas.openxmlformats.org/officeDocument/2006/relationships/image" Target="/ppt/media/image15.bin" Id="rId42" /><Relationship Type="http://schemas.openxmlformats.org/officeDocument/2006/relationships/image" Target="/ppt/media/image16.bin" Id="rId44" /><Relationship Type="http://schemas.openxmlformats.org/officeDocument/2006/relationships/image" Target="/ppt/media/image17.bin" Id="rId46" /><Relationship Type="http://schemas.openxmlformats.org/officeDocument/2006/relationships/image" Target="/ppt/media/image18.bin" Id="rId48" /><Relationship Type="http://schemas.openxmlformats.org/officeDocument/2006/relationships/image" Target="/ppt/media/image19.bin" Id="rId50" /><Relationship Type="http://schemas.openxmlformats.org/officeDocument/2006/relationships/image" Target="/ppt/media/image20.bin" Id="rId52" /><Relationship Type="http://schemas.openxmlformats.org/officeDocument/2006/relationships/image" Target="/ppt/media/image21.bin" Id="rId54" /><Relationship Type="http://schemas.openxmlformats.org/officeDocument/2006/relationships/image" Target="/ppt/media/image22.bin" Id="rI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8" /><Relationship Type="http://schemas.openxmlformats.org/officeDocument/2006/relationships/image" Target="/ppt/media/image23.bin" Id="rId60" /><Relationship Type="http://schemas.openxmlformats.org/officeDocument/2006/relationships/image" Target="/ppt/media/image24.bin" Id="rId62" /><Relationship Type="http://schemas.openxmlformats.org/officeDocument/2006/relationships/image" Target="/ppt/media/image25.bin" Id="rId64" /><Relationship Type="http://schemas.openxmlformats.org/officeDocument/2006/relationships/image" Target="/ppt/media/image26.bin" Id="rId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7" /><Relationship Type="http://schemas.openxmlformats.org/officeDocument/2006/relationships/image" Target="/ppt/media/image27.bin" Id="rId69" /><Relationship Type="http://schemas.openxmlformats.org/officeDocument/2006/relationships/image" Target="/ppt/media/image28.bin" Id="rId71" /><Relationship Type="http://schemas.openxmlformats.org/officeDocument/2006/relationships/image" Target="/ppt/media/image29.bin" Id="rId73" /><Relationship Type="http://schemas.openxmlformats.org/officeDocument/2006/relationships/image" Target="/ppt/media/image30.bin" Id="rI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6" /><Relationship Type="http://schemas.openxmlformats.org/officeDocument/2006/relationships/image" Target="/ppt/media/image31.bin" Id="rId78" /><Relationship Type="http://schemas.openxmlformats.org/officeDocument/2006/relationships/image" Target="/ppt/media/image32.bin" Id="rId80" /><Relationship Type="http://schemas.openxmlformats.org/officeDocument/2006/relationships/image" Target="/ppt/media/image33.bin" Id="rId82" /><Relationship Type="http://schemas.openxmlformats.org/officeDocument/2006/relationships/image" Target="/ppt/media/image34.bin" Id="rId84" /><Relationship Type="http://schemas.openxmlformats.org/officeDocument/2006/relationships/image" Target="/ppt/media/image35.bin" Id="rId86" /><Relationship Type="http://schemas.openxmlformats.org/officeDocument/2006/relationships/image" Target="/ppt/media/image36.bin" Id="rId88" /><Relationship Type="http://schemas.openxmlformats.org/officeDocument/2006/relationships/image" Target="/ppt/media/image37.bin" Id="rId90" /><Relationship Type="http://schemas.openxmlformats.org/officeDocument/2006/relationships/image" Target="/ppt/media/image38.bin" Id="rId92" /><Relationship Type="http://schemas.openxmlformats.org/officeDocument/2006/relationships/image" Target="/ppt/media/image39.bin" Id="rId94" /><Relationship Type="http://schemas.openxmlformats.org/officeDocument/2006/relationships/image" Target="/ppt/media/image40.bin" Id="rId96" /><Relationship Type="http://schemas.openxmlformats.org/officeDocument/2006/relationships/image" Target="/ppt/media/image41.bin" Id="rId98" /><Relationship Type="http://schemas.openxmlformats.org/officeDocument/2006/relationships/image" Target="/ppt/media/image42.bin" Id="rId100" /><Relationship Type="http://schemas.openxmlformats.org/officeDocument/2006/relationships/image" Target="/ppt/media/image43.bin" Id="rId102" /><Relationship Type="http://schemas.openxmlformats.org/officeDocument/2006/relationships/image" Target="/ppt/media/image44.bin" Id="rId104" /><Relationship Type="http://schemas.openxmlformats.org/officeDocument/2006/relationships/image" Target="/ppt/media/image45.bin" Id="rId106" /><Relationship Type="http://schemas.openxmlformats.org/officeDocument/2006/relationships/image" Target="/ppt/media/image46.bin" Id="rId108" /><Relationship Type="http://schemas.openxmlformats.org/officeDocument/2006/relationships/image" Target="/ppt/media/image47.bin" Id="rId110" /><Relationship Type="http://schemas.openxmlformats.org/officeDocument/2006/relationships/image" Target="/ppt/media/image48.bin" Id="rId112" /><Relationship Type="http://schemas.openxmlformats.org/officeDocument/2006/relationships/image" Target="/ppt/media/image49.bin" Id="rId114" /><Relationship Type="http://schemas.openxmlformats.org/officeDocument/2006/relationships/image" Target="/ppt/media/image50.bin" Id="rId116" /><Relationship Type="http://schemas.openxmlformats.org/officeDocument/2006/relationships/image" Target="/ppt/media/image51.bin" Id="rId118" /><Relationship Type="http://schemas.openxmlformats.org/officeDocument/2006/relationships/image" Target="/ppt/media/image52.bin" Id="rId120" /><Relationship Type="http://schemas.openxmlformats.org/officeDocument/2006/relationships/image" Target="/ppt/media/image53.bin" Id="rId1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4" /><Relationship Type="http://schemas.openxmlformats.org/officeDocument/2006/relationships/image" Target="/ppt/media/image54.bin" Id="rId126" /><Relationship Type="http://schemas.openxmlformats.org/officeDocument/2006/relationships/image" Target="/ppt/media/image55.bin" Id="rId128" /><Relationship Type="http://schemas.openxmlformats.org/officeDocument/2006/relationships/image" Target="/ppt/media/image56.bin" Id="rId130" /><Relationship Type="http://schemas.openxmlformats.org/officeDocument/2006/relationships/image" Target="/ppt/media/image57.bin" Id="rId131" /><Relationship Type="http://schemas.openxmlformats.org/officeDocument/2006/relationships/image" Target="/ppt/media/image58.bin" Id="rId133" /><Relationship Type="http://schemas.openxmlformats.org/officeDocument/2006/relationships/image" Target="/ppt/media/image59.bin" Id="rId135" /><Relationship Type="http://schemas.openxmlformats.org/officeDocument/2006/relationships/image" Target="/ppt/media/image60.bin" Id="rId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9" /><Relationship Type="http://schemas.openxmlformats.org/officeDocument/2006/relationships/image" Target="/ppt/media/image61.bin" Id="rId141" /><Relationship Type="http://schemas.openxmlformats.org/officeDocument/2006/relationships/image" Target="/ppt/media/image62.bin" Id="rId143" /><Relationship Type="http://schemas.openxmlformats.org/officeDocument/2006/relationships/image" Target="/ppt/media/image63.bin" Id="rId145" /><Relationship Type="http://schemas.openxmlformats.org/officeDocument/2006/relationships/image" Target="/ppt/media/image64.bin" Id="rId147" /><Relationship Type="http://schemas.openxmlformats.org/officeDocument/2006/relationships/image" Target="/ppt/media/image65.bin" Id="rId149" /><Relationship Type="http://schemas.openxmlformats.org/officeDocument/2006/relationships/image" Target="/ppt/media/image66.bin" Id="rId151" /><Relationship Type="http://schemas.openxmlformats.org/officeDocument/2006/relationships/image" Target="/ppt/media/image67.bin" Id="rId153" /><Relationship Type="http://schemas.openxmlformats.org/officeDocument/2006/relationships/image" Target="/ppt/media/image68.bin" Id="rId155" /><Relationship Type="http://schemas.openxmlformats.org/officeDocument/2006/relationships/image" Target="/ppt/media/image69.bin" Id="rId157" /><Relationship Type="http://schemas.openxmlformats.org/officeDocument/2006/relationships/image" Target="/ppt/media/image70.bin" Id="rId159" /><Relationship Type="http://schemas.openxmlformats.org/officeDocument/2006/relationships/image" Target="/ppt/media/image71.bin" Id="rId161" /><Relationship Type="http://schemas.openxmlformats.org/officeDocument/2006/relationships/image" Target="/ppt/media/image72.bin" Id="rId163" /><Relationship Type="http://schemas.openxmlformats.org/officeDocument/2006/relationships/image" Target="/ppt/media/image73.bin" Id="rId165" /><Relationship Type="http://schemas.openxmlformats.org/officeDocument/2006/relationships/image" Target="/ppt/media/image74.bin" Id="rId167" /><Relationship Type="http://schemas.openxmlformats.org/officeDocument/2006/relationships/image" Target="/ppt/media/image75.bin" Id="rId169" /><Relationship Type="http://schemas.openxmlformats.org/officeDocument/2006/relationships/image" Target="/ppt/media/image76.bin" Id="rId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73" /><Relationship Type="http://schemas.openxmlformats.org/officeDocument/2006/relationships/image" Target="/ppt/media/image77.bin" Id="rId175" /><Relationship Type="http://schemas.openxmlformats.org/officeDocument/2006/relationships/image" Target="/ppt/media/image78.bin" Id="rId177" /><Relationship Type="http://schemas.openxmlformats.org/officeDocument/2006/relationships/image" Target="/ppt/media/image79.bin" Id="rId179" /><Relationship Type="http://schemas.openxmlformats.org/officeDocument/2006/relationships/image" Target="/ppt/media/image80.bin" Id="rId181" /><Relationship Type="http://schemas.openxmlformats.org/officeDocument/2006/relationships/image" Target="/ppt/media/image81.bin" Id="rId183" /><Relationship Type="http://schemas.openxmlformats.org/officeDocument/2006/relationships/image" Target="/ppt/media/image82.bin" Id="rId185" /><Relationship Type="http://schemas.openxmlformats.org/officeDocument/2006/relationships/image" Target="/ppt/media/image83.bin" Id="rId187" /><Relationship Type="http://schemas.openxmlformats.org/officeDocument/2006/relationships/image" Target="/ppt/media/image84.bin" Id="rId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91" /><Relationship Type="http://schemas.openxmlformats.org/officeDocument/2006/relationships/image" Target="/ppt/media/image85.bin" Id="rId193" /><Relationship Type="http://schemas.openxmlformats.org/officeDocument/2006/relationships/image" Target="/ppt/media/image86.bin" Id="rId195" /><Relationship Type="http://schemas.openxmlformats.org/officeDocument/2006/relationships/image" Target="/ppt/media/image87.bin" Id="rId197" /><Relationship Type="http://schemas.openxmlformats.org/officeDocument/2006/relationships/image" Target="/ppt/media/image88.bin" Id="rId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00" /><Relationship Type="http://schemas.openxmlformats.org/officeDocument/2006/relationships/image" Target="/ppt/media/image89.bin" Id="rId202" /><Relationship Type="http://schemas.openxmlformats.org/officeDocument/2006/relationships/image" Target="/ppt/media/image90.bin" Id="rId204" /><Relationship Type="http://schemas.openxmlformats.org/officeDocument/2006/relationships/image" Target="/ppt/media/image91.bin" Id="rId206" /><Relationship Type="http://schemas.openxmlformats.org/officeDocument/2006/relationships/image" Target="/ppt/media/image92.bin" Id="rId207" /><Relationship Type="http://schemas.openxmlformats.org/officeDocument/2006/relationships/image" Target="/ppt/media/image93.bin" Id="rId209" /><Relationship Type="http://schemas.openxmlformats.org/officeDocument/2006/relationships/image" Target="/ppt/media/image94.bin" Id="rId210" /><Relationship Type="http://schemas.openxmlformats.org/officeDocument/2006/relationships/image" Target="/ppt/media/image95.bin" Id="rId212" /><Relationship Type="http://schemas.openxmlformats.org/officeDocument/2006/relationships/image" Target="/ppt/media/image96.bin" Id="rId213" /><Relationship Type="http://schemas.openxmlformats.org/officeDocument/2006/relationships/image" Target="/ppt/media/image97.bin" Id="rId215" /><Relationship Type="http://schemas.openxmlformats.org/officeDocument/2006/relationships/image" Target="/ppt/media/image98.bin" Id="rId216" /><Relationship Type="http://schemas.openxmlformats.org/officeDocument/2006/relationships/image" Target="/ppt/media/image99.bin" Id="rId218" /><Relationship Type="http://schemas.openxmlformats.org/officeDocument/2006/relationships/image" Target="/ppt/media/image100.bin" Id="rId219" /><Relationship Type="http://schemas.openxmlformats.org/officeDocument/2006/relationships/image" Target="/ppt/media/image101.bin" Id="rId221" /><Relationship Type="http://schemas.openxmlformats.org/officeDocument/2006/relationships/image" Target="/ppt/media/image102.bin" Id="rId222" /><Relationship Type="http://schemas.openxmlformats.org/officeDocument/2006/relationships/image" Target="/ppt/media/image103.bin" Id="rId224" /><Relationship Type="http://schemas.openxmlformats.org/officeDocument/2006/relationships/image" Target="/ppt/media/image104.bin" Id="rId225" /><Relationship Type="http://schemas.openxmlformats.org/officeDocument/2006/relationships/image" Target="/ppt/media/image105.bin" Id="rId227" /><Relationship Type="http://schemas.openxmlformats.org/officeDocument/2006/relationships/image" Target="/ppt/media/image106.bin" Id="rId228" /><Relationship Type="http://schemas.openxmlformats.org/officeDocument/2006/relationships/image" Target="/ppt/media/image107.bin" Id="rId230" /><Relationship Type="http://schemas.openxmlformats.org/officeDocument/2006/relationships/image" Target="/ppt/media/image108.bin" Id="rId2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4" /><Relationship Type="http://schemas.openxmlformats.org/officeDocument/2006/relationships/image" Target="/ppt/media/image109.bin" Id="rId236" /><Relationship Type="http://schemas.openxmlformats.org/officeDocument/2006/relationships/image" Target="/ppt/media/image110.bin" Id="rId238" /><Relationship Type="http://schemas.openxmlformats.org/officeDocument/2006/relationships/image" Target="/ppt/media/image111.bin" Id="rId240" /><Relationship Type="http://schemas.openxmlformats.org/officeDocument/2006/relationships/image" Target="/ppt/media/image112.bin" Id="rId242" /><Relationship Type="http://schemas.openxmlformats.org/officeDocument/2006/relationships/image" Target="/ppt/media/image113.bin" Id="rId244" /><Relationship Type="http://schemas.openxmlformats.org/officeDocument/2006/relationships/image" Target="/ppt/media/image114.bin" Id="rId245" /><Relationship Type="http://schemas.openxmlformats.org/officeDocument/2006/relationships/image" Target="/ppt/media/image115.bin" Id="rId247" /><Relationship Type="http://schemas.openxmlformats.org/officeDocument/2006/relationships/image" Target="/ppt/media/image116.bin" Id="rId249" /><Relationship Type="http://schemas.openxmlformats.org/officeDocument/2006/relationships/image" Target="/ppt/media/image117.bin" Id="rId251" /><Relationship Type="http://schemas.openxmlformats.org/officeDocument/2006/relationships/image" Target="/ppt/media/image118.bin" Id="rId253" /><Relationship Type="http://schemas.openxmlformats.org/officeDocument/2006/relationships/image" Target="/ppt/media/image119.bin" Id="rId255" /><Relationship Type="http://schemas.openxmlformats.org/officeDocument/2006/relationships/image" Target="/ppt/media/image120.bin" Id="rId257" /><Relationship Type="http://schemas.openxmlformats.org/officeDocument/2006/relationships/image" Target="/ppt/media/image121.bin" Id="rId259" /><Relationship Type="http://schemas.openxmlformats.org/officeDocument/2006/relationships/image" Target="/ppt/media/image122.bin" Id="rId260" /><Relationship Type="http://schemas.openxmlformats.org/officeDocument/2006/relationships/image" Target="/ppt/media/image123.bin" Id="rId262" /><Relationship Type="http://schemas.openxmlformats.org/officeDocument/2006/relationships/image" Target="/ppt/media/image124.bin" Id="rId264" /><Relationship Type="http://schemas.openxmlformats.org/officeDocument/2006/relationships/image" Target="/ppt/media/image125.bin" Id="rId266" /><Relationship Type="http://schemas.openxmlformats.org/officeDocument/2006/relationships/image" Target="/ppt/media/image126.bin" Id="rId268" /><Relationship Type="http://schemas.openxmlformats.org/officeDocument/2006/relationships/image" Target="/ppt/media/image127.bin" Id="rId270" /><Relationship Type="http://schemas.openxmlformats.org/officeDocument/2006/relationships/image" Target="/ppt/media/image128.bin" Id="rId272" /><Relationship Type="http://schemas.openxmlformats.org/officeDocument/2006/relationships/image" Target="/ppt/media/image129.bin" Id="rId274" /><Relationship Type="http://schemas.openxmlformats.org/officeDocument/2006/relationships/image" Target="/ppt/media/image130.bin" Id="rId275" /><Relationship Type="http://schemas.openxmlformats.org/officeDocument/2006/relationships/image" Target="/ppt/media/image131.bin" Id="rId277" /><Relationship Type="http://schemas.openxmlformats.org/officeDocument/2006/relationships/image" Target="/ppt/media/image132.bin" Id="rId279" /><Relationship Type="http://schemas.openxmlformats.org/officeDocument/2006/relationships/image" Target="/ppt/media/image133.bin" Id="rId281" /><Relationship Type="http://schemas.openxmlformats.org/officeDocument/2006/relationships/image" Target="/ppt/media/image134.bin" Id="rId283" /><Relationship Type="http://schemas.openxmlformats.org/officeDocument/2006/relationships/image" Target="/ppt/media/image135.bin" Id="rId285" /><Relationship Type="http://schemas.openxmlformats.org/officeDocument/2006/relationships/image" Target="/ppt/media/image136.bin" Id="rId287" /><Relationship Type="http://schemas.openxmlformats.org/officeDocument/2006/relationships/image" Target="/ppt/media/image137.bin" Id="rId289" /><Relationship Type="http://schemas.openxmlformats.org/officeDocument/2006/relationships/image" Target="/ppt/media/image138.bin" Id="rId290" /><Relationship Type="http://schemas.openxmlformats.org/officeDocument/2006/relationships/image" Target="/ppt/media/image139.bin" Id="rId292" /><Relationship Type="http://schemas.openxmlformats.org/officeDocument/2006/relationships/image" Target="/ppt/media/image140.bin" Id="rId294" /><Relationship Type="http://schemas.openxmlformats.org/officeDocument/2006/relationships/image" Target="/ppt/media/image141.bin" Id="rId296" /><Relationship Type="http://schemas.openxmlformats.org/officeDocument/2006/relationships/image" Target="/ppt/media/image142.bin" Id="rId298" /><Relationship Type="http://schemas.openxmlformats.org/officeDocument/2006/relationships/image" Target="/ppt/media/image143.bin" Id="rId300" /><Relationship Type="http://schemas.openxmlformats.org/officeDocument/2006/relationships/image" Target="/ppt/media/image144.bin" Id="rId302" /><Relationship Type="http://schemas.openxmlformats.org/officeDocument/2006/relationships/image" Target="/ppt/media/image145.bin" Id="rId304" /><Relationship Type="http://schemas.openxmlformats.org/officeDocument/2006/relationships/image" Target="/ppt/media/image146.bin" Id="rId305" /><Relationship Type="http://schemas.openxmlformats.org/officeDocument/2006/relationships/image" Target="/ppt/media/image147.bin" Id="rId307" /><Relationship Type="http://schemas.openxmlformats.org/officeDocument/2006/relationships/image" Target="/ppt/media/image148.bin" Id="rId309" /><Relationship Type="http://schemas.openxmlformats.org/officeDocument/2006/relationships/image" Target="/ppt/media/image149.bin" Id="rId3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13" /><Relationship Type="http://schemas.openxmlformats.org/officeDocument/2006/relationships/image" Target="/ppt/media/image150.bin" Id="rId315" /><Relationship Type="http://schemas.openxmlformats.org/officeDocument/2006/relationships/image" Target="/ppt/media/image151.bin" Id="rId317" /><Relationship Type="http://schemas.openxmlformats.org/officeDocument/2006/relationships/image" Target="/ppt/media/image152.bin" Id="rId319" /><Relationship Type="http://schemas.openxmlformats.org/officeDocument/2006/relationships/image" Target="/ppt/media/image153.bin" Id="rId320" /><Relationship Type="http://schemas.openxmlformats.org/officeDocument/2006/relationships/image" Target="/ppt/media/image154.bin" Id="rId322" /><Relationship Type="http://schemas.openxmlformats.org/officeDocument/2006/relationships/image" Target="/ppt/media/image155.bin" Id="rId324" /><Relationship Type="http://schemas.openxmlformats.org/officeDocument/2006/relationships/image" Target="/ppt/media/image156.bin" Id="rId325" /><Relationship Type="http://schemas.openxmlformats.org/officeDocument/2006/relationships/image" Target="/ppt/media/image157.bin" Id="rId327" /><Relationship Type="http://schemas.openxmlformats.org/officeDocument/2006/relationships/image" Target="/ppt/media/image158.bin" Id="rId329" /><Relationship Type="http://schemas.openxmlformats.org/officeDocument/2006/relationships/image" Target="/ppt/media/image159.bin" Id="rId330" /><Relationship Type="http://schemas.openxmlformats.org/officeDocument/2006/relationships/image" Target="/ppt/media/image160.bin" Id="rId332" /><Relationship Type="http://schemas.openxmlformats.org/officeDocument/2006/relationships/image" Target="/ppt/media/image161.bin" Id="rId334" /><Relationship Type="http://schemas.openxmlformats.org/officeDocument/2006/relationships/image" Target="/ppt/media/image162.bin" Id="rId335" /><Relationship Type="http://schemas.openxmlformats.org/officeDocument/2006/relationships/image" Target="/ppt/media/image163.bin" Id="rId337" /><Relationship Type="http://schemas.openxmlformats.org/officeDocument/2006/relationships/image" Target="/ppt/media/image164.bin" Id="rId339" /><Relationship Type="http://schemas.openxmlformats.org/officeDocument/2006/relationships/image" Target="/ppt/media/image165.bin" Id="rId340" /><Relationship Type="http://schemas.openxmlformats.org/officeDocument/2006/relationships/image" Target="/ppt/media/image166.bin" Id="rId342" /><Relationship Type="http://schemas.openxmlformats.org/officeDocument/2006/relationships/image" Target="/ppt/media/image167.bin" Id="rId344" /><Relationship Type="http://schemas.openxmlformats.org/officeDocument/2006/relationships/image" Target="/ppt/media/image168.bin" Id="rId345" /><Relationship Type="http://schemas.openxmlformats.org/officeDocument/2006/relationships/image" Target="/ppt/media/image169.bin" Id="rId347" /><Relationship Type="http://schemas.openxmlformats.org/officeDocument/2006/relationships/image" Target="/ppt/media/image170.bin" Id="rId349" /><Relationship Type="http://schemas.openxmlformats.org/officeDocument/2006/relationships/image" Target="/ppt/media/image171.bin" Id="rId3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52" /><Relationship Type="http://schemas.openxmlformats.org/officeDocument/2006/relationships/image" Target="/ppt/media/image172.bin" Id="rId354" /><Relationship Type="http://schemas.openxmlformats.org/officeDocument/2006/relationships/image" Target="/ppt/media/image173.bin" Id="rId356" /><Relationship Type="http://schemas.openxmlformats.org/officeDocument/2006/relationships/image" Target="/ppt/media/image174.bin" Id="rId358" /><Relationship Type="http://schemas.openxmlformats.org/officeDocument/2006/relationships/image" Target="/ppt/media/image175.bin" Id="rId359" /><Relationship Type="http://schemas.openxmlformats.org/officeDocument/2006/relationships/image" Target="/ppt/media/image176.bin" Id="rId361" /><Relationship Type="http://schemas.openxmlformats.org/officeDocument/2006/relationships/image" Target="/ppt/media/image177.bin" Id="rId362" /><Relationship Type="http://schemas.openxmlformats.org/officeDocument/2006/relationships/image" Target="/ppt/media/image178.bin" Id="rId364" /><Relationship Type="http://schemas.openxmlformats.org/officeDocument/2006/relationships/image" Target="/ppt/media/image179.bin" Id="rId365" /><Relationship Type="http://schemas.openxmlformats.org/officeDocument/2006/relationships/image" Target="/ppt/media/image180.bin" Id="rId367" /><Relationship Type="http://schemas.openxmlformats.org/officeDocument/2006/relationships/image" Target="/ppt/media/image181.bin" Id="rId368" /><Relationship Type="http://schemas.openxmlformats.org/officeDocument/2006/relationships/image" Target="/ppt/media/image182.bin" Id="rId370" /><Relationship Type="http://schemas.openxmlformats.org/officeDocument/2006/relationships/image" Target="/ppt/media/image183.bin" Id="rId371" /><Relationship Type="http://schemas.openxmlformats.org/officeDocument/2006/relationships/image" Target="/ppt/media/image184.bin" Id="rId373" /><Relationship Type="http://schemas.openxmlformats.org/officeDocument/2006/relationships/image" Target="/ppt/media/image185.bin" Id="rId374" /><Relationship Type="http://schemas.openxmlformats.org/officeDocument/2006/relationships/image" Target="/ppt/media/image186.bin" Id="rId376" /><Relationship Type="http://schemas.openxmlformats.org/officeDocument/2006/relationships/image" Target="/ppt/media/image187.bin" Id="rId3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79" /><Relationship Type="http://schemas.openxmlformats.org/officeDocument/2006/relationships/image" Target="/ppt/media/image188.bin" Id="rId381" /><Relationship Type="http://schemas.openxmlformats.org/officeDocument/2006/relationships/image" Target="/ppt/media/image189.bin" Id="rId383" /><Relationship Type="http://schemas.openxmlformats.org/officeDocument/2006/relationships/image" Target="/ppt/media/image190.bin" Id="rId385" /><Relationship Type="http://schemas.openxmlformats.org/officeDocument/2006/relationships/image" Target="/ppt/media/image191.bin" Id="rId387" /><Relationship Type="http://schemas.openxmlformats.org/officeDocument/2006/relationships/image" Target="/ppt/media/image192.bin" Id="rId389" /><Relationship Type="http://schemas.openxmlformats.org/officeDocument/2006/relationships/image" Target="/ppt/media/image193.bin" Id="rId391" /><Relationship Type="http://schemas.openxmlformats.org/officeDocument/2006/relationships/image" Target="/ppt/media/image194.bin" Id="rId393" /><Relationship Type="http://schemas.openxmlformats.org/officeDocument/2006/relationships/image" Target="/ppt/media/image195.bin" Id="rId395" /><Relationship Type="http://schemas.openxmlformats.org/officeDocument/2006/relationships/image" Target="/ppt/media/image196.bin" Id="rId397" /><Relationship Type="http://schemas.openxmlformats.org/officeDocument/2006/relationships/image" Target="/ppt/media/image197.bin" Id="rId399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 amt="100000"/>
          </a:blip>
          <a:stretch/>
        </p:blipFill>
        <p:spPr>
          <a:xfrm>
            <a:off x="3315593" y="0"/>
            <a:ext cx="14972405" cy="10287000"/>
          </a:xfrm>
          <a:prstGeom prst="rect">
            <a:avLst/>
          </a:prstGeom>
        </p:spPr>
      </p:pic>
      <p:pic>
        <p:nvPicPr>
          <p:cNvPr id="30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6">
            <a:alphaModFix amt="10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 amt="6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sp>
        <p:nvSpPr>
          <p:cNvPr id="308" name="Presenter Name-42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7432358"/>
            <a:ext cx="15273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Skandan </a:t>
            </a:r>
          </a:p>
        </p:txBody>
      </p:sp>
      <p:sp>
        <p:nvSpPr>
          <p:cNvPr id="310" name="Presenter Designation-48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7752398"/>
            <a:ext cx="152733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AI/ML Engineer</a:t>
            </a:r>
          </a:p>
        </p:txBody>
      </p:sp>
      <p:pic>
        <p:nvPicPr>
          <p:cNvPr id="312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0">
            <a:alphaModFix amt="100000"/>
          </a:blip>
          <a:stretch/>
        </p:blipFill>
        <p:spPr>
          <a:xfrm>
            <a:off x="1523905" y="6365748"/>
            <a:ext cx="876300" cy="876300"/>
          </a:xfrm>
          <a:prstGeom prst="rect">
            <a:avLst/>
          </a:prstGeom>
        </p:spPr>
      </p:pic>
      <p:pic>
        <p:nvPicPr>
          <p:cNvPr id="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alphaModFix amt="100000"/>
          </a:blip>
          <a:stretch/>
        </p:blipFill>
        <p:spPr>
          <a:xfrm>
            <a:off x="2137315" y="6979158"/>
            <a:ext cx="266700" cy="266700"/>
          </a:xfrm>
          <a:prstGeom prst="rect">
            <a:avLst/>
          </a:prstGeom>
        </p:spPr>
      </p:pic>
      <p:sp>
        <p:nvSpPr>
          <p:cNvPr id="31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2915602"/>
            <a:ext cx="12225338" cy="1676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From environment-driven to </a:t>
            </a:r>
            <a:r>
              <a:rPr lang="en-US" sz="5400" b="1" dirty="0">
                <a:solidFill>
                  <a:srgbClr val="FFFFFF"/>
                </a:solidFill>
                <a:latin typeface="Lexend Medium" panose="00000700000000000000" pitchFamily="2" charset="0"/>
              </a:rPr>
              <a:t>branch-driven</a:t>
            </a:r>
            <a:r>
              <a:rPr lang="en-US" sz="5400" dirty="0">
                <a:solidFill>
                  <a:srgbClr val="FFFFFF"/>
                </a:solidFill>
                <a:latin typeface="Lexend Medium" panose="00000700000000000000" pitchFamily="2" charset="0"/>
              </a:rPr>
              <a:t> ALM</a:t>
            </a:r>
          </a:p>
        </p:txBody>
      </p:sp>
      <p:sp>
        <p:nvSpPr>
          <p:cNvPr id="31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4692872"/>
            <a:ext cx="12225338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Power Platform and GitHub CI/CD blueprint</a:t>
            </a:r>
            <a:r>
              <a:rPr lang="en-US" sz="2100" spc="-4" dirty="0">
                <a:solidFill>
                  <a:srgbClr val="FFFFFF"/>
                </a:solidFill>
                <a:latin typeface="Inter" panose="00000700000000000000" pitchFamily="2" charset="0"/>
              </a:rPr>
              <a:t>Translate environment-first flows into branch-defined artifacts, pipelines, and an emergency hotfix lane for repeatable releases.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alphaModFix amt="100000"/>
          </a:blip>
          <a:stretch/>
        </p:blipFill>
        <p:spPr>
          <a:xfrm>
            <a:off x="760661" y="2608957"/>
            <a:ext cx="190500" cy="190500"/>
          </a:xfrm>
          <a:prstGeom prst="rect">
            <a:avLst/>
          </a:prstGeom>
        </p:spPr>
      </p:pic>
      <p:pic>
        <p:nvPicPr>
          <p:cNvPr id="326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2">
            <a:alphaModFix amt="100000"/>
          </a:blip>
          <a:stretch/>
        </p:blipFill>
        <p:spPr>
          <a:xfrm>
            <a:off x="760666" y="2609088"/>
            <a:ext cx="971550" cy="971550"/>
          </a:xfrm>
          <a:prstGeom prst="rect">
            <a:avLst/>
          </a:prstGeom>
        </p:spPr>
      </p:pic>
      <p:sp>
        <p:nvSpPr>
          <p:cNvPr id="32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889153"/>
            <a:ext cx="2738438" cy="561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Dev env is the central source of truth</a:t>
            </a:r>
          </a:p>
        </p:txBody>
      </p:sp>
      <p:sp>
        <p:nvSpPr>
          <p:cNvPr id="33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475798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 drives what is exported and promoted</a:t>
            </a:r>
          </a:p>
        </p:txBody>
      </p:sp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 amt="100000"/>
          </a:blip>
          <a:stretch/>
        </p:blipFill>
        <p:spPr>
          <a:xfrm>
            <a:off x="3774728" y="2608957"/>
            <a:ext cx="190500" cy="190500"/>
          </a:xfrm>
          <a:prstGeom prst="rect">
            <a:avLst/>
          </a:prstGeom>
        </p:spPr>
      </p:pic>
      <p:pic>
        <p:nvPicPr>
          <p:cNvPr id="334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6">
            <a:alphaModFix amt="100000"/>
          </a:blip>
          <a:stretch/>
        </p:blipFill>
        <p:spPr>
          <a:xfrm>
            <a:off x="3774853" y="2609088"/>
            <a:ext cx="971550" cy="971550"/>
          </a:xfrm>
          <a:prstGeom prst="rect">
            <a:avLst/>
          </a:prstGeom>
        </p:spPr>
      </p:pic>
      <p:sp>
        <p:nvSpPr>
          <p:cNvPr id="33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74853" y="3889153"/>
            <a:ext cx="27384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Replace pipeline creates temp solution in Dev</a:t>
            </a:r>
          </a:p>
        </p:txBody>
      </p:sp>
      <p:sp>
        <p:nvSpPr>
          <p:cNvPr id="33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74853" y="4750022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Temporary solution generated in Dev environment</a:t>
            </a:r>
          </a:p>
        </p:txBody>
      </p:sp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alphaModFix amt="100000"/>
          </a:blip>
          <a:stretch/>
        </p:blipFill>
        <p:spPr>
          <a:xfrm>
            <a:off x="6788944" y="2608957"/>
            <a:ext cx="190500" cy="190500"/>
          </a:xfrm>
          <a:prstGeom prst="rect">
            <a:avLst/>
          </a:prstGeom>
        </p:spPr>
      </p:pic>
      <p:pic>
        <p:nvPicPr>
          <p:cNvPr id="342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0">
            <a:alphaModFix amt="100000"/>
          </a:blip>
          <a:stretch/>
        </p:blipFill>
        <p:spPr>
          <a:xfrm>
            <a:off x="6788944" y="2609088"/>
            <a:ext cx="971550" cy="971550"/>
          </a:xfrm>
          <a:prstGeom prst="rect">
            <a:avLst/>
          </a:prstGeom>
        </p:spPr>
      </p:pic>
      <p:sp>
        <p:nvSpPr>
          <p:cNvPr id="34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8944" y="3889153"/>
            <a:ext cx="27384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Developers make changes directly in Dev env</a:t>
            </a:r>
          </a:p>
        </p:txBody>
      </p:sp>
      <p:sp>
        <p:nvSpPr>
          <p:cNvPr id="34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8944" y="4750022"/>
            <a:ext cx="2738438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Work happens inside the Dev environment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alphaModFix amt="100000"/>
          </a:blip>
          <a:stretch/>
        </p:blipFill>
        <p:spPr>
          <a:xfrm>
            <a:off x="9803016" y="2608957"/>
            <a:ext cx="190500" cy="190500"/>
          </a:xfrm>
          <a:prstGeom prst="rect">
            <a:avLst/>
          </a:prstGeom>
        </p:spPr>
      </p:pic>
      <p:pic>
        <p:nvPicPr>
          <p:cNvPr id="350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4">
            <a:alphaModFix amt="100000"/>
          </a:blip>
          <a:stretch/>
        </p:blipFill>
        <p:spPr>
          <a:xfrm>
            <a:off x="9803130" y="2609088"/>
            <a:ext cx="971550" cy="971550"/>
          </a:xfrm>
          <a:prstGeom prst="rect">
            <a:avLst/>
          </a:prstGeom>
        </p:spPr>
      </p:pic>
      <p:sp>
        <p:nvSpPr>
          <p:cNvPr id="35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03130" y="3889153"/>
            <a:ext cx="27384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Unpack pipeline exports from Dev, unpacks, commits to local branch then merged to master</a:t>
            </a:r>
          </a:p>
        </p:txBody>
      </p:sp>
      <p:sp>
        <p:nvSpPr>
          <p:cNvPr id="35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03130" y="5298567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Export, unpack, commit to developer local branch, then merge</a:t>
            </a:r>
          </a:p>
        </p:txBody>
      </p:sp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alphaModFix amt="100000"/>
          </a:blip>
          <a:stretch/>
        </p:blipFill>
        <p:spPr>
          <a:xfrm>
            <a:off x="760661" y="6066532"/>
            <a:ext cx="190500" cy="190500"/>
          </a:xfrm>
          <a:prstGeom prst="rect">
            <a:avLst/>
          </a:prstGeom>
        </p:spPr>
      </p:pic>
      <p:pic>
        <p:nvPicPr>
          <p:cNvPr id="358" name="imag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8">
            <a:alphaModFix amt="100000"/>
          </a:blip>
          <a:stretch/>
        </p:blipFill>
        <p:spPr>
          <a:xfrm>
            <a:off x="760666" y="6066568"/>
            <a:ext cx="971550" cy="971550"/>
          </a:xfrm>
          <a:prstGeom prst="rect">
            <a:avLst/>
          </a:prstGeom>
        </p:spPr>
      </p:pic>
      <p:sp>
        <p:nvSpPr>
          <p:cNvPr id="36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346632"/>
            <a:ext cx="27384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Pack pipeline exports from Dev and publishes to Dev env</a:t>
            </a:r>
          </a:p>
        </p:txBody>
      </p:sp>
      <p:sp>
        <p:nvSpPr>
          <p:cNvPr id="36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8207502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Export again and publish back to Dev environment</a:t>
            </a:r>
          </a:p>
        </p:txBody>
      </p:sp>
      <p:pic>
        <p:nvPicPr>
          <p:cNvPr id="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alphaModFix amt="100000"/>
          </a:blip>
          <a:stretch/>
        </p:blipFill>
        <p:spPr>
          <a:xfrm>
            <a:off x="3774728" y="6066532"/>
            <a:ext cx="190500" cy="190500"/>
          </a:xfrm>
          <a:prstGeom prst="rect">
            <a:avLst/>
          </a:prstGeom>
        </p:spPr>
      </p:pic>
      <p:pic>
        <p:nvPicPr>
          <p:cNvPr id="366" name="image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">
            <a:alphaModFix amt="100000"/>
          </a:blip>
          <a:stretch/>
        </p:blipFill>
        <p:spPr>
          <a:xfrm>
            <a:off x="3774853" y="6066568"/>
            <a:ext cx="971550" cy="971550"/>
          </a:xfrm>
          <a:prstGeom prst="rect">
            <a:avLst/>
          </a:prstGeom>
        </p:spPr>
      </p:pic>
      <p:sp>
        <p:nvSpPr>
          <p:cNvPr id="36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74853" y="7346632"/>
            <a:ext cx="27384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CD pipeline takes exported artifact from Dev env and promotes to SIT then UAT then PreProd then Prod</a:t>
            </a:r>
          </a:p>
        </p:txBody>
      </p:sp>
      <p:sp>
        <p:nvSpPr>
          <p:cNvPr id="370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74853" y="8756047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Promotion sequence: SIT, UAT, PreProd, Prod</a:t>
            </a:r>
          </a:p>
        </p:txBody>
      </p:sp>
      <p:pic>
        <p:nvPicPr>
          <p:cNvPr id="3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">
            <a:alphaModFix amt="100000"/>
          </a:blip>
          <a:stretch/>
        </p:blipFill>
        <p:spPr>
          <a:xfrm>
            <a:off x="6788944" y="6066532"/>
            <a:ext cx="190500" cy="190500"/>
          </a:xfrm>
          <a:prstGeom prst="rect">
            <a:avLst/>
          </a:prstGeom>
        </p:spPr>
      </p:pic>
      <p:pic>
        <p:nvPicPr>
          <p:cNvPr id="374" name="imageNod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6">
            <a:alphaModFix amt="100000"/>
          </a:blip>
          <a:stretch/>
        </p:blipFill>
        <p:spPr>
          <a:xfrm>
            <a:off x="6788944" y="6066568"/>
            <a:ext cx="971550" cy="971550"/>
          </a:xfrm>
          <a:prstGeom prst="rect">
            <a:avLst/>
          </a:prstGeom>
        </p:spPr>
      </p:pic>
      <p:sp>
        <p:nvSpPr>
          <p:cNvPr id="376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8944" y="7346632"/>
            <a:ext cx="27384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Git used primarily for history, not authoritative artifact</a:t>
            </a:r>
          </a:p>
        </p:txBody>
      </p:sp>
      <p:sp>
        <p:nvSpPr>
          <p:cNvPr id="378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88944" y="8207502"/>
            <a:ext cx="27384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05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Git records history; Dev environment is authoritative</a:t>
            </a:r>
          </a:p>
        </p:txBody>
      </p:sp>
      <p:sp>
        <p:nvSpPr>
          <p:cNvPr id="38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4693444"/>
            <a:ext cx="4557712" cy="2019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Diagram notes: Dev env at center with arrows to Unpack, Pack, CD</a:t>
            </a:r>
          </a:p>
        </p:txBody>
      </p:sp>
      <p:sp>
        <p:nvSpPr>
          <p:cNvPr id="38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69526" y="6819328"/>
            <a:ext cx="45577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Annotate: Env = source of truth</a:t>
            </a:r>
          </a:p>
        </p:txBody>
      </p:sp>
      <p:sp>
        <p:nvSpPr>
          <p:cNvPr id="38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Environment-Driven Flow: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Dev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as Source of Truth</a:t>
            </a:r>
          </a:p>
        </p:txBody>
      </p:sp>
      <p:sp>
        <p:nvSpPr>
          <p:cNvPr id="38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Current pipeline sequence and artifact ownership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9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  <a:extLst>
              <a:ext uri="{08473B3F-6A45-4B0A-97E4-75EBD9989900}">
                <asvg:svgBlip xmlns:r="http://schemas.openxmlformats.org/officeDocument/2006/relationships" xmlns:asvg="http://schemas.microsoft.com/office/drawing/2016/SVG/main" r:embed="rId64"/>
                <a14:useLocalDpi xmlns:a14="http://schemas.microsoft.com/office/drawing/2010/main" val="0"/>
              </a:ext>
            </a:extLst>
          </a:blip>
          <a:srcRect l="0" t="-29" r="0" b="-29"/>
          <a:stretch/>
        </p:blipFill>
        <p:spPr>
          <a:xfrm>
            <a:off x="4944332" y="2928652"/>
            <a:ext cx="8367712" cy="6579870"/>
          </a:xfrm>
          <a:prstGeom prst="rect">
            <a:avLst/>
          </a:prstGeom>
        </p:spPr>
      </p:pic>
      <p:sp>
        <p:nvSpPr>
          <p:cNvPr id="39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483864"/>
            <a:ext cx="62341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Branch map</a:t>
            </a:r>
          </a:p>
        </p:txBody>
      </p:sp>
      <p:sp>
        <p:nvSpPr>
          <p:cNvPr id="39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842004"/>
            <a:ext cx="62341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Dev, release, main, hotfix branches determine what is built and released.</a:t>
            </a:r>
          </a:p>
        </p:txBody>
      </p:sp>
      <p:sp>
        <p:nvSpPr>
          <p:cNvPr id="39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4580572"/>
            <a:ext cx="62436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Environment roles</a:t>
            </a:r>
          </a:p>
        </p:txBody>
      </p:sp>
      <p:sp>
        <p:nvSpPr>
          <p:cNvPr id="39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4938712"/>
            <a:ext cx="6243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Dev, SIT, UAT, PreProd, Prod, Dev2 are execution and validation stages.</a:t>
            </a:r>
          </a:p>
        </p:txBody>
      </p:sp>
      <p:sp>
        <p:nvSpPr>
          <p:cNvPr id="39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677186"/>
            <a:ext cx="62341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Repo-first artifacts</a:t>
            </a:r>
          </a:p>
        </p:txBody>
      </p:sp>
      <p:sp>
        <p:nvSpPr>
          <p:cNvPr id="39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035230"/>
            <a:ext cx="62341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Artifacts (solutions) built from the branch repository, not from a lower environment.</a:t>
            </a:r>
          </a:p>
        </p:txBody>
      </p:sp>
      <p:sp>
        <p:nvSpPr>
          <p:cNvPr id="39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6773894"/>
            <a:ext cx="62436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Managed pipelines</a:t>
            </a:r>
          </a:p>
        </p:txBody>
      </p:sp>
      <p:sp>
        <p:nvSpPr>
          <p:cNvPr id="40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7131939"/>
            <a:ext cx="6243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Branch-driven builds feed deployed pipelines for predictable promotion paths.</a:t>
            </a:r>
          </a:p>
        </p:txBody>
      </p:sp>
      <p:sp>
        <p:nvSpPr>
          <p:cNvPr id="40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870508"/>
            <a:ext cx="62341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Emergency lane</a:t>
            </a:r>
          </a:p>
        </p:txBody>
      </p:sp>
      <p:sp>
        <p:nvSpPr>
          <p:cNvPr id="40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8228552"/>
            <a:ext cx="62341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Clear hotfix branch and pipeline for rapid, controlled production fixes.</a:t>
            </a:r>
          </a:p>
        </p:txBody>
      </p:sp>
      <p:sp>
        <p:nvSpPr>
          <p:cNvPr id="40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Where you want to go: branch-driven target design</a:t>
            </a:r>
          </a:p>
        </p:txBody>
      </p:sp>
      <p:sp>
        <p:nvSpPr>
          <p:cNvPr id="40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Repo-first builds, managed pipelines, clear emergency lane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41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">
            <a:alphaModFix amt="100000"/>
            <a:extLst>
              <a:ext uri="{7854987B-5C27-4C41-AE45-E18B5E086353}">
                <asvg:svgBlip xmlns:r="http://schemas.openxmlformats.org/officeDocument/2006/relationships" xmlns:asvg="http://schemas.microsoft.com/office/drawing/2016/SVG/main" r:embed="rId73"/>
                <a14:useLocalDpi xmlns:a14="http://schemas.microsoft.com/office/drawing/2010/main" val="0"/>
              </a:ext>
            </a:extLst>
          </a:blip>
          <a:srcRect l="0" t="-19" r="0" b="-19"/>
          <a:stretch/>
        </p:blipFill>
        <p:spPr>
          <a:xfrm>
            <a:off x="760666" y="2320100"/>
            <a:ext cx="16734854" cy="7188422"/>
          </a:xfrm>
          <a:prstGeom prst="rect">
            <a:avLst/>
          </a:prstGeom>
        </p:spPr>
      </p:pic>
      <p:sp>
        <p:nvSpPr>
          <p:cNvPr id="41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537299"/>
            <a:ext cx="5700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Bridge of Truth</a:t>
            </a:r>
          </a:p>
        </p:txBody>
      </p:sp>
      <p:sp>
        <p:nvSpPr>
          <p:cNvPr id="41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971544"/>
            <a:ext cx="5700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Repository connects authoring to delivery; artifacts travel over CI and CD.</a:t>
            </a:r>
          </a:p>
        </p:txBody>
      </p:sp>
      <p:sp>
        <p:nvSpPr>
          <p:cNvPr id="41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8144" y="5334476"/>
            <a:ext cx="57102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Sync Only from Environments</a:t>
            </a:r>
          </a:p>
        </p:txBody>
      </p:sp>
      <p:sp>
        <p:nvSpPr>
          <p:cNvPr id="41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18144" y="5768721"/>
            <a:ext cx="57102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Environments run and validate; unpack to repo only to sync changes.</a:t>
            </a:r>
          </a:p>
        </p:txBody>
      </p:sp>
      <p:sp>
        <p:nvSpPr>
          <p:cNvPr id="41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131558"/>
            <a:ext cx="57007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Artifacts Built from Git</a:t>
            </a:r>
          </a:p>
        </p:txBody>
      </p:sp>
      <p:sp>
        <p:nvSpPr>
          <p:cNvPr id="41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565803"/>
            <a:ext cx="5700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Pack from branch to artifacts via CI; CD deploys artifacts from Git only.</a:t>
            </a:r>
          </a:p>
        </p:txBody>
      </p:sp>
      <p:sp>
        <p:nvSpPr>
          <p:cNvPr id="41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Repo as the single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Source of Truth</a:t>
            </a:r>
          </a:p>
        </p:txBody>
      </p:sp>
      <p:sp>
        <p:nvSpPr>
          <p:cNvPr id="4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Environments validate; branches define deployable artifacts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4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">
            <a:alphaModFix amt="100000"/>
          </a:blip>
          <a:stretch/>
        </p:blipFill>
        <p:spPr>
          <a:xfrm>
            <a:off x="0" y="0"/>
            <a:ext cx="18259425" cy="10267950"/>
          </a:xfrm>
          <a:prstGeom prst="rect">
            <a:avLst/>
          </a:prstGeom>
        </p:spPr>
      </p:pic>
      <p:sp>
        <p:nvSpPr>
          <p:cNvPr id="42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12156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Branch to Environment Mapping for CI/CD</a:t>
            </a:r>
          </a:p>
        </p:txBody>
      </p:sp>
      <p:pic>
        <p:nvPicPr>
          <p:cNvPr id="429" name="5c40699c-e7d1-479c-9653-6407fd3e477b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4">
            <a:alphaModFix amt="100000"/>
          </a:blip>
          <a:stretch/>
        </p:blipFill>
        <p:spPr>
          <a:xfrm>
            <a:off x="10002869" y="0"/>
            <a:ext cx="8248650" cy="10267950"/>
          </a:xfrm>
          <a:prstGeom prst="rect">
            <a:avLst/>
          </a:prstGeom>
        </p:spPr>
      </p:pic>
      <p:pic>
        <p:nvPicPr>
          <p:cNvPr id="4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760666" y="2928652"/>
            <a:ext cx="14716125" cy="6619875"/>
          </a:xfrm>
          <a:prstGeom prst="rect">
            <a:avLst/>
          </a:prstGeom>
        </p:spPr>
      </p:pic>
      <p:pic>
        <p:nvPicPr>
          <p:cNvPr id="4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1141512" y="3499842"/>
            <a:ext cx="4447728" cy="5681067"/>
          </a:xfrm>
          <a:prstGeom prst="rect">
            <a:avLst/>
          </a:prstGeom>
        </p:spPr>
      </p:pic>
      <p:pic>
        <p:nvPicPr>
          <p:cNvPr id="4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">
            <a:alphaModFix amt="100000"/>
          </a:blip>
          <a:stretch/>
        </p:blipFill>
        <p:spPr>
          <a:xfrm>
            <a:off x="2710905" y="3309342"/>
            <a:ext cx="1314450" cy="323850"/>
          </a:xfrm>
          <a:prstGeom prst="rect">
            <a:avLst/>
          </a:prstGeom>
        </p:spPr>
      </p:pic>
      <p:sp>
        <p:nvSpPr>
          <p:cNvPr id="437" name="Primary Heading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901410" y="3309461"/>
            <a:ext cx="9667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Branch</a:t>
            </a:r>
          </a:p>
        </p:txBody>
      </p:sp>
      <p:pic>
        <p:nvPicPr>
          <p:cNvPr id="4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">
            <a:alphaModFix amt="100000"/>
          </a:blip>
          <a:stretch/>
        </p:blipFill>
        <p:spPr>
          <a:xfrm>
            <a:off x="1331863" y="3953024"/>
            <a:ext cx="4067175" cy="638175"/>
          </a:xfrm>
          <a:prstGeom prst="rect">
            <a:avLst/>
          </a:prstGeom>
        </p:spPr>
      </p:pic>
      <p:sp>
        <p:nvSpPr>
          <p:cNvPr id="441" name="Primary Heading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2381" y="4105561"/>
            <a:ext cx="3952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dev</a:t>
            </a:r>
          </a:p>
        </p:txBody>
      </p:sp>
      <p:pic>
        <p:nvPicPr>
          <p:cNvPr id="4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">
            <a:alphaModFix amt="100000"/>
          </a:blip>
          <a:stretch/>
        </p:blipFill>
        <p:spPr>
          <a:xfrm>
            <a:off x="1331976" y="4688300"/>
            <a:ext cx="4067175" cy="638175"/>
          </a:xfrm>
          <a:prstGeom prst="rect">
            <a:avLst/>
          </a:prstGeom>
        </p:spPr>
      </p:pic>
      <p:sp>
        <p:nvSpPr>
          <p:cNvPr id="445" name="Primary Heading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2381" y="4840700"/>
            <a:ext cx="757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release</a:t>
            </a:r>
          </a:p>
        </p:txBody>
      </p:sp>
      <p:pic>
        <p:nvPicPr>
          <p:cNvPr id="4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">
            <a:alphaModFix amt="100000"/>
          </a:blip>
          <a:stretch/>
        </p:blipFill>
        <p:spPr>
          <a:xfrm>
            <a:off x="1331976" y="5423440"/>
            <a:ext cx="4067175" cy="638175"/>
          </a:xfrm>
          <a:prstGeom prst="rect">
            <a:avLst/>
          </a:prstGeom>
        </p:spPr>
      </p:pic>
      <p:sp>
        <p:nvSpPr>
          <p:cNvPr id="449" name="Primary Heading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2381" y="5575744"/>
            <a:ext cx="509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main</a:t>
            </a:r>
          </a:p>
        </p:txBody>
      </p:sp>
      <p:pic>
        <p:nvPicPr>
          <p:cNvPr id="4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">
            <a:alphaModFix amt="100000"/>
          </a:blip>
          <a:stretch/>
        </p:blipFill>
        <p:spPr>
          <a:xfrm>
            <a:off x="1331976" y="6158484"/>
            <a:ext cx="4067175" cy="638175"/>
          </a:xfrm>
          <a:prstGeom prst="rect">
            <a:avLst/>
          </a:prstGeom>
        </p:spPr>
      </p:pic>
      <p:sp>
        <p:nvSpPr>
          <p:cNvPr id="453" name="Primary Heading-0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2381" y="6310884"/>
            <a:ext cx="585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hotfix</a:t>
            </a:r>
          </a:p>
        </p:txBody>
      </p:sp>
      <p:pic>
        <p:nvPicPr>
          <p:cNvPr id="4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 amt="100000"/>
          </a:blip>
          <a:stretch/>
        </p:blipFill>
        <p:spPr>
          <a:xfrm>
            <a:off x="5895594" y="3499961"/>
            <a:ext cx="4447728" cy="5681067"/>
          </a:xfrm>
          <a:prstGeom prst="rect">
            <a:avLst/>
          </a:prstGeom>
        </p:spPr>
      </p:pic>
      <p:pic>
        <p:nvPicPr>
          <p:cNvPr id="4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">
            <a:alphaModFix amt="100000"/>
          </a:blip>
          <a:stretch/>
        </p:blipFill>
        <p:spPr>
          <a:xfrm>
            <a:off x="7522815" y="3309342"/>
            <a:ext cx="1190625" cy="323850"/>
          </a:xfrm>
          <a:prstGeom prst="rect">
            <a:avLst/>
          </a:prstGeom>
        </p:spPr>
      </p:pic>
      <p:sp>
        <p:nvSpPr>
          <p:cNvPr id="459" name="Primary Heading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13345" y="3309461"/>
            <a:ext cx="8429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Env(s)</a:t>
            </a:r>
          </a:p>
        </p:txBody>
      </p:sp>
      <p:pic>
        <p:nvPicPr>
          <p:cNvPr id="4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">
            <a:alphaModFix amt="100000"/>
          </a:blip>
          <a:stretch/>
        </p:blipFill>
        <p:spPr>
          <a:xfrm>
            <a:off x="6085880" y="3953024"/>
            <a:ext cx="4067175" cy="638175"/>
          </a:xfrm>
          <a:prstGeom prst="rect">
            <a:avLst/>
          </a:prstGeom>
        </p:spPr>
      </p:pic>
      <p:sp>
        <p:nvSpPr>
          <p:cNvPr id="463" name="Primary Heading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76404" y="4105561"/>
            <a:ext cx="33670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Dev (unmanaged), SIT (managed)</a:t>
            </a:r>
          </a:p>
        </p:txBody>
      </p:sp>
      <p:pic>
        <p:nvPicPr>
          <p:cNvPr id="4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">
            <a:alphaModFix amt="100000"/>
          </a:blip>
          <a:stretch/>
        </p:blipFill>
        <p:spPr>
          <a:xfrm>
            <a:off x="6085999" y="4688300"/>
            <a:ext cx="4067175" cy="638175"/>
          </a:xfrm>
          <a:prstGeom prst="rect">
            <a:avLst/>
          </a:prstGeom>
        </p:spPr>
      </p:pic>
      <p:sp>
        <p:nvSpPr>
          <p:cNvPr id="467" name="Primary Heading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76404" y="4840700"/>
            <a:ext cx="15763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UAT (managed)</a:t>
            </a:r>
          </a:p>
        </p:txBody>
      </p:sp>
      <p:pic>
        <p:nvPicPr>
          <p:cNvPr id="4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">
            <a:alphaModFix amt="100000"/>
          </a:blip>
          <a:stretch/>
        </p:blipFill>
        <p:spPr>
          <a:xfrm>
            <a:off x="6085999" y="5423440"/>
            <a:ext cx="4067175" cy="638175"/>
          </a:xfrm>
          <a:prstGeom prst="rect">
            <a:avLst/>
          </a:prstGeom>
        </p:spPr>
      </p:pic>
      <p:sp>
        <p:nvSpPr>
          <p:cNvPr id="471" name="Primary Heading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76404" y="5575744"/>
            <a:ext cx="36623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PreProd (managed), Prod (managed)</a:t>
            </a:r>
          </a:p>
        </p:txBody>
      </p:sp>
      <p:pic>
        <p:nvPicPr>
          <p:cNvPr id="4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">
            <a:alphaModFix amt="100000"/>
          </a:blip>
          <a:stretch/>
        </p:blipFill>
        <p:spPr>
          <a:xfrm>
            <a:off x="6085999" y="6158484"/>
            <a:ext cx="4067175" cy="638175"/>
          </a:xfrm>
          <a:prstGeom prst="rect">
            <a:avLst/>
          </a:prstGeom>
        </p:spPr>
      </p:pic>
      <p:sp>
        <p:nvSpPr>
          <p:cNvPr id="475" name="Primary Heading-1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76404" y="6310884"/>
            <a:ext cx="3633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Dev2 (unmanaged), Prod (managed)</a:t>
            </a:r>
          </a:p>
        </p:txBody>
      </p:sp>
      <p:pic>
        <p:nvPicPr>
          <p:cNvPr id="4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">
            <a:alphaModFix amt="100000"/>
          </a:blip>
          <a:stretch/>
        </p:blipFill>
        <p:spPr>
          <a:xfrm>
            <a:off x="10649617" y="3499961"/>
            <a:ext cx="4447728" cy="5681067"/>
          </a:xfrm>
          <a:prstGeom prst="rect">
            <a:avLst/>
          </a:prstGeom>
        </p:spPr>
      </p:pic>
      <p:pic>
        <p:nvPicPr>
          <p:cNvPr id="4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">
            <a:alphaModFix amt="100000"/>
          </a:blip>
          <a:stretch/>
        </p:blipFill>
        <p:spPr>
          <a:xfrm>
            <a:off x="12366869" y="3309342"/>
            <a:ext cx="1009650" cy="323850"/>
          </a:xfrm>
          <a:prstGeom prst="rect">
            <a:avLst/>
          </a:prstGeom>
        </p:spPr>
      </p:pic>
      <p:sp>
        <p:nvSpPr>
          <p:cNvPr id="481" name="Primary Heading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57379" y="3309461"/>
            <a:ext cx="671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Type</a:t>
            </a:r>
          </a:p>
        </p:txBody>
      </p:sp>
      <p:pic>
        <p:nvPicPr>
          <p:cNvPr id="4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">
            <a:alphaModFix amt="100000"/>
          </a:blip>
          <a:stretch/>
        </p:blipFill>
        <p:spPr>
          <a:xfrm>
            <a:off x="10839898" y="3953024"/>
            <a:ext cx="4067175" cy="638175"/>
          </a:xfrm>
          <a:prstGeom prst="rect">
            <a:avLst/>
          </a:prstGeom>
        </p:spPr>
      </p:pic>
      <p:sp>
        <p:nvSpPr>
          <p:cNvPr id="485" name="Primary Heading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331" y="4105561"/>
            <a:ext cx="3176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Dev: unmanaged; SIT: managed</a:t>
            </a:r>
          </a:p>
        </p:txBody>
      </p:sp>
      <p:pic>
        <p:nvPicPr>
          <p:cNvPr id="4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">
            <a:alphaModFix amt="100000"/>
          </a:blip>
          <a:stretch/>
        </p:blipFill>
        <p:spPr>
          <a:xfrm>
            <a:off x="10840022" y="4688300"/>
            <a:ext cx="4067175" cy="638175"/>
          </a:xfrm>
          <a:prstGeom prst="rect">
            <a:avLst/>
          </a:prstGeom>
        </p:spPr>
      </p:pic>
      <p:sp>
        <p:nvSpPr>
          <p:cNvPr id="489" name="Primary Heading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331" y="4840700"/>
            <a:ext cx="14716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UAT: managed</a:t>
            </a:r>
          </a:p>
        </p:txBody>
      </p:sp>
      <p:pic>
        <p:nvPicPr>
          <p:cNvPr id="4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">
            <a:alphaModFix amt="100000"/>
          </a:blip>
          <a:stretch/>
        </p:blipFill>
        <p:spPr>
          <a:xfrm>
            <a:off x="10840022" y="5423440"/>
            <a:ext cx="4067175" cy="638175"/>
          </a:xfrm>
          <a:prstGeom prst="rect">
            <a:avLst/>
          </a:prstGeom>
        </p:spPr>
      </p:pic>
      <p:sp>
        <p:nvSpPr>
          <p:cNvPr id="493" name="Primary Heading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331" y="5575744"/>
            <a:ext cx="34813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PreProd: managed; Prod: managed</a:t>
            </a:r>
          </a:p>
        </p:txBody>
      </p:sp>
      <p:pic>
        <p:nvPicPr>
          <p:cNvPr id="4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">
            <a:alphaModFix amt="100000"/>
          </a:blip>
          <a:stretch/>
        </p:blipFill>
        <p:spPr>
          <a:xfrm>
            <a:off x="10839898" y="6158359"/>
            <a:ext cx="4067175" cy="971550"/>
          </a:xfrm>
          <a:prstGeom prst="rect">
            <a:avLst/>
          </a:prstGeom>
        </p:spPr>
      </p:pic>
      <p:sp>
        <p:nvSpPr>
          <p:cNvPr id="497" name="Primary Heading-2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30331" y="6310884"/>
            <a:ext cx="37195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Dev2: unmanaged (aligned with Prod for emergency fixes); Prod: managed</a:t>
            </a:r>
          </a:p>
        </p:txBody>
      </p:sp>
      <p:sp>
        <p:nvSpPr>
          <p:cNvPr id="49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12156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Clear artifact ownership and managed vs unmanaged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505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  <a:extLst>
              <a:ext uri="{EE372C71-369B-4EFC-976A-EF4224B53CCD}">
                <asvg:svgBlip xmlns:r="http://schemas.openxmlformats.org/officeDocument/2006/relationships" xmlns:asvg="http://schemas.microsoft.com/office/drawing/2016/SVG/main" r:embed="rId130"/>
                <a14:useLocalDpi xmlns:a14="http://schemas.microsoft.com/office/drawing/2010/main" val="0"/>
              </a:ext>
            </a:extLst>
          </a:blip>
          <a:srcRect l="0" t="-17" r="0" b="-17"/>
          <a:stretch/>
        </p:blipFill>
        <p:spPr>
          <a:xfrm>
            <a:off x="4944332" y="2320100"/>
            <a:ext cx="8367712" cy="7188422"/>
          </a:xfrm>
          <a:prstGeom prst="rect">
            <a:avLst/>
          </a:prstGeom>
        </p:spPr>
      </p:pic>
      <p:pic>
        <p:nvPicPr>
          <p:cNvPr id="5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5817680" y="3806285"/>
            <a:ext cx="609600" cy="609600"/>
          </a:xfrm>
          <a:prstGeom prst="rect">
            <a:avLst/>
          </a:prstGeom>
        </p:spPr>
      </p:pic>
      <p:sp>
        <p:nvSpPr>
          <p:cNvPr id="508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24550" y="3870960"/>
            <a:ext cx="433388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51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3451" y="3218783"/>
            <a:ext cx="47291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Unpack (Environment to Repo)</a:t>
            </a:r>
          </a:p>
        </p:txBody>
      </p:sp>
      <p:sp>
        <p:nvSpPr>
          <p:cNvPr id="51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3451" y="3576828"/>
            <a:ext cx="47291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Export changes from Dev/Dev2, unpack into source format, commit to developer branches; must not produce deployable artifacts</a:t>
            </a:r>
          </a:p>
        </p:txBody>
      </p:sp>
      <p:pic>
        <p:nvPicPr>
          <p:cNvPr id="5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11817001" y="5603462"/>
            <a:ext cx="609600" cy="609600"/>
          </a:xfrm>
          <a:prstGeom prst="rect">
            <a:avLst/>
          </a:prstGeom>
        </p:spPr>
      </p:pic>
      <p:sp>
        <p:nvSpPr>
          <p:cNvPr id="516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25967" y="5668137"/>
            <a:ext cx="42386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51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09290" y="5194173"/>
            <a:ext cx="47386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CI Build (Branch to Artifacts)</a:t>
            </a:r>
          </a:p>
        </p:txBody>
      </p:sp>
      <p:sp>
        <p:nvSpPr>
          <p:cNvPr id="52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09290" y="5552313"/>
            <a:ext cx="473868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Per-branch builds for dev, release, main, hotfix that produce reproducible artifacts from Git</a:t>
            </a:r>
          </a:p>
        </p:txBody>
      </p:sp>
      <p:pic>
        <p:nvPicPr>
          <p:cNvPr id="5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100000"/>
          </a:blip>
          <a:stretch/>
        </p:blipFill>
        <p:spPr>
          <a:xfrm>
            <a:off x="5817680" y="7400544"/>
            <a:ext cx="609600" cy="609600"/>
          </a:xfrm>
          <a:prstGeom prst="rect">
            <a:avLst/>
          </a:prstGeom>
        </p:spPr>
      </p:pic>
      <p:sp>
        <p:nvSpPr>
          <p:cNvPr id="524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19788" y="7465219"/>
            <a:ext cx="44291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52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3451" y="6813042"/>
            <a:ext cx="472916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CD (Artifacts to Environments)</a:t>
            </a:r>
          </a:p>
        </p:txBody>
      </p:sp>
      <p:sp>
        <p:nvSpPr>
          <p:cNvPr id="52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3451" y="7171087"/>
            <a:ext cx="472916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Environment-specific pipelines that deploy branch-built artifacts and enforce promotion gates across SIT, UAT, PreProd, Prod</a:t>
            </a:r>
          </a:p>
        </p:txBody>
      </p:sp>
      <p:sp>
        <p:nvSpPr>
          <p:cNvPr id="53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Pipelines overview: three pipeline families</a:t>
            </a:r>
          </a:p>
        </p:txBody>
      </p:sp>
      <p:sp>
        <p:nvSpPr>
          <p:cNvPr id="53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Separation of Unpack, CI build, and CD for repeatable promotion gates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538" name="-44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300475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Developer works in Dev environment</a:t>
            </a:r>
          </a:p>
        </p:txBody>
      </p:sp>
      <p:pic>
        <p:nvPicPr>
          <p:cNvPr id="53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">
            <a:alphaModFix amt="100000"/>
          </a:blip>
          <a:stretch/>
        </p:blipFill>
        <p:spPr>
          <a:xfrm>
            <a:off x="760661" y="3134916"/>
            <a:ext cx="190351" cy="190351"/>
          </a:xfrm>
          <a:prstGeom prst="rect">
            <a:avLst/>
          </a:prstGeom>
        </p:spPr>
      </p:pic>
      <p:sp>
        <p:nvSpPr>
          <p:cNvPr id="540" name="-49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3646265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Make changes directly in the Dev environment; makers are the source of edits</a:t>
            </a:r>
          </a:p>
        </p:txBody>
      </p:sp>
      <p:pic>
        <p:nvPicPr>
          <p:cNvPr id="54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100000"/>
          </a:blip>
          <a:stretch/>
        </p:blipFill>
        <p:spPr>
          <a:xfrm>
            <a:off x="1275011" y="3746153"/>
            <a:ext cx="171301" cy="171301"/>
          </a:xfrm>
          <a:prstGeom prst="rect">
            <a:avLst/>
          </a:prstGeom>
        </p:spPr>
      </p:pic>
      <p:sp>
        <p:nvSpPr>
          <p:cNvPr id="542" name="-42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464715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Manual trigger: Run Unpack pipeline</a:t>
            </a:r>
          </a:p>
        </p:txBody>
      </p:sp>
      <p:pic>
        <p:nvPicPr>
          <p:cNvPr id="54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100000"/>
          </a:blip>
          <a:stretch/>
        </p:blipFill>
        <p:spPr>
          <a:xfrm>
            <a:off x="760666" y="4777454"/>
            <a:ext cx="190351" cy="190351"/>
          </a:xfrm>
          <a:prstGeom prst="rect">
            <a:avLst/>
          </a:prstGeom>
        </p:spPr>
      </p:pic>
      <p:sp>
        <p:nvSpPr>
          <p:cNvPr id="544" name="-43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528866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Unpack is a controlled, manual step to capture maker changes only</a:t>
            </a:r>
          </a:p>
        </p:txBody>
      </p:sp>
      <p:pic>
        <p:nvPicPr>
          <p:cNvPr id="54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1275011" y="5388472"/>
            <a:ext cx="171301" cy="171301"/>
          </a:xfrm>
          <a:prstGeom prst="rect">
            <a:avLst/>
          </a:prstGeom>
        </p:spPr>
      </p:pic>
      <p:sp>
        <p:nvSpPr>
          <p:cNvPr id="546" name="-40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6289548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Export unmanaged solution from Dev</a:t>
            </a:r>
          </a:p>
        </p:txBody>
      </p:sp>
      <p:pic>
        <p:nvPicPr>
          <p:cNvPr id="54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">
            <a:alphaModFix amt="100000"/>
          </a:blip>
          <a:stretch/>
        </p:blipFill>
        <p:spPr>
          <a:xfrm>
            <a:off x="760666" y="6419850"/>
            <a:ext cx="190351" cy="190351"/>
          </a:xfrm>
          <a:prstGeom prst="rect">
            <a:avLst/>
          </a:prstGeom>
        </p:spPr>
      </p:pic>
      <p:sp>
        <p:nvSpPr>
          <p:cNvPr id="548" name="-44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6931057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Export the unmanaged solution artifact from the Dev environment for unpacking</a:t>
            </a:r>
          </a:p>
        </p:txBody>
      </p:sp>
      <p:pic>
        <p:nvPicPr>
          <p:cNvPr id="54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1275011" y="7030938"/>
            <a:ext cx="171301" cy="171301"/>
          </a:xfrm>
          <a:prstGeom prst="rect">
            <a:avLst/>
          </a:prstGeom>
        </p:spPr>
      </p:pic>
      <p:sp>
        <p:nvSpPr>
          <p:cNvPr id="550" name="-43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7931944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pac solution unpack into feature branch</a:t>
            </a:r>
          </a:p>
        </p:txBody>
      </p:sp>
      <p:pic>
        <p:nvPicPr>
          <p:cNvPr id="55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760666" y="8062246"/>
            <a:ext cx="190351" cy="190351"/>
          </a:xfrm>
          <a:prstGeom prst="rect">
            <a:avLst/>
          </a:prstGeom>
        </p:spPr>
      </p:pic>
      <p:sp>
        <p:nvSpPr>
          <p:cNvPr id="552" name="-42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8573452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Use PAC CLI to unpack into a local feature branch such as feature/foo</a:t>
            </a:r>
          </a:p>
        </p:txBody>
      </p:sp>
      <p:pic>
        <p:nvPicPr>
          <p:cNvPr id="55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1275011" y="8673256"/>
            <a:ext cx="171301" cy="171301"/>
          </a:xfrm>
          <a:prstGeom prst="rect">
            <a:avLst/>
          </a:prstGeom>
        </p:spPr>
      </p:pic>
      <p:sp>
        <p:nvSpPr>
          <p:cNvPr id="554" name="-42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300475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Commit, push and open PR</a:t>
            </a:r>
          </a:p>
        </p:txBody>
      </p:sp>
      <p:pic>
        <p:nvPicPr>
          <p:cNvPr id="55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9318498" y="3135058"/>
            <a:ext cx="190351" cy="190351"/>
          </a:xfrm>
          <a:prstGeom prst="rect">
            <a:avLst/>
          </a:prstGeom>
        </p:spPr>
      </p:pic>
      <p:sp>
        <p:nvSpPr>
          <p:cNvPr id="556" name="-44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3646265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Commit and push feature branch, open PR from feature/foo to dev for review</a:t>
            </a:r>
          </a:p>
        </p:txBody>
      </p:sp>
      <p:pic>
        <p:nvPicPr>
          <p:cNvPr id="55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9832924" y="3746153"/>
            <a:ext cx="171301" cy="171301"/>
          </a:xfrm>
          <a:prstGeom prst="rect">
            <a:avLst/>
          </a:prstGeom>
        </p:spPr>
      </p:pic>
      <p:sp>
        <p:nvSpPr>
          <p:cNvPr id="558" name="-48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464715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 review to keep history clean</a:t>
            </a:r>
          </a:p>
        </p:txBody>
      </p:sp>
      <p:pic>
        <p:nvPicPr>
          <p:cNvPr id="55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9318498" y="4777454"/>
            <a:ext cx="190351" cy="190351"/>
          </a:xfrm>
          <a:prstGeom prst="rect">
            <a:avLst/>
          </a:prstGeom>
        </p:spPr>
      </p:pic>
      <p:sp>
        <p:nvSpPr>
          <p:cNvPr id="560" name="-45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528866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Use PR review to trim build-time transformations and preserve clean maker history</a:t>
            </a:r>
          </a:p>
        </p:txBody>
      </p:sp>
      <p:pic>
        <p:nvPicPr>
          <p:cNvPr id="56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9832924" y="5388472"/>
            <a:ext cx="171301" cy="171301"/>
          </a:xfrm>
          <a:prstGeom prst="rect">
            <a:avLst/>
          </a:prstGeom>
        </p:spPr>
      </p:pic>
      <p:sp>
        <p:nvSpPr>
          <p:cNvPr id="562" name="-42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6289548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Artifact policy: no deployable artifacts</a:t>
            </a:r>
          </a:p>
        </p:txBody>
      </p:sp>
      <p:pic>
        <p:nvPicPr>
          <p:cNvPr id="56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9318498" y="6419850"/>
            <a:ext cx="190351" cy="190351"/>
          </a:xfrm>
          <a:prstGeom prst="rect">
            <a:avLst/>
          </a:prstGeom>
        </p:spPr>
      </p:pic>
      <p:sp>
        <p:nvSpPr>
          <p:cNvPr id="564" name="-43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6931057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Unpack artifacts must not include deployable build-time transforms or packaged outputs</a:t>
            </a:r>
          </a:p>
        </p:txBody>
      </p:sp>
      <p:pic>
        <p:nvPicPr>
          <p:cNvPr id="56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">
            <a:alphaModFix amt="100000"/>
          </a:blip>
          <a:stretch/>
        </p:blipFill>
        <p:spPr>
          <a:xfrm>
            <a:off x="9832924" y="7030938"/>
            <a:ext cx="171301" cy="171301"/>
          </a:xfrm>
          <a:prstGeom prst="rect">
            <a:avLst/>
          </a:prstGeom>
        </p:spPr>
      </p:pic>
      <p:sp>
        <p:nvSpPr>
          <p:cNvPr id="56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Pipeline A Unpack: controlled environment to branch flow</a:t>
            </a:r>
          </a:p>
        </p:txBody>
      </p:sp>
      <p:sp>
        <p:nvSpPr>
          <p:cNvPr id="56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Manual unpack of maker changes using PAC CLI, PR review, no deployable artifacts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574" name="$50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742754"/>
            <a:ext cx="481012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6336" b="1" dirty="0">
                <a:solidFill>
                  <a:srgbClr val="F44336">
                    <a:alpha val="100000"/>
                  </a:srgbClr>
                </a:solidFill>
                <a:latin typeface="Lexend" panose="00000700000000000000" pitchFamily="2" charset="0"/>
              </a:rPr>
              <a:t>1</a:t>
            </a:r>
          </a:p>
        </p:txBody>
      </p:sp>
      <p:sp>
        <p:nvSpPr>
          <p:cNvPr id="57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3891344"/>
            <a:ext cx="15859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dev branch</a:t>
            </a:r>
          </a:p>
        </p:txBody>
      </p:sp>
      <p:sp>
        <p:nvSpPr>
          <p:cNvPr id="57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4173188"/>
            <a:ext cx="1585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Unmanaged zip</a:t>
            </a:r>
          </a:p>
        </p:txBody>
      </p:sp>
      <p:sp>
        <p:nvSpPr>
          <p:cNvPr id="579" name="$50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885658"/>
            <a:ext cx="481012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6336" b="1" dirty="0">
                <a:solidFill>
                  <a:srgbClr val="FF733E">
                    <a:alpha val="100000"/>
                  </a:srgbClr>
                </a:solidFill>
                <a:latin typeface="Lexend" panose="00000700000000000000" pitchFamily="2" charset="0"/>
              </a:rPr>
              <a:t>1</a:t>
            </a:r>
          </a:p>
        </p:txBody>
      </p:sp>
      <p:sp>
        <p:nvSpPr>
          <p:cNvPr id="58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5034248"/>
            <a:ext cx="401478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release branch</a:t>
            </a:r>
          </a:p>
        </p:txBody>
      </p:sp>
      <p:sp>
        <p:nvSpPr>
          <p:cNvPr id="58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5315998"/>
            <a:ext cx="4014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Unmanaged zip and managed candidate</a:t>
            </a:r>
          </a:p>
        </p:txBody>
      </p:sp>
      <p:sp>
        <p:nvSpPr>
          <p:cNvPr id="584" name="$50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028563"/>
            <a:ext cx="481012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6336" b="1" dirty="0">
                <a:solidFill>
                  <a:srgbClr val="F3B125">
                    <a:alpha val="100000"/>
                  </a:srgbClr>
                </a:solidFill>
                <a:latin typeface="Lexend" panose="00000700000000000000" pitchFamily="2" charset="0"/>
              </a:rPr>
              <a:t>1</a:t>
            </a:r>
          </a:p>
        </p:txBody>
      </p:sp>
      <p:sp>
        <p:nvSpPr>
          <p:cNvPr id="58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6177153"/>
            <a:ext cx="24336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main branch</a:t>
            </a:r>
          </a:p>
        </p:txBody>
      </p:sp>
      <p:sp>
        <p:nvSpPr>
          <p:cNvPr id="58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6458902"/>
            <a:ext cx="24336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Managed production zip</a:t>
            </a:r>
          </a:p>
        </p:txBody>
      </p:sp>
      <p:sp>
        <p:nvSpPr>
          <p:cNvPr id="589" name="$50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171468"/>
            <a:ext cx="481012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6336" b="1" dirty="0">
                <a:solidFill>
                  <a:srgbClr val="FFCD6E">
                    <a:alpha val="100000"/>
                  </a:srgbClr>
                </a:solidFill>
                <a:latin typeface="Lexend" panose="00000700000000000000" pitchFamily="2" charset="0"/>
              </a:rPr>
              <a:t>1</a:t>
            </a:r>
          </a:p>
        </p:txBody>
      </p:sp>
      <p:sp>
        <p:nvSpPr>
          <p:cNvPr id="59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7320058"/>
            <a:ext cx="191928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5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hotfix branch</a:t>
            </a:r>
          </a:p>
        </p:txBody>
      </p:sp>
      <p:sp>
        <p:nvSpPr>
          <p:cNvPr id="59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4456" y="7601807"/>
            <a:ext cx="19192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Managed hotfix zip</a:t>
            </a:r>
          </a:p>
        </p:txBody>
      </p:sp>
      <p:pic>
        <p:nvPicPr>
          <p:cNvPr id="5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12969526" y="2856643"/>
            <a:ext cx="342900" cy="342900"/>
          </a:xfrm>
          <a:prstGeom prst="rect">
            <a:avLst/>
          </a:prstGeom>
        </p:spPr>
      </p:pic>
      <p:sp>
        <p:nvSpPr>
          <p:cNvPr id="596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29724" y="2893028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59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2856643"/>
            <a:ext cx="15763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Trigger on merge or commit to the branch</a:t>
            </a:r>
          </a:p>
        </p:txBody>
      </p:sp>
      <p:sp>
        <p:nvSpPr>
          <p:cNvPr id="60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3552825"/>
            <a:ext cx="157638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Start CI when changes land in dev, release, main, or hotfix branches</a:t>
            </a:r>
          </a:p>
        </p:txBody>
      </p:sp>
      <p:pic>
        <p:nvPicPr>
          <p:cNvPr id="6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">
            <a:alphaModFix amt="100000"/>
          </a:blip>
          <a:stretch/>
        </p:blipFill>
        <p:spPr>
          <a:xfrm>
            <a:off x="12969526" y="4753356"/>
            <a:ext cx="342900" cy="342900"/>
          </a:xfrm>
          <a:prstGeom prst="rect">
            <a:avLst/>
          </a:prstGeom>
        </p:spPr>
      </p:pic>
      <p:sp>
        <p:nvSpPr>
          <p:cNvPr id="60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30867" y="4789742"/>
            <a:ext cx="252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60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4753356"/>
            <a:ext cx="15763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Pack solution from unpacked folder to create unmanaged zip</a:t>
            </a:r>
          </a:p>
        </p:txBody>
      </p:sp>
      <p:sp>
        <p:nvSpPr>
          <p:cNvPr id="60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5668899"/>
            <a:ext cx="157638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Produce an unmanaged solution zip from the unpacked sources</a:t>
            </a:r>
          </a:p>
        </p:txBody>
      </p:sp>
      <p:pic>
        <p:nvPicPr>
          <p:cNvPr id="6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">
            <a:alphaModFix amt="100000"/>
          </a:blip>
          <a:stretch/>
        </p:blipFill>
        <p:spPr>
          <a:xfrm>
            <a:off x="12969526" y="6869430"/>
            <a:ext cx="342900" cy="342900"/>
          </a:xfrm>
          <a:prstGeom prst="rect">
            <a:avLst/>
          </a:prstGeom>
        </p:spPr>
      </p:pic>
      <p:sp>
        <p:nvSpPr>
          <p:cNvPr id="612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26962" y="6905816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61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6869430"/>
            <a:ext cx="15763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Optional: import unmanaged into Build environment</a:t>
            </a:r>
          </a:p>
        </p:txBody>
      </p:sp>
      <p:sp>
        <p:nvSpPr>
          <p:cNvPr id="61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17130" y="7785068"/>
            <a:ext cx="157638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Validate build by importing into a dedicated Build environment</a:t>
            </a:r>
          </a:p>
        </p:txBody>
      </p:sp>
      <p:pic>
        <p:nvPicPr>
          <p:cNvPr id="6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">
            <a:alphaModFix amt="100000"/>
          </a:blip>
          <a:stretch/>
        </p:blipFill>
        <p:spPr>
          <a:xfrm>
            <a:off x="15308675" y="2856643"/>
            <a:ext cx="342900" cy="342900"/>
          </a:xfrm>
          <a:prstGeom prst="rect">
            <a:avLst/>
          </a:prstGeom>
        </p:spPr>
      </p:pic>
      <p:sp>
        <p:nvSpPr>
          <p:cNvPr id="620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59729" y="2893028"/>
            <a:ext cx="27146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62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2856643"/>
            <a:ext cx="15763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Export managed solution from Build or source environment</a:t>
            </a:r>
          </a:p>
        </p:txBody>
      </p:sp>
      <p:sp>
        <p:nvSpPr>
          <p:cNvPr id="62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3772186"/>
            <a:ext cx="157638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Generate managed solution zip for release and production</a:t>
            </a:r>
          </a:p>
        </p:txBody>
      </p:sp>
      <p:pic>
        <p:nvPicPr>
          <p:cNvPr id="6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</a:blip>
          <a:stretch/>
        </p:blipFill>
        <p:spPr>
          <a:xfrm>
            <a:off x="15308675" y="4972717"/>
            <a:ext cx="342900" cy="342900"/>
          </a:xfrm>
          <a:prstGeom prst="rect">
            <a:avLst/>
          </a:prstGeom>
        </p:spPr>
      </p:pic>
      <p:sp>
        <p:nvSpPr>
          <p:cNvPr id="628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65635" y="5009102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63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4972717"/>
            <a:ext cx="15763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Publish unmanaged and managed zips as pipeline artifacts</a:t>
            </a:r>
          </a:p>
        </p:txBody>
      </p:sp>
      <p:sp>
        <p:nvSpPr>
          <p:cNvPr id="63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5888260"/>
            <a:ext cx="157638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Make artifacts available for downstream CD promotion</a:t>
            </a:r>
          </a:p>
        </p:txBody>
      </p:sp>
      <p:pic>
        <p:nvPicPr>
          <p:cNvPr id="6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 amt="100000"/>
          </a:blip>
          <a:stretch/>
        </p:blipFill>
        <p:spPr>
          <a:xfrm>
            <a:off x="15308675" y="7088886"/>
            <a:ext cx="342900" cy="342900"/>
          </a:xfrm>
          <a:prstGeom prst="rect">
            <a:avLst/>
          </a:prstGeom>
        </p:spPr>
      </p:pic>
      <p:sp>
        <p:nvSpPr>
          <p:cNvPr id="636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67254" y="7125272"/>
            <a:ext cx="2619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418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06</a:t>
            </a:r>
          </a:p>
        </p:txBody>
      </p:sp>
      <p:sp>
        <p:nvSpPr>
          <p:cNvPr id="63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7088886"/>
            <a:ext cx="157638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35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Result: dev, release candidate, production, and hotfix builds</a:t>
            </a:r>
          </a:p>
        </p:txBody>
      </p:sp>
      <p:sp>
        <p:nvSpPr>
          <p:cNvPr id="640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56280" y="8223790"/>
            <a:ext cx="15763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200" spc="-2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Each branch yields a specific deployable artifact set</a:t>
            </a:r>
          </a:p>
        </p:txBody>
      </p:sp>
      <p:sp>
        <p:nvSpPr>
          <p:cNvPr id="64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Pipeline B: CI build per branch</a:t>
            </a:r>
          </a:p>
        </p:txBody>
      </p:sp>
      <p:sp>
        <p:nvSpPr>
          <p:cNvPr id="64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Canonical CI: generate deployable artifacts for dev, release, main, hotfix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65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">
            <a:alphaModFix amt="100000"/>
            <a:extLst>
              <a:ext uri="{2D2ED521-DDE5-42E3-A2ED-7563B7E22D5A}">
                <asvg:svgBlip xmlns:r="http://schemas.openxmlformats.org/officeDocument/2006/relationships" xmlns:asvg="http://schemas.microsoft.com/office/drawing/2016/SVG/main" r:embed="rId197"/>
                <a14:useLocalDpi xmlns:a14="http://schemas.microsoft.com/office/drawing/2010/main" val="0"/>
              </a:ext>
            </a:extLst>
          </a:blip>
          <a:srcRect l="0" t="-19" r="0" b="-19"/>
          <a:stretch/>
        </p:blipFill>
        <p:spPr>
          <a:xfrm>
            <a:off x="760666" y="2320100"/>
            <a:ext cx="16734854" cy="7188422"/>
          </a:xfrm>
          <a:prstGeom prst="rect">
            <a:avLst/>
          </a:prstGeom>
        </p:spPr>
      </p:pic>
      <p:sp>
        <p:nvSpPr>
          <p:cNvPr id="65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667" y="2536126"/>
            <a:ext cx="2681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Dev branch produces artifact</a:t>
            </a:r>
          </a:p>
        </p:txBody>
      </p:sp>
      <p:sp>
        <p:nvSpPr>
          <p:cNvPr id="65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667" y="3214021"/>
            <a:ext cx="2681288" cy="1571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Dev and SIT artifacts originate from dev branch; Dev uses unmanaged artifact, SIT uses managed artifact.</a:t>
            </a:r>
          </a:p>
        </p:txBody>
      </p:sp>
      <p:sp>
        <p:nvSpPr>
          <p:cNvPr id="65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63089" y="7365016"/>
            <a:ext cx="268128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Deploy to Dev environment</a:t>
            </a:r>
          </a:p>
        </p:txBody>
      </p:sp>
      <p:sp>
        <p:nvSpPr>
          <p:cNvPr id="65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63089" y="8042910"/>
            <a:ext cx="268128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Deploy unmanaged artifact to Dev for active development and testing.</a:t>
            </a:r>
          </a:p>
        </p:txBody>
      </p:sp>
      <p:sp>
        <p:nvSpPr>
          <p:cNvPr id="65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91792" y="3008376"/>
            <a:ext cx="2681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Promote to SIT</a:t>
            </a:r>
          </a:p>
        </p:txBody>
      </p:sp>
      <p:sp>
        <p:nvSpPr>
          <p:cNvPr id="66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91792" y="3366516"/>
            <a:ext cx="268128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Deploy managed artifact to SIT from dev branch; include approval before promotion.</a:t>
            </a:r>
          </a:p>
        </p:txBody>
      </p:sp>
      <p:sp>
        <p:nvSpPr>
          <p:cNvPr id="66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7642" y="7524940"/>
            <a:ext cx="2681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Promote to UAT</a:t>
            </a:r>
          </a:p>
        </p:txBody>
      </p:sp>
      <p:sp>
        <p:nvSpPr>
          <p:cNvPr id="66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7642" y="7883080"/>
            <a:ext cx="268128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UAT uses artifacts built from release branch; require approval before deployment.</a:t>
            </a:r>
          </a:p>
        </p:txBody>
      </p:sp>
      <p:sp>
        <p:nvSpPr>
          <p:cNvPr id="66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820" y="2852166"/>
            <a:ext cx="2681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Promote to PreProd</a:t>
            </a:r>
          </a:p>
        </p:txBody>
      </p:sp>
      <p:sp>
        <p:nvSpPr>
          <p:cNvPr id="66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820" y="3210306"/>
            <a:ext cx="2681288" cy="1257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PreProd uses artifact from main branch; deploy the same managed zip planned for production.</a:t>
            </a:r>
          </a:p>
        </p:txBody>
      </p:sp>
      <p:sp>
        <p:nvSpPr>
          <p:cNvPr id="67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44116" y="7368730"/>
            <a:ext cx="26812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Promote to Prod</a:t>
            </a:r>
          </a:p>
        </p:txBody>
      </p:sp>
      <p:sp>
        <p:nvSpPr>
          <p:cNvPr id="673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44116" y="7726870"/>
            <a:ext cx="2681288" cy="1257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Production uses main branch artifact; deploy identical managed zip as PreProd after final approval.</a:t>
            </a:r>
          </a:p>
        </p:txBody>
      </p:sp>
      <p:sp>
        <p:nvSpPr>
          <p:cNvPr id="67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Pipeline C: CD pipelines by environment</a:t>
            </a:r>
          </a:p>
        </p:txBody>
      </p:sp>
      <p:sp>
        <p:nvSpPr>
          <p:cNvPr id="67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Branch-specific artifacts with approvals and immutable promotion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683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">
            <a:alphaModFix amt="100000"/>
            <a:extLst>
              <a:ext uri="{E0DEFB73-83D4-4E06-935B-E3D927698E2B}">
                <asvg:svgBlip xmlns:r="http://schemas.openxmlformats.org/officeDocument/2006/relationships" xmlns:asvg="http://schemas.microsoft.com/office/drawing/2016/SVG/main" r:embed="rId20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2320100"/>
            <a:ext cx="841153" cy="841153"/>
          </a:xfrm>
          <a:prstGeom prst="rect">
            <a:avLst/>
          </a:prstGeom>
        </p:spPr>
      </p:pic>
      <p:sp>
        <p:nvSpPr>
          <p:cNvPr id="68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2393918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Branch from main and create hotfix branch</a:t>
            </a:r>
          </a:p>
        </p:txBody>
      </p:sp>
      <p:sp>
        <p:nvSpPr>
          <p:cNvPr id="68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2751963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Start emergency work from main to isolate the fix</a:t>
            </a:r>
          </a:p>
        </p:txBody>
      </p:sp>
      <p:pic>
        <p:nvPicPr>
          <p:cNvPr id="68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">
            <a:alphaModFix amt="100000"/>
            <a:extLst>
              <a:ext uri="{D70A3B5F-3AD4-4B95-BB85-0E9215FB3A77}">
                <asvg:svgBlip xmlns:r="http://schemas.openxmlformats.org/officeDocument/2006/relationships" xmlns:asvg="http://schemas.microsoft.com/office/drawing/2016/SVG/main" r:embed="rId20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3247454"/>
            <a:ext cx="841153" cy="841153"/>
          </a:xfrm>
          <a:prstGeom prst="rect">
            <a:avLst/>
          </a:prstGeom>
        </p:spPr>
      </p:pic>
      <p:sp>
        <p:nvSpPr>
          <p:cNvPr id="69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3321272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Optionally sync Dev2 from main to match Prod state</a:t>
            </a:r>
          </a:p>
        </p:txBody>
      </p:sp>
      <p:sp>
        <p:nvSpPr>
          <p:cNvPr id="69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3679317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Ensure Dev2 mirrors Prod for reproducible fixes</a:t>
            </a:r>
          </a:p>
        </p:txBody>
      </p:sp>
      <p:pic>
        <p:nvPicPr>
          <p:cNvPr id="695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">
            <a:alphaModFix amt="100000"/>
            <a:extLst>
              <a:ext uri="{465A654C-1088-4B90-82D2-B522227A6256}">
                <asvg:svgBlip xmlns:r="http://schemas.openxmlformats.org/officeDocument/2006/relationships" xmlns:asvg="http://schemas.microsoft.com/office/drawing/2016/SVG/main" r:embed="rId21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4174808"/>
            <a:ext cx="841153" cy="841153"/>
          </a:xfrm>
          <a:prstGeom prst="rect">
            <a:avLst/>
          </a:prstGeom>
        </p:spPr>
      </p:pic>
      <p:sp>
        <p:nvSpPr>
          <p:cNvPr id="69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4248626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Develop fix in Dev2 (unmanaged environment)</a:t>
            </a:r>
          </a:p>
        </p:txBody>
      </p:sp>
      <p:sp>
        <p:nvSpPr>
          <p:cNvPr id="69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4606766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Implement and validate change in Dev2 before unpack</a:t>
            </a:r>
          </a:p>
        </p:txBody>
      </p:sp>
      <p:pic>
        <p:nvPicPr>
          <p:cNvPr id="701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 amt="100000"/>
            <a:extLst>
              <a:ext uri="{611D43CA-97A5-41F2-92EC-30FEE635E6A3}">
                <asvg:svgBlip xmlns:r="http://schemas.openxmlformats.org/officeDocument/2006/relationships" xmlns:asvg="http://schemas.microsoft.com/office/drawing/2016/SVG/main" r:embed="rId21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5102162"/>
            <a:ext cx="841153" cy="841153"/>
          </a:xfrm>
          <a:prstGeom prst="rect">
            <a:avLst/>
          </a:prstGeom>
        </p:spPr>
      </p:pic>
      <p:sp>
        <p:nvSpPr>
          <p:cNvPr id="70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5175980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Unpack Dev2 into hotfix branch and push</a:t>
            </a:r>
          </a:p>
        </p:txBody>
      </p:sp>
      <p:sp>
        <p:nvSpPr>
          <p:cNvPr id="70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5534120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Export unpacked solution into the hotfix branch for CI</a:t>
            </a:r>
          </a:p>
        </p:txBody>
      </p:sp>
      <p:pic>
        <p:nvPicPr>
          <p:cNvPr id="707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">
            <a:alphaModFix amt="100000"/>
            <a:extLst>
              <a:ext uri="{C3C82B82-FC37-4405-B89D-5A415439B2E7}">
                <asvg:svgBlip xmlns:r="http://schemas.openxmlformats.org/officeDocument/2006/relationships" xmlns:asvg="http://schemas.microsoft.com/office/drawing/2016/SVG/main" r:embed="rId21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6029516"/>
            <a:ext cx="841153" cy="841153"/>
          </a:xfrm>
          <a:prstGeom prst="rect">
            <a:avLst/>
          </a:prstGeom>
        </p:spPr>
      </p:pic>
      <p:sp>
        <p:nvSpPr>
          <p:cNvPr id="70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6103430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CI builds hotfix artifact</a:t>
            </a:r>
          </a:p>
        </p:txBody>
      </p:sp>
      <p:sp>
        <p:nvSpPr>
          <p:cNvPr id="71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6461474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Automated build produces the hotfix artifact for deployment</a:t>
            </a:r>
          </a:p>
        </p:txBody>
      </p:sp>
      <p:pic>
        <p:nvPicPr>
          <p:cNvPr id="713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  <a:extLst>
              <a:ext uri="{DB1DB5C2-E9F9-4035-86C4-EDEDB95C6E35}">
                <asvg:svgBlip xmlns:r="http://schemas.openxmlformats.org/officeDocument/2006/relationships" xmlns:asvg="http://schemas.microsoft.com/office/drawing/2016/SVG/main" r:embed="rId22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6956870"/>
            <a:ext cx="841153" cy="841153"/>
          </a:xfrm>
          <a:prstGeom prst="rect">
            <a:avLst/>
          </a:prstGeom>
        </p:spPr>
      </p:pic>
      <p:sp>
        <p:nvSpPr>
          <p:cNvPr id="71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7030784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Deploy to Prod via special hotfix CD pipeline</a:t>
            </a:r>
          </a:p>
        </p:txBody>
      </p:sp>
      <p:sp>
        <p:nvSpPr>
          <p:cNvPr id="717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7388828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dedicated hotfix CD path to apply emergency changes</a:t>
            </a:r>
          </a:p>
        </p:txBody>
      </p:sp>
      <p:pic>
        <p:nvPicPr>
          <p:cNvPr id="719" name="iconNod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">
            <a:alphaModFix amt="100000"/>
            <a:extLst>
              <a:ext uri="{1FB30007-E753-455E-AB12-88A5DEE68C57}">
                <asvg:svgBlip xmlns:r="http://schemas.openxmlformats.org/officeDocument/2006/relationships" xmlns:asvg="http://schemas.microsoft.com/office/drawing/2016/SVG/main" r:embed="rId22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7884224"/>
            <a:ext cx="841153" cy="841153"/>
          </a:xfrm>
          <a:prstGeom prst="rect">
            <a:avLst/>
          </a:prstGeom>
        </p:spPr>
      </p:pic>
      <p:sp>
        <p:nvSpPr>
          <p:cNvPr id="721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7958138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Merge hotfix into main, then release, then dev</a:t>
            </a:r>
          </a:p>
        </p:txBody>
      </p:sp>
      <p:sp>
        <p:nvSpPr>
          <p:cNvPr id="723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8316182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Flow fixes back into main, release branch, and development</a:t>
            </a:r>
          </a:p>
        </p:txBody>
      </p:sp>
      <p:pic>
        <p:nvPicPr>
          <p:cNvPr id="725" name="iconNode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">
            <a:alphaModFix amt="100000"/>
            <a:extLst>
              <a:ext uri="{00ED9A3A-D664-49BE-9991-403BB2A715F2}">
                <asvg:svgBlip xmlns:r="http://schemas.openxmlformats.org/officeDocument/2006/relationships" xmlns:asvg="http://schemas.microsoft.com/office/drawing/2016/SVG/main" r:embed="rId22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6" y="8811578"/>
            <a:ext cx="841153" cy="841153"/>
          </a:xfrm>
          <a:prstGeom prst="rect">
            <a:avLst/>
          </a:prstGeom>
        </p:spPr>
      </p:pic>
      <p:sp>
        <p:nvSpPr>
          <p:cNvPr id="727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8885492"/>
            <a:ext cx="86820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Emergency lane annotated: direct hotfix to Prod then merge back</a:t>
            </a:r>
          </a:p>
        </p:txBody>
      </p:sp>
      <p:sp>
        <p:nvSpPr>
          <p:cNvPr id="729" name="Description of a 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4219" y="9243536"/>
            <a:ext cx="868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Explicit emergency path preserves Prod stability and alignment</a:t>
            </a:r>
          </a:p>
        </p:txBody>
      </p:sp>
      <p:pic>
        <p:nvPicPr>
          <p:cNvPr id="7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">
            <a:alphaModFix amt="100000"/>
          </a:blip>
          <a:stretch/>
        </p:blipFill>
        <p:spPr>
          <a:xfrm>
            <a:off x="12969526" y="4530662"/>
            <a:ext cx="190500" cy="190500"/>
          </a:xfrm>
          <a:prstGeom prst="rect">
            <a:avLst/>
          </a:prstGeom>
        </p:spPr>
      </p:pic>
      <p:sp>
        <p:nvSpPr>
          <p:cNvPr id="73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4465987"/>
            <a:ext cx="406241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Goal: maintain Dev2 and Prod functional alignment</a:t>
            </a:r>
          </a:p>
        </p:txBody>
      </p:sp>
      <p:sp>
        <p:nvSpPr>
          <p:cNvPr id="73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5143786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Prevents drift and ensures hotfix reproducibility</a:t>
            </a:r>
          </a:p>
        </p:txBody>
      </p:sp>
      <p:pic>
        <p:nvPicPr>
          <p:cNvPr id="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2">
            <a:alphaModFix amt="100000"/>
          </a:blip>
          <a:stretch/>
        </p:blipFill>
        <p:spPr>
          <a:xfrm>
            <a:off x="12969526" y="6074188"/>
            <a:ext cx="190500" cy="190500"/>
          </a:xfrm>
          <a:prstGeom prst="rect">
            <a:avLst/>
          </a:prstGeom>
        </p:spPr>
      </p:pic>
      <p:sp>
        <p:nvSpPr>
          <p:cNvPr id="73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6009418"/>
            <a:ext cx="406241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Outcome: hotfixes flow back into normal release cadence</a:t>
            </a:r>
          </a:p>
        </p:txBody>
      </p:sp>
      <p:sp>
        <p:nvSpPr>
          <p:cNvPr id="74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4635" y="6687312"/>
            <a:ext cx="40624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Hotfix becomes part of standard main and release branches</a:t>
            </a:r>
          </a:p>
        </p:txBody>
      </p:sp>
      <p:sp>
        <p:nvSpPr>
          <p:cNvPr id="74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Hotfix Loop: Dev2 Alignment and Emergency Flow</a:t>
            </a:r>
          </a:p>
        </p:txBody>
      </p:sp>
      <p:sp>
        <p:nvSpPr>
          <p:cNvPr id="74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Emergency hotfix path preserving Dev2 and Prod parity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75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077908"/>
            <a:ext cx="4424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Stop using Dev environment as artifact source</a:t>
            </a:r>
          </a:p>
        </p:txBody>
      </p:sp>
      <p:sp>
        <p:nvSpPr>
          <p:cNvPr id="75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9911" y="3151251"/>
            <a:ext cx="252412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01</a:t>
            </a:r>
          </a:p>
        </p:txBody>
      </p:sp>
      <p:pic>
        <p:nvPicPr>
          <p:cNvPr id="7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100000"/>
          </a:blip>
          <a:stretch/>
        </p:blipFill>
        <p:spPr>
          <a:xfrm>
            <a:off x="5335619" y="2997803"/>
            <a:ext cx="799653" cy="813792"/>
          </a:xfrm>
          <a:prstGeom prst="rect">
            <a:avLst/>
          </a:prstGeom>
        </p:spPr>
      </p:pic>
      <p:pic>
        <p:nvPicPr>
          <p:cNvPr id="7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2">
            <a:alphaModFix amt="100000"/>
          </a:blip>
          <a:stretch/>
        </p:blipFill>
        <p:spPr>
          <a:xfrm>
            <a:off x="5349812" y="3011996"/>
            <a:ext cx="152400" cy="152400"/>
          </a:xfrm>
          <a:prstGeom prst="rect">
            <a:avLst/>
          </a:prstGeom>
        </p:spPr>
      </p:pic>
      <p:pic>
        <p:nvPicPr>
          <p:cNvPr id="75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5">
            <a:alphaModFix amt="100000"/>
            <a:extLst>
              <a:ext uri="{5702709D-7D71-4D3A-A13D-B88507FD3A22}">
                <asvg:svgBlip xmlns:r="http://schemas.openxmlformats.org/officeDocument/2006/relationships" xmlns:asvg="http://schemas.microsoft.com/office/drawing/2016/SVG/main" r:embed="rId24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504116" y="3166300"/>
            <a:ext cx="463010" cy="463010"/>
          </a:xfrm>
          <a:prstGeom prst="rect">
            <a:avLst/>
          </a:prstGeom>
        </p:spPr>
      </p:pic>
      <p:sp>
        <p:nvSpPr>
          <p:cNvPr id="76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3980688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Treat Dev environment as runtime only</a:t>
            </a:r>
          </a:p>
        </p:txBody>
      </p:sp>
      <p:pic>
        <p:nvPicPr>
          <p:cNvPr id="76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7">
            <a:alphaModFix amt="100000"/>
          </a:blip>
          <a:stretch/>
        </p:blipFill>
        <p:spPr>
          <a:xfrm>
            <a:off x="760666" y="4123277"/>
            <a:ext cx="71140" cy="71140"/>
          </a:xfrm>
          <a:prstGeom prst="rect">
            <a:avLst/>
          </a:prstGeom>
        </p:spPr>
      </p:pic>
      <p:sp>
        <p:nvSpPr>
          <p:cNvPr id="76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4337304"/>
            <a:ext cx="522713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Do not export CD artifacts from Dev environment</a:t>
            </a:r>
          </a:p>
        </p:txBody>
      </p:sp>
      <p:pic>
        <p:nvPicPr>
          <p:cNvPr id="76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9">
            <a:alphaModFix amt="100000"/>
          </a:blip>
          <a:stretch/>
        </p:blipFill>
        <p:spPr>
          <a:xfrm>
            <a:off x="760666" y="4479893"/>
            <a:ext cx="71140" cy="71140"/>
          </a:xfrm>
          <a:prstGeom prst="rect">
            <a:avLst/>
          </a:prstGeom>
        </p:spPr>
      </p:pic>
      <p:sp>
        <p:nvSpPr>
          <p:cNvPr id="76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5050536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Git as the single source of truth for artifacts</a:t>
            </a:r>
          </a:p>
        </p:txBody>
      </p:sp>
      <p:pic>
        <p:nvPicPr>
          <p:cNvPr id="77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alphaModFix amt="100000"/>
          </a:blip>
          <a:stretch/>
        </p:blipFill>
        <p:spPr>
          <a:xfrm>
            <a:off x="760666" y="5193220"/>
            <a:ext cx="71140" cy="71140"/>
          </a:xfrm>
          <a:prstGeom prst="rect">
            <a:avLst/>
          </a:prstGeom>
        </p:spPr>
      </p:pic>
      <p:sp>
        <p:nvSpPr>
          <p:cNvPr id="77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5407247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Prevent production artifact contamination</a:t>
            </a:r>
          </a:p>
        </p:txBody>
      </p:sp>
      <p:pic>
        <p:nvPicPr>
          <p:cNvPr id="77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3">
            <a:alphaModFix amt="100000"/>
          </a:blip>
          <a:stretch/>
        </p:blipFill>
        <p:spPr>
          <a:xfrm>
            <a:off x="760666" y="5549836"/>
            <a:ext cx="71140" cy="71140"/>
          </a:xfrm>
          <a:prstGeom prst="rect">
            <a:avLst/>
          </a:prstGeom>
        </p:spPr>
      </p:pic>
      <p:sp>
        <p:nvSpPr>
          <p:cNvPr id="77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3077908"/>
            <a:ext cx="4424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Pack becomes repo to artifact build</a:t>
            </a:r>
          </a:p>
        </p:txBody>
      </p:sp>
      <p:sp>
        <p:nvSpPr>
          <p:cNvPr id="779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87096" y="3151251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02</a:t>
            </a:r>
          </a:p>
        </p:txBody>
      </p:sp>
      <p:pic>
        <p:nvPicPr>
          <p:cNvPr id="7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5">
            <a:alphaModFix amt="100000"/>
          </a:blip>
          <a:stretch/>
        </p:blipFill>
        <p:spPr>
          <a:xfrm>
            <a:off x="11015377" y="2997803"/>
            <a:ext cx="799653" cy="813792"/>
          </a:xfrm>
          <a:prstGeom prst="rect">
            <a:avLst/>
          </a:prstGeom>
        </p:spPr>
      </p:pic>
      <p:pic>
        <p:nvPicPr>
          <p:cNvPr id="7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7">
            <a:alphaModFix amt="100000"/>
          </a:blip>
          <a:stretch/>
        </p:blipFill>
        <p:spPr>
          <a:xfrm>
            <a:off x="11029474" y="3011996"/>
            <a:ext cx="152400" cy="152400"/>
          </a:xfrm>
          <a:prstGeom prst="rect">
            <a:avLst/>
          </a:prstGeom>
        </p:spPr>
      </p:pic>
      <p:pic>
        <p:nvPicPr>
          <p:cNvPr id="785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0">
            <a:alphaModFix amt="100000"/>
            <a:extLst>
              <a:ext uri="{F658A9BD-7C1B-4CB1-A176-EF82F9A9003F}">
                <asvg:svgBlip xmlns:r="http://schemas.openxmlformats.org/officeDocument/2006/relationships" xmlns:asvg="http://schemas.microsoft.com/office/drawing/2016/SVG/main" r:embed="rId25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183874" y="3166300"/>
            <a:ext cx="463010" cy="463010"/>
          </a:xfrm>
          <a:prstGeom prst="rect">
            <a:avLst/>
          </a:prstGeom>
        </p:spPr>
      </p:pic>
      <p:sp>
        <p:nvSpPr>
          <p:cNvPr id="78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3980688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Trigger pack from repository content</a:t>
            </a:r>
          </a:p>
        </p:txBody>
      </p:sp>
      <p:pic>
        <p:nvPicPr>
          <p:cNvPr id="78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2">
            <a:alphaModFix amt="100000"/>
          </a:blip>
          <a:stretch/>
        </p:blipFill>
        <p:spPr>
          <a:xfrm>
            <a:off x="6440424" y="4123277"/>
            <a:ext cx="71140" cy="71140"/>
          </a:xfrm>
          <a:prstGeom prst="rect">
            <a:avLst/>
          </a:prstGeom>
        </p:spPr>
      </p:pic>
      <p:sp>
        <p:nvSpPr>
          <p:cNvPr id="79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4337304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Build artifacts in isolated Build environment</a:t>
            </a:r>
          </a:p>
        </p:txBody>
      </p:sp>
      <p:pic>
        <p:nvPicPr>
          <p:cNvPr id="79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4">
            <a:alphaModFix amt="100000"/>
          </a:blip>
          <a:stretch/>
        </p:blipFill>
        <p:spPr>
          <a:xfrm>
            <a:off x="6440424" y="4479893"/>
            <a:ext cx="71140" cy="71140"/>
          </a:xfrm>
          <a:prstGeom prst="rect">
            <a:avLst/>
          </a:prstGeom>
        </p:spPr>
      </p:pic>
      <p:sp>
        <p:nvSpPr>
          <p:cNvPr id="79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4693920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Publish only validated managed artifacts</a:t>
            </a:r>
          </a:p>
        </p:txBody>
      </p:sp>
      <p:pic>
        <p:nvPicPr>
          <p:cNvPr id="79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6">
            <a:alphaModFix amt="100000"/>
          </a:blip>
          <a:stretch/>
        </p:blipFill>
        <p:spPr>
          <a:xfrm>
            <a:off x="6440424" y="4836604"/>
            <a:ext cx="71140" cy="71140"/>
          </a:xfrm>
          <a:prstGeom prst="rect">
            <a:avLst/>
          </a:prstGeom>
        </p:spPr>
      </p:pic>
      <p:sp>
        <p:nvSpPr>
          <p:cNvPr id="79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5050536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Avoid packing from Dev environment</a:t>
            </a:r>
          </a:p>
        </p:txBody>
      </p:sp>
      <p:pic>
        <p:nvPicPr>
          <p:cNvPr id="80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8">
            <a:alphaModFix amt="100000"/>
          </a:blip>
          <a:stretch/>
        </p:blipFill>
        <p:spPr>
          <a:xfrm>
            <a:off x="6440424" y="5193220"/>
            <a:ext cx="71140" cy="71140"/>
          </a:xfrm>
          <a:prstGeom prst="rect">
            <a:avLst/>
          </a:prstGeom>
        </p:spPr>
      </p:pic>
      <p:sp>
        <p:nvSpPr>
          <p:cNvPr id="80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0086" y="3077908"/>
            <a:ext cx="4424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Replace and unpack become environment to repo sync</a:t>
            </a:r>
          </a:p>
        </p:txBody>
      </p:sp>
      <p:sp>
        <p:nvSpPr>
          <p:cNvPr id="805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66664" y="3151251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03</a:t>
            </a:r>
          </a:p>
        </p:txBody>
      </p:sp>
      <p:pic>
        <p:nvPicPr>
          <p:cNvPr id="8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100000"/>
          </a:blip>
          <a:stretch/>
        </p:blipFill>
        <p:spPr>
          <a:xfrm>
            <a:off x="16695134" y="2997803"/>
            <a:ext cx="799653" cy="813792"/>
          </a:xfrm>
          <a:prstGeom prst="rect">
            <a:avLst/>
          </a:prstGeom>
        </p:spPr>
      </p:pic>
      <p:pic>
        <p:nvPicPr>
          <p:cNvPr id="8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100000"/>
          </a:blip>
          <a:stretch/>
        </p:blipFill>
        <p:spPr>
          <a:xfrm>
            <a:off x="16709231" y="3011996"/>
            <a:ext cx="152400" cy="152400"/>
          </a:xfrm>
          <a:prstGeom prst="rect">
            <a:avLst/>
          </a:prstGeom>
        </p:spPr>
      </p:pic>
      <p:pic>
        <p:nvPicPr>
          <p:cNvPr id="81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5">
            <a:alphaModFix amt="100000"/>
            <a:extLst>
              <a:ext uri="{04707CCE-8AB6-4B0A-9707-037497D948C0}">
                <asvg:svgBlip xmlns:r="http://schemas.openxmlformats.org/officeDocument/2006/relationships" xmlns:asvg="http://schemas.microsoft.com/office/drawing/2016/SVG/main" r:embed="rId27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863536" y="3166300"/>
            <a:ext cx="463010" cy="463010"/>
          </a:xfrm>
          <a:prstGeom prst="rect">
            <a:avLst/>
          </a:prstGeom>
        </p:spPr>
      </p:pic>
      <p:sp>
        <p:nvSpPr>
          <p:cNvPr id="8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394" y="3980688"/>
            <a:ext cx="522713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Replace+unpack write changes back to repository</a:t>
            </a:r>
          </a:p>
        </p:txBody>
      </p:sp>
      <p:pic>
        <p:nvPicPr>
          <p:cNvPr id="81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7">
            <a:alphaModFix amt="100000"/>
          </a:blip>
          <a:stretch/>
        </p:blipFill>
        <p:spPr>
          <a:xfrm>
            <a:off x="12120086" y="4123277"/>
            <a:ext cx="71140" cy="71140"/>
          </a:xfrm>
          <a:prstGeom prst="rect">
            <a:avLst/>
          </a:prstGeom>
        </p:spPr>
      </p:pic>
      <p:sp>
        <p:nvSpPr>
          <p:cNvPr id="81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394" y="4693920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Sync should be Env to Repo only</a:t>
            </a:r>
          </a:p>
        </p:txBody>
      </p:sp>
      <p:pic>
        <p:nvPicPr>
          <p:cNvPr id="81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9">
            <a:alphaModFix amt="100000"/>
          </a:blip>
          <a:stretch/>
        </p:blipFill>
        <p:spPr>
          <a:xfrm>
            <a:off x="12120086" y="4836604"/>
            <a:ext cx="71140" cy="71140"/>
          </a:xfrm>
          <a:prstGeom prst="rect">
            <a:avLst/>
          </a:prstGeom>
        </p:spPr>
      </p:pic>
      <p:sp>
        <p:nvSpPr>
          <p:cNvPr id="82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394" y="5050536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Commit unpacked solution to feature branch</a:t>
            </a:r>
          </a:p>
        </p:txBody>
      </p:sp>
      <p:pic>
        <p:nvPicPr>
          <p:cNvPr id="82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1">
            <a:alphaModFix amt="100000"/>
          </a:blip>
          <a:stretch/>
        </p:blipFill>
        <p:spPr>
          <a:xfrm>
            <a:off x="12120086" y="5193220"/>
            <a:ext cx="71140" cy="71140"/>
          </a:xfrm>
          <a:prstGeom prst="rect">
            <a:avLst/>
          </a:prstGeom>
        </p:spPr>
      </p:pic>
      <p:sp>
        <p:nvSpPr>
          <p:cNvPr id="82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8394" y="5407247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Merge flows remain Git driven</a:t>
            </a:r>
          </a:p>
        </p:txBody>
      </p:sp>
      <p:pic>
        <p:nvPicPr>
          <p:cNvPr id="82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3">
            <a:alphaModFix amt="100000"/>
          </a:blip>
          <a:stretch/>
        </p:blipFill>
        <p:spPr>
          <a:xfrm>
            <a:off x="12120086" y="5549836"/>
            <a:ext cx="71140" cy="71140"/>
          </a:xfrm>
          <a:prstGeom prst="rect">
            <a:avLst/>
          </a:prstGeom>
        </p:spPr>
      </p:pic>
      <p:sp>
        <p:nvSpPr>
          <p:cNvPr id="82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148483"/>
            <a:ext cx="442436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Split CD logic by branch to target environment</a:t>
            </a:r>
          </a:p>
        </p:txBody>
      </p:sp>
      <p:sp>
        <p:nvSpPr>
          <p:cNvPr id="831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9148" y="6221920"/>
            <a:ext cx="28098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04</a:t>
            </a:r>
          </a:p>
        </p:txBody>
      </p:sp>
      <p:pic>
        <p:nvPicPr>
          <p:cNvPr id="8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5">
            <a:alphaModFix amt="100000"/>
          </a:blip>
          <a:stretch/>
        </p:blipFill>
        <p:spPr>
          <a:xfrm>
            <a:off x="5335619" y="6068473"/>
            <a:ext cx="799653" cy="813792"/>
          </a:xfrm>
          <a:prstGeom prst="rect">
            <a:avLst/>
          </a:prstGeom>
        </p:spPr>
      </p:pic>
      <p:pic>
        <p:nvPicPr>
          <p:cNvPr id="8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7">
            <a:alphaModFix amt="100000"/>
          </a:blip>
          <a:stretch/>
        </p:blipFill>
        <p:spPr>
          <a:xfrm>
            <a:off x="5349812" y="6082570"/>
            <a:ext cx="152400" cy="152400"/>
          </a:xfrm>
          <a:prstGeom prst="rect">
            <a:avLst/>
          </a:prstGeom>
        </p:spPr>
      </p:pic>
      <p:pic>
        <p:nvPicPr>
          <p:cNvPr id="837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0">
            <a:alphaModFix amt="100000"/>
            <a:extLst>
              <a:ext uri="{A9E1EAD4-A0F1-414D-BEB4-BDF04B1159D2}">
                <asvg:svgBlip xmlns:r="http://schemas.openxmlformats.org/officeDocument/2006/relationships" xmlns:asvg="http://schemas.microsoft.com/office/drawing/2016/SVG/main" r:embed="rId28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504116" y="6236875"/>
            <a:ext cx="463010" cy="463010"/>
          </a:xfrm>
          <a:prstGeom prst="rect">
            <a:avLst/>
          </a:prstGeom>
        </p:spPr>
      </p:pic>
      <p:sp>
        <p:nvSpPr>
          <p:cNvPr id="83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7051262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dev branch deploys to Dev and SIT</a:t>
            </a:r>
          </a:p>
        </p:txBody>
      </p:sp>
      <p:pic>
        <p:nvPicPr>
          <p:cNvPr id="84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2">
            <a:alphaModFix amt="100000"/>
          </a:blip>
          <a:stretch/>
        </p:blipFill>
        <p:spPr>
          <a:xfrm>
            <a:off x="760666" y="7193947"/>
            <a:ext cx="71140" cy="71140"/>
          </a:xfrm>
          <a:prstGeom prst="rect">
            <a:avLst/>
          </a:prstGeom>
        </p:spPr>
      </p:pic>
      <p:sp>
        <p:nvSpPr>
          <p:cNvPr id="84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7407878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release branch deploys to UAT</a:t>
            </a:r>
          </a:p>
        </p:txBody>
      </p:sp>
      <p:pic>
        <p:nvPicPr>
          <p:cNvPr id="84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4">
            <a:alphaModFix amt="100000"/>
          </a:blip>
          <a:stretch/>
        </p:blipFill>
        <p:spPr>
          <a:xfrm>
            <a:off x="760666" y="7550563"/>
            <a:ext cx="71140" cy="71140"/>
          </a:xfrm>
          <a:prstGeom prst="rect">
            <a:avLst/>
          </a:prstGeom>
        </p:spPr>
      </p:pic>
      <p:sp>
        <p:nvSpPr>
          <p:cNvPr id="84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7764494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main branch deploys to PreProd and Prod</a:t>
            </a:r>
          </a:p>
        </p:txBody>
      </p:sp>
      <p:pic>
        <p:nvPicPr>
          <p:cNvPr id="84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6">
            <a:alphaModFix amt="100000"/>
          </a:blip>
          <a:stretch/>
        </p:blipFill>
        <p:spPr>
          <a:xfrm>
            <a:off x="760666" y="7907179"/>
            <a:ext cx="71140" cy="71140"/>
          </a:xfrm>
          <a:prstGeom prst="rect">
            <a:avLst/>
          </a:prstGeom>
        </p:spPr>
      </p:pic>
      <p:sp>
        <p:nvSpPr>
          <p:cNvPr id="85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8121206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hotfix branch deploys to Dev2 and Prod</a:t>
            </a:r>
          </a:p>
        </p:txBody>
      </p:sp>
      <p:pic>
        <p:nvPicPr>
          <p:cNvPr id="85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8">
            <a:alphaModFix amt="100000"/>
          </a:blip>
          <a:stretch/>
        </p:blipFill>
        <p:spPr>
          <a:xfrm>
            <a:off x="760666" y="8263795"/>
            <a:ext cx="71140" cy="71140"/>
          </a:xfrm>
          <a:prstGeom prst="rect">
            <a:avLst/>
          </a:prstGeom>
        </p:spPr>
      </p:pic>
      <p:sp>
        <p:nvSpPr>
          <p:cNvPr id="85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6068473"/>
            <a:ext cx="442436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Recommendation: validate in isolated Build environment before publishing</a:t>
            </a:r>
          </a:p>
        </p:txBody>
      </p:sp>
      <p:sp>
        <p:nvSpPr>
          <p:cNvPr id="857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84239" y="6141815"/>
            <a:ext cx="261938" cy="200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512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05</a:t>
            </a:r>
          </a:p>
        </p:txBody>
      </p:sp>
      <p:pic>
        <p:nvPicPr>
          <p:cNvPr id="8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0">
            <a:alphaModFix amt="100000"/>
          </a:blip>
          <a:stretch/>
        </p:blipFill>
        <p:spPr>
          <a:xfrm>
            <a:off x="11015377" y="6068473"/>
            <a:ext cx="799653" cy="813792"/>
          </a:xfrm>
          <a:prstGeom prst="rect">
            <a:avLst/>
          </a:prstGeom>
        </p:spPr>
      </p:pic>
      <p:pic>
        <p:nvPicPr>
          <p:cNvPr id="8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2">
            <a:alphaModFix amt="100000"/>
          </a:blip>
          <a:stretch/>
        </p:blipFill>
        <p:spPr>
          <a:xfrm>
            <a:off x="11029474" y="6082570"/>
            <a:ext cx="152400" cy="152400"/>
          </a:xfrm>
          <a:prstGeom prst="rect">
            <a:avLst/>
          </a:prstGeom>
        </p:spPr>
      </p:pic>
      <p:pic>
        <p:nvPicPr>
          <p:cNvPr id="863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5">
            <a:alphaModFix amt="100000"/>
            <a:extLst>
              <a:ext uri="{DCAA04D6-6995-43C5-8376-FE142F62FE68}">
                <asvg:svgBlip xmlns:r="http://schemas.openxmlformats.org/officeDocument/2006/relationships" xmlns:asvg="http://schemas.microsoft.com/office/drawing/2016/SVG/main" r:embed="rId30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183874" y="6236875"/>
            <a:ext cx="463010" cy="463010"/>
          </a:xfrm>
          <a:prstGeom prst="rect">
            <a:avLst/>
          </a:prstGeom>
        </p:spPr>
      </p:pic>
      <p:sp>
        <p:nvSpPr>
          <p:cNvPr id="86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7210996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Run CI outputs validation in Build environment</a:t>
            </a:r>
          </a:p>
        </p:txBody>
      </p:sp>
      <p:pic>
        <p:nvPicPr>
          <p:cNvPr id="86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7">
            <a:alphaModFix amt="100000"/>
          </a:blip>
          <a:stretch/>
        </p:blipFill>
        <p:spPr>
          <a:xfrm>
            <a:off x="6440424" y="7353681"/>
            <a:ext cx="71140" cy="71140"/>
          </a:xfrm>
          <a:prstGeom prst="rect">
            <a:avLst/>
          </a:prstGeom>
        </p:spPr>
      </p:pic>
      <p:sp>
        <p:nvSpPr>
          <p:cNvPr id="86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7567612"/>
            <a:ext cx="5227130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Only publish managed artifacts after passing validation</a:t>
            </a:r>
          </a:p>
        </p:txBody>
      </p:sp>
      <p:pic>
        <p:nvPicPr>
          <p:cNvPr id="87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9">
            <a:alphaModFix amt="100000"/>
          </a:blip>
          <a:stretch/>
        </p:blipFill>
        <p:spPr>
          <a:xfrm>
            <a:off x="6440424" y="7710297"/>
            <a:ext cx="71140" cy="71140"/>
          </a:xfrm>
          <a:prstGeom prst="rect">
            <a:avLst/>
          </a:prstGeom>
        </p:spPr>
      </p:pic>
      <p:sp>
        <p:nvSpPr>
          <p:cNvPr id="87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18732" y="8280940"/>
            <a:ext cx="5227130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Prevents contaminating production artifacts</a:t>
            </a:r>
          </a:p>
        </p:txBody>
      </p:sp>
      <p:pic>
        <p:nvPicPr>
          <p:cNvPr id="87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1">
            <a:alphaModFix amt="100000"/>
          </a:blip>
          <a:stretch/>
        </p:blipFill>
        <p:spPr>
          <a:xfrm>
            <a:off x="6440424" y="8423529"/>
            <a:ext cx="71140" cy="71140"/>
          </a:xfrm>
          <a:prstGeom prst="rect">
            <a:avLst/>
          </a:prstGeom>
        </p:spPr>
      </p:pic>
      <p:sp>
        <p:nvSpPr>
          <p:cNvPr id="87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Concrete changes to your pipeline</a:t>
            </a:r>
          </a:p>
        </p:txBody>
      </p:sp>
      <p:sp>
        <p:nvSpPr>
          <p:cNvPr id="87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Move from environment-driven artifacts to branch-driven builds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885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0">
            <a:alphaModFix amt="100000"/>
            <a:extLst>
              <a:ext uri="{D143FB4C-8D13-473D-BBEE-6F2EECE67D3C}">
                <asvg:svgBlip xmlns:r="http://schemas.openxmlformats.org/officeDocument/2006/relationships" xmlns:asvg="http://schemas.microsoft.com/office/drawing/2016/SVG/main" r:embed="rId319"/>
                <a14:useLocalDpi xmlns:a14="http://schemas.microsoft.com/office/drawing/2010/main" val="0"/>
              </a:ext>
            </a:extLst>
          </a:blip>
          <a:srcRect l="0" t="-28" r="0" b="-28"/>
          <a:stretch/>
        </p:blipFill>
        <p:spPr>
          <a:xfrm>
            <a:off x="424053" y="3000184"/>
            <a:ext cx="8367712" cy="6436614"/>
          </a:xfrm>
          <a:prstGeom prst="rect">
            <a:avLst/>
          </a:prstGeom>
        </p:spPr>
      </p:pic>
      <p:pic>
        <p:nvPicPr>
          <p:cNvPr id="8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2">
            <a:alphaModFix amt="100000"/>
          </a:blip>
          <a:stretch/>
        </p:blipFill>
        <p:spPr>
          <a:xfrm>
            <a:off x="9089827" y="8507313"/>
            <a:ext cx="775692" cy="796826"/>
          </a:xfrm>
          <a:prstGeom prst="rect">
            <a:avLst/>
          </a:prstGeom>
        </p:spPr>
      </p:pic>
      <p:pic>
        <p:nvPicPr>
          <p:cNvPr id="88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5">
            <a:alphaModFix amt="100000"/>
            <a:extLst>
              <a:ext uri="{F1720845-FD49-4DF7-968C-CF1DD83647AC}">
                <asvg:svgBlip xmlns:r="http://schemas.openxmlformats.org/officeDocument/2006/relationships" xmlns:asvg="http://schemas.microsoft.com/office/drawing/2016/SVG/main" r:embed="rId32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8675560"/>
            <a:ext cx="440817" cy="440817"/>
          </a:xfrm>
          <a:prstGeom prst="rect">
            <a:avLst/>
          </a:prstGeom>
        </p:spPr>
      </p:pic>
      <p:sp>
        <p:nvSpPr>
          <p:cNvPr id="89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8404670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Feature / Dev branch</a:t>
            </a:r>
          </a:p>
        </p:txBody>
      </p:sp>
      <p:sp>
        <p:nvSpPr>
          <p:cNvPr id="89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8762810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build-dev.yml plus optional unpack-from-dev.yml; temporary solution created in Dev. Use push triggers.</a:t>
            </a:r>
          </a:p>
        </p:txBody>
      </p:sp>
      <p:pic>
        <p:nvPicPr>
          <p:cNvPr id="8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7">
            <a:alphaModFix amt="100000"/>
          </a:blip>
          <a:stretch/>
        </p:blipFill>
        <p:spPr>
          <a:xfrm>
            <a:off x="9089827" y="7435750"/>
            <a:ext cx="775692" cy="796826"/>
          </a:xfrm>
          <a:prstGeom prst="rect">
            <a:avLst/>
          </a:prstGeom>
        </p:spPr>
      </p:pic>
      <p:pic>
        <p:nvPicPr>
          <p:cNvPr id="89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 amt="100000"/>
            <a:extLst>
              <a:ext uri="{BBB50B38-9A46-4C5C-9E0E-27B378383088}">
                <asvg:svgBlip xmlns:r="http://schemas.openxmlformats.org/officeDocument/2006/relationships" xmlns:asvg="http://schemas.microsoft.com/office/drawing/2016/SVG/main" r:embed="rId32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7603903"/>
            <a:ext cx="440817" cy="440817"/>
          </a:xfrm>
          <a:prstGeom prst="rect">
            <a:avLst/>
          </a:prstGeom>
        </p:spPr>
      </p:pic>
      <p:sp>
        <p:nvSpPr>
          <p:cNvPr id="89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7333012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Main / Release branches</a:t>
            </a:r>
          </a:p>
        </p:txBody>
      </p:sp>
      <p:sp>
        <p:nvSpPr>
          <p:cNvPr id="89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7691152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build-main.yml and build-release.yml for mainline integration and releases. Use push and manual dispatch triggers.</a:t>
            </a:r>
          </a:p>
        </p:txBody>
      </p:sp>
      <p:pic>
        <p:nvPicPr>
          <p:cNvPr id="8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2">
            <a:alphaModFix amt="100000"/>
          </a:blip>
          <a:stretch/>
        </p:blipFill>
        <p:spPr>
          <a:xfrm>
            <a:off x="9089827" y="6360765"/>
            <a:ext cx="775692" cy="796826"/>
          </a:xfrm>
          <a:prstGeom prst="rect">
            <a:avLst/>
          </a:prstGeom>
        </p:spPr>
      </p:pic>
      <p:pic>
        <p:nvPicPr>
          <p:cNvPr id="90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5">
            <a:alphaModFix amt="100000"/>
            <a:extLst>
              <a:ext uri="{0D2C2246-0D7D-478F-B67A-14AE3F5EA13C}">
                <asvg:svgBlip xmlns:r="http://schemas.openxmlformats.org/officeDocument/2006/relationships" xmlns:asvg="http://schemas.microsoft.com/office/drawing/2016/SVG/main" r:embed="rId33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6528911"/>
            <a:ext cx="440817" cy="440817"/>
          </a:xfrm>
          <a:prstGeom prst="rect">
            <a:avLst/>
          </a:prstGeom>
        </p:spPr>
      </p:pic>
      <p:sp>
        <p:nvSpPr>
          <p:cNvPr id="90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6258020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Hotfix branch</a:t>
            </a:r>
          </a:p>
        </p:txBody>
      </p:sp>
      <p:sp>
        <p:nvSpPr>
          <p:cNvPr id="90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6616160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build-hotfix.yml and deploy-hotfix.yml for urgent fixes and direct promotions. Use workflow_dispatch and push triggers.</a:t>
            </a:r>
          </a:p>
        </p:txBody>
      </p:sp>
      <p:pic>
        <p:nvPicPr>
          <p:cNvPr id="9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7">
            <a:alphaModFix amt="100000"/>
          </a:blip>
          <a:stretch/>
        </p:blipFill>
        <p:spPr>
          <a:xfrm>
            <a:off x="9089827" y="5292328"/>
            <a:ext cx="775692" cy="796826"/>
          </a:xfrm>
          <a:prstGeom prst="rect">
            <a:avLst/>
          </a:prstGeom>
        </p:spPr>
      </p:pic>
      <p:pic>
        <p:nvPicPr>
          <p:cNvPr id="90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0">
            <a:alphaModFix amt="100000"/>
            <a:extLst>
              <a:ext uri="{CC21BD8D-D2D8-40C7-81E6-FF0FC46E0806}">
                <asvg:svgBlip xmlns:r="http://schemas.openxmlformats.org/officeDocument/2006/relationships" xmlns:asvg="http://schemas.microsoft.com/office/drawing/2016/SVG/main" r:embed="rId33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5460492"/>
            <a:ext cx="440817" cy="440817"/>
          </a:xfrm>
          <a:prstGeom prst="rect">
            <a:avLst/>
          </a:prstGeom>
        </p:spPr>
      </p:pic>
      <p:sp>
        <p:nvSpPr>
          <p:cNvPr id="90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5189601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Environment-specific deploys</a:t>
            </a:r>
          </a:p>
        </p:txBody>
      </p:sp>
      <p:sp>
        <p:nvSpPr>
          <p:cNvPr id="90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5547646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deploy-dev-sit.yml, deploy-uat.yml, deploy-preprod-prod.yml for SIT, UAT, PreProd, Prod promotions.</a:t>
            </a:r>
          </a:p>
        </p:txBody>
      </p:sp>
      <p:pic>
        <p:nvPicPr>
          <p:cNvPr id="9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2">
            <a:alphaModFix amt="100000"/>
          </a:blip>
          <a:stretch/>
        </p:blipFill>
        <p:spPr>
          <a:xfrm>
            <a:off x="9089827" y="4219872"/>
            <a:ext cx="775692" cy="796826"/>
          </a:xfrm>
          <a:prstGeom prst="rect">
            <a:avLst/>
          </a:prstGeom>
        </p:spPr>
      </p:pic>
      <p:pic>
        <p:nvPicPr>
          <p:cNvPr id="912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5">
            <a:alphaModFix amt="100000"/>
            <a:extLst>
              <a:ext uri="{0449876D-9022-4744-AA8E-89A4B4C46EAD}">
                <asvg:svgBlip xmlns:r="http://schemas.openxmlformats.org/officeDocument/2006/relationships" xmlns:asvg="http://schemas.microsoft.com/office/drawing/2016/SVG/main" r:embed="rId34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4388072"/>
            <a:ext cx="440817" cy="440817"/>
          </a:xfrm>
          <a:prstGeom prst="rect">
            <a:avLst/>
          </a:prstGeom>
        </p:spPr>
      </p:pic>
      <p:sp>
        <p:nvSpPr>
          <p:cNvPr id="91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4117276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Artifact management</a:t>
            </a:r>
          </a:p>
        </p:txBody>
      </p:sp>
      <p:sp>
        <p:nvSpPr>
          <p:cNvPr id="91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4475321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Store managed and unmanaged zips as Actions artifacts for promotion and auditability.</a:t>
            </a:r>
          </a:p>
        </p:txBody>
      </p:sp>
      <p:pic>
        <p:nvPicPr>
          <p:cNvPr id="9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7">
            <a:alphaModFix amt="100000"/>
          </a:blip>
          <a:stretch/>
        </p:blipFill>
        <p:spPr>
          <a:xfrm>
            <a:off x="9089827" y="3145631"/>
            <a:ext cx="775692" cy="796826"/>
          </a:xfrm>
          <a:prstGeom prst="rect">
            <a:avLst/>
          </a:prstGeom>
        </p:spPr>
      </p:pic>
      <p:pic>
        <p:nvPicPr>
          <p:cNvPr id="918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0">
            <a:alphaModFix amt="100000"/>
            <a:extLst>
              <a:ext uri="{C97C4B15-4EDC-4BC3-B940-F8BCD1BD7EF0}">
                <asvg:svgBlip xmlns:r="http://schemas.openxmlformats.org/officeDocument/2006/relationships" xmlns:asvg="http://schemas.microsoft.com/office/drawing/2016/SVG/main" r:embed="rId34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58014" y="3313843"/>
            <a:ext cx="440817" cy="440817"/>
          </a:xfrm>
          <a:prstGeom prst="rect">
            <a:avLst/>
          </a:prstGeom>
        </p:spPr>
      </p:pic>
      <p:sp>
        <p:nvSpPr>
          <p:cNvPr id="920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3042952"/>
            <a:ext cx="748188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Chaining and gates</a:t>
            </a:r>
          </a:p>
        </p:txBody>
      </p:sp>
      <p:sp>
        <p:nvSpPr>
          <p:cNvPr id="921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49828" y="3400996"/>
            <a:ext cx="748188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500" spc="-3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workflow_run to chain builds to deploys and workflow_dispatch plus manual approvals for promotion gates.</a:t>
            </a:r>
          </a:p>
        </p:txBody>
      </p:sp>
      <p:sp>
        <p:nvSpPr>
          <p:cNvPr id="92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GitHub-driven CI CD: branch workflows and artifact promotion</a:t>
            </a:r>
          </a:p>
        </p:txBody>
      </p:sp>
      <p:sp>
        <p:nvSpPr>
          <p:cNvPr id="92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Map branches to build and deploy workflows; use Actions artifacts and gated promotions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6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930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9">
            <a:alphaModFix amt="100000"/>
            <a:extLst>
              <a:ext uri="{C67A01AC-4DF1-41EB-A5F6-A2350A4D0627}">
                <asvg:svgBlip xmlns:r="http://schemas.openxmlformats.org/officeDocument/2006/relationships" xmlns:asvg="http://schemas.microsoft.com/office/drawing/2016/SVG/main" r:embed="rId35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2924919"/>
            <a:ext cx="457051" cy="457051"/>
          </a:xfrm>
          <a:prstGeom prst="rect">
            <a:avLst/>
          </a:prstGeom>
        </p:spPr>
      </p:pic>
      <p:sp>
        <p:nvSpPr>
          <p:cNvPr id="93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610832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Draft concrete GitHub Actions files: </a:t>
            </a:r>
            <a:r>
              <a:rPr lang="en-US" sz="1800" b="1" dirty="0">
                <a:solidFill>
                  <a:srgbClr val="131523"/>
                </a:solidFill>
                <a:latin typeface="Lexend Medium" panose="00000700000000000000" pitchFamily="2" charset="0"/>
              </a:rPr>
              <a:t>build-dev.yml</a:t>
            </a:r>
            <a:r>
              <a:rPr lang="en-US" sz="1800" dirty="0">
                <a:solidFill>
                  <a:srgbClr val="131523"/>
                </a:solidFill>
                <a:latin typeface="Lexend Medium" panose="00000700000000000000" pitchFamily="2" charset="0"/>
              </a:rPr>
              <a:t>, deploy-dev-sit.yml</a:t>
            </a:r>
          </a:p>
        </p:txBody>
      </p:sp>
      <p:sp>
        <p:nvSpPr>
          <p:cNvPr id="934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6100" y="3665601"/>
            <a:ext cx="233362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93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923157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Produce ready-to-use workflow YAML for Dev and SIT deployments</a:t>
            </a:r>
          </a:p>
        </p:txBody>
      </p:sp>
      <p:pic>
        <p:nvPicPr>
          <p:cNvPr id="938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2">
            <a:alphaModFix amt="100000"/>
            <a:extLst>
              <a:ext uri="{4C4510B7-B293-468A-83DB-AA79912DBE7E}">
                <asvg:svgBlip xmlns:r="http://schemas.openxmlformats.org/officeDocument/2006/relationships" xmlns:asvg="http://schemas.microsoft.com/office/drawing/2016/SVG/main" r:embed="rId36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4374803"/>
            <a:ext cx="457051" cy="457051"/>
          </a:xfrm>
          <a:prstGeom prst="rect">
            <a:avLst/>
          </a:prstGeom>
        </p:spPr>
      </p:pic>
      <p:sp>
        <p:nvSpPr>
          <p:cNvPr id="94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060632"/>
            <a:ext cx="8348662" cy="561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Draft concrete GitHub Actions files: build-main.yml and deploy-preprod-prod.yml</a:t>
            </a:r>
          </a:p>
        </p:txBody>
      </p:sp>
      <p:sp>
        <p:nvSpPr>
          <p:cNvPr id="942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7147" y="5115401"/>
            <a:ext cx="233362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94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5647182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CI for main branch and CD for PreProd and Prod promotion</a:t>
            </a:r>
          </a:p>
        </p:txBody>
      </p:sp>
      <p:pic>
        <p:nvPicPr>
          <p:cNvPr id="946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5">
            <a:alphaModFix amt="100000"/>
            <a:extLst>
              <a:ext uri="{AE3A5D03-6858-4E82-9C86-266717189916}">
                <asvg:svgBlip xmlns:r="http://schemas.openxmlformats.org/officeDocument/2006/relationships" xmlns:asvg="http://schemas.microsoft.com/office/drawing/2016/SVG/main" r:embed="rId36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6098828"/>
            <a:ext cx="457051" cy="457051"/>
          </a:xfrm>
          <a:prstGeom prst="rect">
            <a:avLst/>
          </a:prstGeom>
        </p:spPr>
      </p:pic>
      <p:sp>
        <p:nvSpPr>
          <p:cNvPr id="94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784658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Draft concrete GitHub Actions file: build-hotfix.yml</a:t>
            </a:r>
          </a:p>
        </p:txBody>
      </p:sp>
      <p:sp>
        <p:nvSpPr>
          <p:cNvPr id="950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3623" y="6839522"/>
            <a:ext cx="242888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95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096982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Separate hotfix workflow to minimize Prod risk</a:t>
            </a:r>
          </a:p>
        </p:txBody>
      </p:sp>
      <p:pic>
        <p:nvPicPr>
          <p:cNvPr id="954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8">
            <a:alphaModFix amt="100000"/>
            <a:extLst>
              <a:ext uri="{64903C5D-5FA6-4140-83E3-CC88A3192677}">
                <asvg:svgBlip xmlns:r="http://schemas.openxmlformats.org/officeDocument/2006/relationships" xmlns:asvg="http://schemas.microsoft.com/office/drawing/2016/SVG/main" r:embed="rId36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7548711"/>
            <a:ext cx="457051" cy="457051"/>
          </a:xfrm>
          <a:prstGeom prst="rect">
            <a:avLst/>
          </a:prstGeom>
        </p:spPr>
      </p:pic>
      <p:sp>
        <p:nvSpPr>
          <p:cNvPr id="956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8234458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Provide Mermaid diagrams for docs</a:t>
            </a:r>
          </a:p>
        </p:txBody>
      </p:sp>
      <p:sp>
        <p:nvSpPr>
          <p:cNvPr id="95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813" y="8289322"/>
            <a:ext cx="252412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96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8546782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Visualize flow from Dev export to PreProd and Prod promotion</a:t>
            </a:r>
          </a:p>
        </p:txBody>
      </p:sp>
      <p:pic>
        <p:nvPicPr>
          <p:cNvPr id="962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1">
            <a:alphaModFix amt="100000"/>
            <a:extLst>
              <a:ext uri="{27EC1868-FAA2-4CC6-AD20-E2A1CBD31F69}">
                <asvg:svgBlip xmlns:r="http://schemas.openxmlformats.org/officeDocument/2006/relationships" xmlns:asvg="http://schemas.microsoft.com/office/drawing/2016/SVG/main" r:embed="rId37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75552" y="2924919"/>
            <a:ext cx="457051" cy="457051"/>
          </a:xfrm>
          <a:prstGeom prst="rect">
            <a:avLst/>
          </a:prstGeom>
        </p:spPr>
      </p:pic>
      <p:sp>
        <p:nvSpPr>
          <p:cNvPr id="964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3610832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Reference: pseudo-YAML example (build-dev.yml snippet) preserved</a:t>
            </a:r>
          </a:p>
        </p:txBody>
      </p:sp>
      <p:sp>
        <p:nvSpPr>
          <p:cNvPr id="966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08198" y="3665601"/>
            <a:ext cx="242888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968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3923157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Keep the offered pseudo-YAML as the base example</a:t>
            </a:r>
          </a:p>
        </p:txBody>
      </p:sp>
      <p:pic>
        <p:nvPicPr>
          <p:cNvPr id="970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4">
            <a:alphaModFix amt="100000"/>
            <a:extLst>
              <a:ext uri="{14EE2C48-29FB-4C4F-B879-954413FEDCA1}">
                <asvg:svgBlip xmlns:r="http://schemas.openxmlformats.org/officeDocument/2006/relationships" xmlns:asvg="http://schemas.microsoft.com/office/drawing/2016/SVG/main" r:embed="rId37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75552" y="4374803"/>
            <a:ext cx="457051" cy="457051"/>
          </a:xfrm>
          <a:prstGeom prst="rect">
            <a:avLst/>
          </a:prstGeom>
        </p:spPr>
      </p:pic>
      <p:sp>
        <p:nvSpPr>
          <p:cNvPr id="972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5060632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Recommend defining branch protection rules</a:t>
            </a:r>
          </a:p>
        </p:txBody>
      </p:sp>
      <p:sp>
        <p:nvSpPr>
          <p:cNvPr id="974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09627" y="5115401"/>
            <a:ext cx="242888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06</a:t>
            </a:r>
          </a:p>
        </p:txBody>
      </p:sp>
      <p:sp>
        <p:nvSpPr>
          <p:cNvPr id="976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5372957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Protect main and release branches before rolling to Production</a:t>
            </a:r>
          </a:p>
        </p:txBody>
      </p:sp>
      <p:pic>
        <p:nvPicPr>
          <p:cNvPr id="978" name="iconNod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7">
            <a:alphaModFix amt="100000"/>
            <a:extLst>
              <a:ext uri="{72A13193-F72B-4D7F-A8EC-6A589289315E}">
                <asvg:svgBlip xmlns:r="http://schemas.openxmlformats.org/officeDocument/2006/relationships" xmlns:asvg="http://schemas.microsoft.com/office/drawing/2016/SVG/main" r:embed="rId37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75552" y="5824686"/>
            <a:ext cx="457051" cy="457051"/>
          </a:xfrm>
          <a:prstGeom prst="rect">
            <a:avLst/>
          </a:prstGeom>
        </p:spPr>
      </p:pic>
      <p:sp>
        <p:nvSpPr>
          <p:cNvPr id="980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6510433"/>
            <a:ext cx="83486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        Recommend enforcing PR policies aligned with ALM</a:t>
            </a:r>
          </a:p>
        </p:txBody>
      </p:sp>
      <p:sp>
        <p:nvSpPr>
          <p:cNvPr id="982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211723" y="6565202"/>
            <a:ext cx="233362" cy="171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1296" b="1" dirty="0">
                <a:solidFill>
                  <a:srgbClr val="131523">
                    <a:alpha val="100000"/>
                  </a:srgbClr>
                </a:solidFill>
                <a:latin typeface="Lexend" panose="00000700000000000000" pitchFamily="2" charset="0"/>
              </a:rPr>
              <a:t>07</a:t>
            </a:r>
          </a:p>
        </p:txBody>
      </p:sp>
      <p:sp>
        <p:nvSpPr>
          <p:cNvPr id="984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5623" y="6822758"/>
            <a:ext cx="83486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Require approvals, passing CI, and required reviews for merges</a:t>
            </a:r>
          </a:p>
        </p:txBody>
      </p:sp>
      <p:sp>
        <p:nvSpPr>
          <p:cNvPr id="98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Next Steps: Pseudo-YAML Offer and Governance</a:t>
            </a:r>
          </a:p>
        </p:txBody>
      </p:sp>
      <p:sp>
        <p:nvSpPr>
          <p:cNvPr id="98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Concrete workflow files, diagrams, and branch controls to safely adopt ALM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3">
            <a:alphaModFix amt="100000"/>
          </a:blip>
          <a:stretch/>
        </p:blipFill>
        <p:spPr>
          <a:xfrm>
            <a:off x="7150322" y="2152936"/>
            <a:ext cx="533400" cy="533400"/>
          </a:xfrm>
          <a:prstGeom prst="rect">
            <a:avLst/>
          </a:prstGeom>
        </p:spPr>
      </p:pic>
      <p:sp>
        <p:nvSpPr>
          <p:cNvPr id="995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255574" y="2209610"/>
            <a:ext cx="35718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01</a:t>
            </a:r>
          </a:p>
        </p:txBody>
      </p:sp>
      <p:sp>
        <p:nvSpPr>
          <p:cNvPr id="99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4127" y="2152936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Make repository the single source of truth</a:t>
            </a:r>
          </a:p>
        </p:txBody>
      </p:sp>
      <p:sp>
        <p:nvSpPr>
          <p:cNvPr id="99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50322" y="3364325"/>
            <a:ext cx="239553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Treat branches as canonical state; stop relying on dev environment</a:t>
            </a:r>
          </a:p>
        </p:txBody>
      </p:sp>
      <p:pic>
        <p:nvPicPr>
          <p:cNvPr id="10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5">
            <a:alphaModFix amt="100000"/>
          </a:blip>
          <a:stretch/>
        </p:blipFill>
        <p:spPr>
          <a:xfrm>
            <a:off x="9812750" y="2152936"/>
            <a:ext cx="533400" cy="533400"/>
          </a:xfrm>
          <a:prstGeom prst="rect">
            <a:avLst/>
          </a:prstGeom>
        </p:spPr>
      </p:pic>
      <p:sp>
        <p:nvSpPr>
          <p:cNvPr id="100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14287" y="2209610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02</a:t>
            </a:r>
          </a:p>
        </p:txBody>
      </p:sp>
      <p:sp>
        <p:nvSpPr>
          <p:cNvPr id="100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36460" y="2152936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Build artifacts from branches, not environments</a:t>
            </a:r>
          </a:p>
        </p:txBody>
      </p:sp>
      <p:sp>
        <p:nvSpPr>
          <p:cNvPr id="10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12750" y="3364325"/>
            <a:ext cx="23955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Produce deployable artifacts directly from branch CI</a:t>
            </a:r>
          </a:p>
        </p:txBody>
      </p:sp>
      <p:pic>
        <p:nvPicPr>
          <p:cNvPr id="10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7">
            <a:alphaModFix amt="100000"/>
          </a:blip>
          <a:stretch/>
        </p:blipFill>
        <p:spPr>
          <a:xfrm>
            <a:off x="12475083" y="2152936"/>
            <a:ext cx="533400" cy="533400"/>
          </a:xfrm>
          <a:prstGeom prst="rect">
            <a:avLst/>
          </a:prstGeom>
        </p:spPr>
      </p:pic>
      <p:sp>
        <p:nvSpPr>
          <p:cNvPr id="1011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6334" y="2209610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03</a:t>
            </a:r>
          </a:p>
        </p:txBody>
      </p:sp>
      <p:sp>
        <p:nvSpPr>
          <p:cNvPr id="101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888" y="2152936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Use Dev2 plus hotfix branch for emergencies</a:t>
            </a:r>
          </a:p>
        </p:txBody>
      </p:sp>
      <p:sp>
        <p:nvSpPr>
          <p:cNvPr id="101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75083" y="3364325"/>
            <a:ext cx="23955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Isolate urgent fixes on hotfix branch merged back to main</a:t>
            </a:r>
          </a:p>
        </p:txBody>
      </p:sp>
      <p:pic>
        <p:nvPicPr>
          <p:cNvPr id="10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9">
            <a:alphaModFix amt="100000"/>
          </a:blip>
          <a:stretch/>
        </p:blipFill>
        <p:spPr>
          <a:xfrm>
            <a:off x="15137511" y="2152936"/>
            <a:ext cx="533400" cy="533400"/>
          </a:xfrm>
          <a:prstGeom prst="rect">
            <a:avLst/>
          </a:prstGeom>
        </p:spPr>
      </p:pic>
      <p:sp>
        <p:nvSpPr>
          <p:cNvPr id="1019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26856" y="2209610"/>
            <a:ext cx="38576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000000">
                    <a:alpha val="100000"/>
                  </a:srgbClr>
                </a:solidFill>
                <a:latin typeface="Lexend Medium" panose="00000700000000000000" pitchFamily="2" charset="0"/>
              </a:rPr>
              <a:t>04</a:t>
            </a:r>
          </a:p>
        </p:txBody>
      </p:sp>
      <p:sp>
        <p:nvSpPr>
          <p:cNvPr id="102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861220" y="2152936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Create CI pipelines for dev, release, main, hotfix</a:t>
            </a:r>
          </a:p>
        </p:txBody>
      </p:sp>
      <p:sp>
        <p:nvSpPr>
          <p:cNvPr id="102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137511" y="3364325"/>
            <a:ext cx="23955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Automate builds and tests per branch</a:t>
            </a:r>
          </a:p>
        </p:txBody>
      </p:sp>
      <p:pic>
        <p:nvPicPr>
          <p:cNvPr id="10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1">
            <a:alphaModFix amt="100000"/>
          </a:blip>
          <a:stretch/>
        </p:blipFill>
        <p:spPr>
          <a:xfrm>
            <a:off x="7150298" y="5286375"/>
            <a:ext cx="533400" cy="533400"/>
          </a:xfrm>
          <a:prstGeom prst="rect">
            <a:avLst/>
          </a:prstGeom>
        </p:spPr>
      </p:pic>
      <p:sp>
        <p:nvSpPr>
          <p:cNvPr id="1027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247668" y="5343144"/>
            <a:ext cx="3762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05</a:t>
            </a:r>
          </a:p>
        </p:txBody>
      </p:sp>
      <p:sp>
        <p:nvSpPr>
          <p:cNvPr id="102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4127" y="5286470"/>
            <a:ext cx="1671638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Create CD pipelines per environment with approval gates</a:t>
            </a:r>
          </a:p>
        </p:txBody>
      </p:sp>
      <p:sp>
        <p:nvSpPr>
          <p:cNvPr id="103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50322" y="6772084"/>
            <a:ext cx="23955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Promote artifacts from branch to SIT, UAT, PreProd, Prod</a:t>
            </a:r>
          </a:p>
        </p:txBody>
      </p:sp>
      <p:pic>
        <p:nvPicPr>
          <p:cNvPr id="10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3">
            <a:alphaModFix amt="100000"/>
          </a:blip>
          <a:stretch/>
        </p:blipFill>
        <p:spPr>
          <a:xfrm>
            <a:off x="9812684" y="5286375"/>
            <a:ext cx="533400" cy="533400"/>
          </a:xfrm>
          <a:prstGeom prst="rect">
            <a:avLst/>
          </a:prstGeom>
        </p:spPr>
      </p:pic>
      <p:sp>
        <p:nvSpPr>
          <p:cNvPr id="1035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12001" y="5343144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06</a:t>
            </a:r>
          </a:p>
        </p:txBody>
      </p:sp>
      <p:sp>
        <p:nvSpPr>
          <p:cNvPr id="1037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36460" y="5286470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Define unpack pipelines as sync-only</a:t>
            </a:r>
          </a:p>
        </p:txBody>
      </p:sp>
      <p:sp>
        <p:nvSpPr>
          <p:cNvPr id="1039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12750" y="6497860"/>
            <a:ext cx="2395538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Unpack artifacts to source without altering branch history</a:t>
            </a:r>
          </a:p>
        </p:txBody>
      </p:sp>
      <p:pic>
        <p:nvPicPr>
          <p:cNvPr id="10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5">
            <a:alphaModFix amt="100000"/>
          </a:blip>
          <a:stretch/>
        </p:blipFill>
        <p:spPr>
          <a:xfrm>
            <a:off x="12475073" y="5286375"/>
            <a:ext cx="533400" cy="533400"/>
          </a:xfrm>
          <a:prstGeom prst="rect">
            <a:avLst/>
          </a:prstGeom>
        </p:spPr>
      </p:pic>
      <p:sp>
        <p:nvSpPr>
          <p:cNvPr id="1043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7000" y="5343144"/>
            <a:ext cx="3667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07</a:t>
            </a:r>
          </a:p>
        </p:txBody>
      </p:sp>
      <p:sp>
        <p:nvSpPr>
          <p:cNvPr id="1045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198888" y="5286470"/>
            <a:ext cx="1671638" cy="1657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Implement branch protection and pull request policies</a:t>
            </a:r>
          </a:p>
        </p:txBody>
      </p:sp>
      <p:sp>
        <p:nvSpPr>
          <p:cNvPr id="1047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75083" y="7046404"/>
            <a:ext cx="23955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Enforce reviews, status checks, and required approvals</a:t>
            </a:r>
          </a:p>
        </p:txBody>
      </p:sp>
      <p:pic>
        <p:nvPicPr>
          <p:cNvPr id="10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7">
            <a:alphaModFix amt="100000"/>
          </a:blip>
          <a:stretch/>
        </p:blipFill>
        <p:spPr>
          <a:xfrm>
            <a:off x="15137454" y="5286375"/>
            <a:ext cx="533400" cy="533400"/>
          </a:xfrm>
          <a:prstGeom prst="rect">
            <a:avLst/>
          </a:prstGeom>
        </p:spPr>
      </p:pic>
      <p:sp>
        <p:nvSpPr>
          <p:cNvPr id="1051" name="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3714" y="5343144"/>
            <a:ext cx="3762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08</a:t>
            </a:r>
          </a:p>
        </p:txBody>
      </p:sp>
      <p:sp>
        <p:nvSpPr>
          <p:cNvPr id="1053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861220" y="5286470"/>
            <a:ext cx="16716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Request: I can draft GitHub Actions YAML and diagrams</a:t>
            </a:r>
          </a:p>
        </p:txBody>
      </p:sp>
      <p:sp>
        <p:nvSpPr>
          <p:cNvPr id="1055" name="Description of a 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137511" y="6497860"/>
            <a:ext cx="23955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Ask me to create workflows and architecture diagrams</a:t>
            </a:r>
          </a:p>
        </p:txBody>
      </p:sp>
      <p:pic>
        <p:nvPicPr>
          <p:cNvPr id="10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9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105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4069652"/>
            <a:ext cx="5586412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Move to </a:t>
            </a:r>
            <a:r>
              <a:rPr lang="en-US" sz="4200" b="1" dirty="0">
                <a:solidFill>
                  <a:srgbClr val="131523"/>
                </a:solidFill>
                <a:latin typeface="Lexend Medium" panose="00000700000000000000" pitchFamily="2" charset="0"/>
              </a:rPr>
              <a:t>Branch-Driven</a:t>
            </a:r>
            <a:r>
              <a:rPr lang="en-US" sz="4200" dirty="0">
                <a:solidFill>
                  <a:srgbClr val="131523"/>
                </a:solidFill>
                <a:latin typeface="Lexend Medium" panose="00000700000000000000" pitchFamily="2" charset="0"/>
              </a:rPr>
              <a:t> ALM</a:t>
            </a:r>
          </a:p>
        </p:txBody>
      </p:sp>
      <p:sp>
        <p:nvSpPr>
          <p:cNvPr id="106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8671" y="5438966"/>
            <a:ext cx="55864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Make the repo the source of truth and build artifacts from branches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25019647, orderId: 10074236</dc:title>
  <dc:creator>Presentations.AI Exporter</dc:creator>
  <lastModifiedBy>Presentations.AI Exporter</lastModifiedBy>
  <revision>1</revision>
  <dcterms:created xsi:type="dcterms:W3CDTF">2025-12-09T17:15:40.0000000Z</dcterms:created>
  <dcterms:modified xsi:type="dcterms:W3CDTF">2025-12-09T17:15:40.0000000Z</dcterms:modified>
</coreProperties>
</file>