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dat" ContentType="application/x-fontdata"/>
  <Default Extension="bin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media/image2.bin" ContentType="image/jpeg"/>
  <Override PartName="/ppt/slides/slide2.xml" ContentType="application/vnd.openxmlformats-officedocument.presentationml.slide+xml"/>
  <Override PartName="/ppt/media/image19.bin" ContentType="image/svg+xml"/>
  <Override PartName="/ppt/slides/slide3.xml" ContentType="application/vnd.openxmlformats-officedocument.presentationml.slide+xml"/>
  <Override PartName="/ppt/media/image30.bin" ContentType="image/svg+xml"/>
  <Override PartName="/ppt/slides/slide4.xml" ContentType="application/vnd.openxmlformats-officedocument.presentationml.slide+xml"/>
  <Override PartName="/ppt/media/image41.bin" ContentType="image/svg+xml"/>
  <Override PartName="/ppt/slides/slide5.xml" ContentType="application/vnd.openxmlformats-officedocument.presentationml.slide+xml"/>
  <Override PartName="/ppt/media/image52.bin" ContentType="image/svg+xml"/>
  <Override PartName="/ppt/slides/slide6.xml" ContentType="application/vnd.openxmlformats-officedocument.presentationml.slide+xml"/>
  <Override PartName="/ppt/media/image69.bin" ContentType="image/svg+xml"/>
  <Override PartName="/ppt/slides/slide7.xml" ContentType="application/vnd.openxmlformats-officedocument.presentationml.slide+xml"/>
  <Override PartName="/ppt/media/image75.bin" ContentType="image/svg+xml"/>
  <Override PartName="/ppt/media/image78.bin" ContentType="image/svg+xml"/>
  <Override PartName="/ppt/media/image81.bin" ContentType="image/svg+xml"/>
  <Override PartName="/ppt/media/image84.bin" ContentType="image/svg+xml"/>
  <Override PartName="/ppt/media/image87.bin" ContentType="image/sv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0">
  <p:sldMasterIdLst>
    <p:sldMasterId id="2147483672" r:id="rId1"/>
  </p:sldMasterIdLst>
  <p:sldIdLst>
    <p:sldId id="301" r:id="rId8"/>
    <p:sldId id="326" r:id="rId28"/>
    <p:sldId id="374" r:id="rId51"/>
    <p:sldId id="408" r:id="rId74"/>
    <p:sldId id="444" r:id="rId97"/>
    <p:sldId id="492" r:id="rId132"/>
    <p:sldId id="528" r:id="rId155"/>
  </p:sldIdLst>
  <p:sldSz cx="18288000" cy="10287000"/>
  <p:notesSz cx="18288000" cy="10287000"/>
  <p:embeddedFontLst>
    <p:embeddedFont>
      <p:font typeface="Poppins SemiBold" pitchFamily="2" charset="77"/>
      <p:regular r:id="rId6"/>
    </p:embeddedFont>
    <p:embeddedFont>
      <p:font typeface="Roboto" pitchFamily="2" charset="77"/>
      <p:regular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viewProps.xml" Id="rId3" /><Relationship Type="http://schemas.openxmlformats.org/officeDocument/2006/relationships/presProps" Target="presProps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5" /><Relationship Type="http://schemas.openxmlformats.org/officeDocument/2006/relationships/theme" Target="theme/theme1.xml" Id="rId4" /><Relationship Type="http://schemas.openxmlformats.org/officeDocument/2006/relationships/font" Target="/ppt/fonts/font.dat" Id="rId6" /><Relationship Type="http://schemas.openxmlformats.org/officeDocument/2006/relationships/font" Target="/ppt/fonts/font2.dat" Id="rId7" /><Relationship Type="http://schemas.openxmlformats.org/officeDocument/2006/relationships/slide" Target="/ppt/slides/slide1.xml" Id="rId8" /><Relationship Type="http://schemas.openxmlformats.org/officeDocument/2006/relationships/slide" Target="/ppt/slides/slide2.xml" Id="rId28" /><Relationship Type="http://schemas.openxmlformats.org/officeDocument/2006/relationships/slide" Target="/ppt/slides/slide3.xml" Id="rId51" /><Relationship Type="http://schemas.openxmlformats.org/officeDocument/2006/relationships/slide" Target="/ppt/slides/slide4.xml" Id="rId74" /><Relationship Type="http://schemas.openxmlformats.org/officeDocument/2006/relationships/slide" Target="/ppt/slides/slide5.xml" Id="rId97" /><Relationship Type="http://schemas.openxmlformats.org/officeDocument/2006/relationships/slide" Target="/ppt/slides/slide6.xml" Id="rId132" /><Relationship Type="http://schemas.openxmlformats.org/officeDocument/2006/relationships/slide" Target="/ppt/slides/slide7.xml" Id="rId155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5745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95789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59282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5825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391113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817637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54893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41404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80297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50442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9" /><Relationship Type="http://schemas.openxmlformats.org/officeDocument/2006/relationships/image" Target="/ppt/media/image.bin" Id="rId11" /><Relationship Type="http://schemas.openxmlformats.org/officeDocument/2006/relationships/image" Target="/ppt/media/image2.bin" Id="rId13" /><Relationship Type="http://schemas.openxmlformats.org/officeDocument/2006/relationships/image" Target="/ppt/media/image3.bin" Id="rId15" /><Relationship Type="http://schemas.openxmlformats.org/officeDocument/2006/relationships/image" Target="/ppt/media/image4.bin" Id="rId17" /><Relationship Type="http://schemas.openxmlformats.org/officeDocument/2006/relationships/image" Target="/ppt/media/image5.bin" Id="rId19" /><Relationship Type="http://schemas.openxmlformats.org/officeDocument/2006/relationships/image" Target="/ppt/media/image6.bin" Id="rId21" /><Relationship Type="http://schemas.openxmlformats.org/officeDocument/2006/relationships/image" Target="/ppt/media/image7.bin" Id="rId23" /><Relationship Type="http://schemas.openxmlformats.org/officeDocument/2006/relationships/image" Target="/ppt/media/image8.bin" Id="rId25" /><Relationship Type="http://schemas.openxmlformats.org/officeDocument/2006/relationships/image" Target="/ppt/media/image9.bin" Id="rId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9" /><Relationship Type="http://schemas.openxmlformats.org/officeDocument/2006/relationships/image" Target="/ppt/media/image10.bin" Id="rId31" /><Relationship Type="http://schemas.openxmlformats.org/officeDocument/2006/relationships/image" Target="/ppt/media/image11.bin" Id="rId33" /><Relationship Type="http://schemas.openxmlformats.org/officeDocument/2006/relationships/image" Target="/ppt/media/image12.bin" Id="rId35" /><Relationship Type="http://schemas.openxmlformats.org/officeDocument/2006/relationships/image" Target="/ppt/media/image13.bin" Id="rId37" /><Relationship Type="http://schemas.openxmlformats.org/officeDocument/2006/relationships/image" Target="/ppt/media/image14.bin" Id="rId39" /><Relationship Type="http://schemas.openxmlformats.org/officeDocument/2006/relationships/image" Target="/ppt/media/image15.bin" Id="rId41" /><Relationship Type="http://schemas.openxmlformats.org/officeDocument/2006/relationships/image" Target="/ppt/media/image16.bin" Id="rId43" /><Relationship Type="http://schemas.openxmlformats.org/officeDocument/2006/relationships/image" Target="/ppt/media/image17.bin" Id="rId45" /><Relationship Type="http://schemas.openxmlformats.org/officeDocument/2006/relationships/image" Target="/ppt/media/image18.bin" Id="rId47" /><Relationship Type="http://schemas.openxmlformats.org/officeDocument/2006/relationships/image" Target="/ppt/media/image19.bin" Id="rId49" /><Relationship Type="http://schemas.openxmlformats.org/officeDocument/2006/relationships/image" Target="/ppt/media/image20.bin" Id="rId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52" /><Relationship Type="http://schemas.openxmlformats.org/officeDocument/2006/relationships/image" Target="/ppt/media/image21.bin" Id="rId54" /><Relationship Type="http://schemas.openxmlformats.org/officeDocument/2006/relationships/image" Target="/ppt/media/image22.bin" Id="rId56" /><Relationship Type="http://schemas.openxmlformats.org/officeDocument/2006/relationships/image" Target="/ppt/media/image23.bin" Id="rId58" /><Relationship Type="http://schemas.openxmlformats.org/officeDocument/2006/relationships/image" Target="/ppt/media/image24.bin" Id="rId60" /><Relationship Type="http://schemas.openxmlformats.org/officeDocument/2006/relationships/image" Target="/ppt/media/image25.bin" Id="rId62" /><Relationship Type="http://schemas.openxmlformats.org/officeDocument/2006/relationships/image" Target="/ppt/media/image26.bin" Id="rId64" /><Relationship Type="http://schemas.openxmlformats.org/officeDocument/2006/relationships/image" Target="/ppt/media/image27.bin" Id="rId66" /><Relationship Type="http://schemas.openxmlformats.org/officeDocument/2006/relationships/image" Target="/ppt/media/image28.bin" Id="rId68" /><Relationship Type="http://schemas.openxmlformats.org/officeDocument/2006/relationships/image" Target="/ppt/media/image29.bin" Id="rId70" /><Relationship Type="http://schemas.openxmlformats.org/officeDocument/2006/relationships/image" Target="/ppt/media/image30.bin" Id="rId72" /><Relationship Type="http://schemas.openxmlformats.org/officeDocument/2006/relationships/image" Target="/ppt/media/image31.bin" Id="rId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75" /><Relationship Type="http://schemas.openxmlformats.org/officeDocument/2006/relationships/image" Target="/ppt/media/image32.bin" Id="rId77" /><Relationship Type="http://schemas.openxmlformats.org/officeDocument/2006/relationships/image" Target="/ppt/media/image33.bin" Id="rId79" /><Relationship Type="http://schemas.openxmlformats.org/officeDocument/2006/relationships/image" Target="/ppt/media/image34.bin" Id="rId81" /><Relationship Type="http://schemas.openxmlformats.org/officeDocument/2006/relationships/image" Target="/ppt/media/image35.bin" Id="rId83" /><Relationship Type="http://schemas.openxmlformats.org/officeDocument/2006/relationships/image" Target="/ppt/media/image36.bin" Id="rId85" /><Relationship Type="http://schemas.openxmlformats.org/officeDocument/2006/relationships/image" Target="/ppt/media/image37.bin" Id="rId87" /><Relationship Type="http://schemas.openxmlformats.org/officeDocument/2006/relationships/image" Target="/ppt/media/image38.bin" Id="rId89" /><Relationship Type="http://schemas.openxmlformats.org/officeDocument/2006/relationships/image" Target="/ppt/media/image39.bin" Id="rId91" /><Relationship Type="http://schemas.openxmlformats.org/officeDocument/2006/relationships/image" Target="/ppt/media/image40.bin" Id="rId93" /><Relationship Type="http://schemas.openxmlformats.org/officeDocument/2006/relationships/image" Target="/ppt/media/image41.bin" Id="rId95" /><Relationship Type="http://schemas.openxmlformats.org/officeDocument/2006/relationships/image" Target="/ppt/media/image42.bin" Id="rId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98" /><Relationship Type="http://schemas.openxmlformats.org/officeDocument/2006/relationships/image" Target="/ppt/media/image43.bin" Id="rId100" /><Relationship Type="http://schemas.openxmlformats.org/officeDocument/2006/relationships/image" Target="/ppt/media/image44.bin" Id="rId102" /><Relationship Type="http://schemas.openxmlformats.org/officeDocument/2006/relationships/image" Target="/ppt/media/image45.bin" Id="rId104" /><Relationship Type="http://schemas.openxmlformats.org/officeDocument/2006/relationships/image" Target="/ppt/media/image46.bin" Id="rId106" /><Relationship Type="http://schemas.openxmlformats.org/officeDocument/2006/relationships/image" Target="/ppt/media/image47.bin" Id="rId108" /><Relationship Type="http://schemas.openxmlformats.org/officeDocument/2006/relationships/image" Target="/ppt/media/image48.bin" Id="rId110" /><Relationship Type="http://schemas.openxmlformats.org/officeDocument/2006/relationships/image" Target="/ppt/media/image49.bin" Id="rId112" /><Relationship Type="http://schemas.openxmlformats.org/officeDocument/2006/relationships/image" Target="/ppt/media/image50.bin" Id="rId114" /><Relationship Type="http://schemas.openxmlformats.org/officeDocument/2006/relationships/image" Target="/ppt/media/image51.bin" Id="rId116" /><Relationship Type="http://schemas.openxmlformats.org/officeDocument/2006/relationships/image" Target="/ppt/media/image52.bin" Id="rId118" /><Relationship Type="http://schemas.openxmlformats.org/officeDocument/2006/relationships/image" Target="/ppt/media/image53.bin" Id="rId119" /><Relationship Type="http://schemas.openxmlformats.org/officeDocument/2006/relationships/image" Target="/ppt/media/image54.bin" Id="rId121" /><Relationship Type="http://schemas.openxmlformats.org/officeDocument/2006/relationships/image" Target="/ppt/media/image55.bin" Id="rId123" /><Relationship Type="http://schemas.openxmlformats.org/officeDocument/2006/relationships/image" Target="/ppt/media/image56.bin" Id="rId125" /><Relationship Type="http://schemas.openxmlformats.org/officeDocument/2006/relationships/image" Target="/ppt/media/image57.bin" Id="rId127" /><Relationship Type="http://schemas.openxmlformats.org/officeDocument/2006/relationships/image" Target="/ppt/media/image58.bin" Id="rId129" /><Relationship Type="http://schemas.openxmlformats.org/officeDocument/2006/relationships/image" Target="/ppt/media/image59.bin" Id="rId1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33" /><Relationship Type="http://schemas.openxmlformats.org/officeDocument/2006/relationships/image" Target="/ppt/media/image60.bin" Id="rId135" /><Relationship Type="http://schemas.openxmlformats.org/officeDocument/2006/relationships/image" Target="/ppt/media/image61.bin" Id="rId137" /><Relationship Type="http://schemas.openxmlformats.org/officeDocument/2006/relationships/image" Target="/ppt/media/image62.bin" Id="rId139" /><Relationship Type="http://schemas.openxmlformats.org/officeDocument/2006/relationships/image" Target="/ppt/media/image63.bin" Id="rId141" /><Relationship Type="http://schemas.openxmlformats.org/officeDocument/2006/relationships/image" Target="/ppt/media/image64.bin" Id="rId143" /><Relationship Type="http://schemas.openxmlformats.org/officeDocument/2006/relationships/image" Target="/ppt/media/image65.bin" Id="rId145" /><Relationship Type="http://schemas.openxmlformats.org/officeDocument/2006/relationships/image" Target="/ppt/media/image66.bin" Id="rId147" /><Relationship Type="http://schemas.openxmlformats.org/officeDocument/2006/relationships/image" Target="/ppt/media/image67.bin" Id="rId149" /><Relationship Type="http://schemas.openxmlformats.org/officeDocument/2006/relationships/image" Target="/ppt/media/image68.bin" Id="rId151" /><Relationship Type="http://schemas.openxmlformats.org/officeDocument/2006/relationships/image" Target="/ppt/media/image69.bin" Id="rId153" /><Relationship Type="http://schemas.openxmlformats.org/officeDocument/2006/relationships/image" Target="/ppt/media/image70.bin" Id="rId1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56" /><Relationship Type="http://schemas.openxmlformats.org/officeDocument/2006/relationships/image" Target="/ppt/media/image71.bin" Id="rId158" /><Relationship Type="http://schemas.openxmlformats.org/officeDocument/2006/relationships/image" Target="/ppt/media/image72.bin" Id="rId160" /><Relationship Type="http://schemas.openxmlformats.org/officeDocument/2006/relationships/image" Target="/ppt/media/image73.bin" Id="rId162" /><Relationship Type="http://schemas.openxmlformats.org/officeDocument/2006/relationships/image" Target="/ppt/media/image74.bin" Id="rId164" /><Relationship Type="http://schemas.openxmlformats.org/officeDocument/2006/relationships/image" Target="/ppt/media/image75.bin" Id="rId166" /><Relationship Type="http://schemas.openxmlformats.org/officeDocument/2006/relationships/image" Target="/ppt/media/image76.bin" Id="rId167" /><Relationship Type="http://schemas.openxmlformats.org/officeDocument/2006/relationships/image" Target="/ppt/media/image77.bin" Id="rId169" /><Relationship Type="http://schemas.openxmlformats.org/officeDocument/2006/relationships/image" Target="/ppt/media/image78.bin" Id="rId171" /><Relationship Type="http://schemas.openxmlformats.org/officeDocument/2006/relationships/image" Target="/ppt/media/image79.bin" Id="rId172" /><Relationship Type="http://schemas.openxmlformats.org/officeDocument/2006/relationships/image" Target="/ppt/media/image80.bin" Id="rId174" /><Relationship Type="http://schemas.openxmlformats.org/officeDocument/2006/relationships/image" Target="/ppt/media/image81.bin" Id="rId176" /><Relationship Type="http://schemas.openxmlformats.org/officeDocument/2006/relationships/image" Target="/ppt/media/image82.bin" Id="rId177" /><Relationship Type="http://schemas.openxmlformats.org/officeDocument/2006/relationships/image" Target="/ppt/media/image83.bin" Id="rId179" /><Relationship Type="http://schemas.openxmlformats.org/officeDocument/2006/relationships/image" Target="/ppt/media/image84.bin" Id="rId181" /><Relationship Type="http://schemas.openxmlformats.org/officeDocument/2006/relationships/image" Target="/ppt/media/image85.bin" Id="rId182" /><Relationship Type="http://schemas.openxmlformats.org/officeDocument/2006/relationships/image" Target="/ppt/media/image86.bin" Id="rId184" /><Relationship Type="http://schemas.openxmlformats.org/officeDocument/2006/relationships/image" Target="/ppt/media/image87.bin" Id="rId186" /><Relationship Type="http://schemas.openxmlformats.org/officeDocument/2006/relationships/image" Target="/ppt/media/image88.bin" Id="rId187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3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3">
            <a:alphaModFix amt="100000"/>
          </a:blip>
          <a:stretch/>
        </p:blipFill>
        <p:spPr>
          <a:xfrm>
            <a:off x="10826496" y="0"/>
            <a:ext cx="7458075" cy="10287000"/>
          </a:xfrm>
          <a:prstGeom prst="rect">
            <a:avLst/>
          </a:prstGeom>
        </p:spPr>
      </p:pic>
      <p:pic>
        <p:nvPicPr>
          <p:cNvPr id="30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alphaModFix amt="100000"/>
          </a:blip>
          <a:stretch/>
        </p:blipFill>
        <p:spPr>
          <a:xfrm>
            <a:off x="10826353" y="1828800"/>
            <a:ext cx="1828651" cy="914251"/>
          </a:xfrm>
          <a:prstGeom prst="rect">
            <a:avLst/>
          </a:prstGeom>
        </p:spPr>
      </p:pic>
      <p:pic>
        <p:nvPicPr>
          <p:cNvPr id="30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alphaModFix amt="100000"/>
          </a:blip>
          <a:stretch/>
        </p:blipFill>
        <p:spPr>
          <a:xfrm>
            <a:off x="9911953" y="0"/>
            <a:ext cx="914251" cy="1828651"/>
          </a:xfrm>
          <a:prstGeom prst="rect">
            <a:avLst/>
          </a:prstGeom>
        </p:spPr>
      </p:pic>
      <p:pic>
        <p:nvPicPr>
          <p:cNvPr id="30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alphaModFix amt="100000"/>
          </a:blip>
          <a:stretch/>
        </p:blipFill>
        <p:spPr>
          <a:xfrm>
            <a:off x="9911953" y="2743200"/>
            <a:ext cx="914251" cy="914251"/>
          </a:xfrm>
          <a:prstGeom prst="rect">
            <a:avLst/>
          </a:prstGeom>
        </p:spPr>
      </p:pic>
      <p:sp>
        <p:nvSpPr>
          <p:cNvPr id="311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914400"/>
            <a:ext cx="8120062" cy="18288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858"/>
              </a:lnSpc>
            </a:pPr>
            <a:r>
              <a:rPr lang="en-US" sz="5400" spc="-11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Move to </a:t>
            </a:r>
            <a:r>
              <a:rPr lang="en-US" sz="5400" b="1" spc="-119" dirty="0">
                <a:solidFill>
                  <a:srgbClr val="000000"/>
                </a:solidFill>
                <a:latin typeface="Poppins SemiBold" panose="00000700000000000000" pitchFamily="2" charset="0"/>
              </a:rPr>
              <a:t>Branch-driven</a:t>
            </a:r>
            <a:r>
              <a:rPr lang="en-US" sz="5400" spc="-119" dirty="0">
                <a:solidFill>
                  <a:srgbClr val="000000"/>
                </a:solidFill>
                <a:latin typeface="Poppins SemiBold" panose="00000700000000000000" pitchFamily="2" charset="0"/>
              </a:rPr>
              <a:t> ALM for PowerApps</a:t>
            </a:r>
          </a:p>
        </p:txBody>
      </p:sp>
      <p:sp>
        <p:nvSpPr>
          <p:cNvPr id="313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2849308"/>
            <a:ext cx="8120062" cy="14954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100" spc="-10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Practical migration path for DevOps and platform teams</a:t>
            </a:r>
            <a:r>
              <a:rPr lang="en-US" sz="2100" spc="-10" dirty="0">
                <a:solidFill>
                  <a:srgbClr val="262D36"/>
                </a:solidFill>
                <a:latin typeface="Roboto" panose="00000700000000000000" pitchFamily="2" charset="0"/>
              </a:rPr>
              <a:t>Compare environment-driven pipelines with branch-driven mappings, hotfix process, and migration steps for dev, release, main and hotfix branches.</a:t>
            </a:r>
          </a:p>
        </p:txBody>
      </p:sp>
      <p:sp>
        <p:nvSpPr>
          <p:cNvPr id="315" name="Presenter Name-44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7891177"/>
            <a:ext cx="8120062" cy="14954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700" spc="-5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Deepthi</a:t>
            </a:r>
            <a:r>
              <a:rPr lang="en-US" sz="2700" spc="-59" dirty="0">
                <a:solidFill>
                  <a:srgbClr val="000000"/>
                </a:solidFill>
                <a:latin typeface="Poppins SemiBold" panose="00000700000000000000" pitchFamily="2" charset="0"/>
              </a:rPr>
              <a:t>Phani</a:t>
            </a:r>
            <a:r>
              <a:rPr lang="en-US" sz="2700" spc="-59" dirty="0">
                <a:solidFill>
                  <a:srgbClr val="000000"/>
                </a:solidFill>
                <a:latin typeface="Poppins SemiBold" panose="00000700000000000000" pitchFamily="2" charset="0"/>
              </a:rPr>
              <a:t>Manoj</a:t>
            </a:r>
          </a:p>
        </p:txBody>
      </p:sp>
      <p:pic>
        <p:nvPicPr>
          <p:cNvPr id="3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alphaModFix amt="100000"/>
          </a:blip>
          <a:stretch/>
        </p:blipFill>
        <p:spPr>
          <a:xfrm>
            <a:off x="15239238" y="8763286"/>
            <a:ext cx="762000" cy="762000"/>
          </a:xfrm>
          <a:prstGeom prst="rect">
            <a:avLst/>
          </a:prstGeom>
        </p:spPr>
      </p:pic>
      <p:pic>
        <p:nvPicPr>
          <p:cNvPr id="3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alphaModFix amt="100000"/>
          </a:blip>
          <a:stretch/>
        </p:blipFill>
        <p:spPr>
          <a:xfrm>
            <a:off x="16764476" y="7238810"/>
            <a:ext cx="800100" cy="1524000"/>
          </a:xfrm>
          <a:prstGeom prst="rect">
            <a:avLst/>
          </a:prstGeom>
        </p:spPr>
      </p:pic>
      <p:pic>
        <p:nvPicPr>
          <p:cNvPr id="3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alphaModFix amt="100000"/>
          </a:blip>
          <a:stretch/>
        </p:blipFill>
        <p:spPr>
          <a:xfrm>
            <a:off x="16764448" y="8763149"/>
            <a:ext cx="1523553" cy="762000"/>
          </a:xfrm>
          <a:prstGeom prst="rect">
            <a:avLst/>
          </a:prstGeom>
        </p:spPr>
      </p:pic>
      <p:pic>
        <p:nvPicPr>
          <p:cNvPr id="3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alphaModFix amt="100000"/>
          </a:blip>
          <a:stretch/>
        </p:blipFill>
        <p:spPr>
          <a:xfrm>
            <a:off x="16001905" y="9524524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2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alphaModFix amt="7000"/>
          </a:blip>
          <a:stretch/>
        </p:blipFill>
        <p:spPr>
          <a:xfrm>
            <a:off x="15974187" y="3356896"/>
            <a:ext cx="762000" cy="762000"/>
          </a:xfrm>
          <a:prstGeom prst="rect">
            <a:avLst/>
          </a:prstGeom>
        </p:spPr>
      </p:pic>
      <p:pic>
        <p:nvPicPr>
          <p:cNvPr id="33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alphaModFix amt="7000"/>
          </a:blip>
          <a:stretch/>
        </p:blipFill>
        <p:spPr>
          <a:xfrm>
            <a:off x="16735425" y="2596039"/>
            <a:ext cx="1524000" cy="762000"/>
          </a:xfrm>
          <a:prstGeom prst="rect">
            <a:avLst/>
          </a:prstGeom>
        </p:spPr>
      </p:pic>
      <p:pic>
        <p:nvPicPr>
          <p:cNvPr id="33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alphaModFix amt="7000"/>
          </a:blip>
          <a:stretch/>
        </p:blipFill>
        <p:spPr>
          <a:xfrm>
            <a:off x="16735425" y="1074134"/>
            <a:ext cx="800100" cy="1524000"/>
          </a:xfrm>
          <a:prstGeom prst="rect">
            <a:avLst/>
          </a:prstGeom>
        </p:spPr>
      </p:pic>
      <p:pic>
        <p:nvPicPr>
          <p:cNvPr id="3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alphaModFix amt="7000"/>
          </a:blip>
          <a:stretch/>
        </p:blipFill>
        <p:spPr>
          <a:xfrm>
            <a:off x="15212854" y="2596039"/>
            <a:ext cx="762000" cy="762000"/>
          </a:xfrm>
          <a:prstGeom prst="rect">
            <a:avLst/>
          </a:prstGeom>
        </p:spPr>
      </p:pic>
      <p:pic>
        <p:nvPicPr>
          <p:cNvPr id="33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">
            <a:alphaModFix amt="7000"/>
          </a:blip>
          <a:stretch/>
        </p:blipFill>
        <p:spPr>
          <a:xfrm>
            <a:off x="2282000" y="2234470"/>
            <a:ext cx="762000" cy="762000"/>
          </a:xfrm>
          <a:prstGeom prst="rect">
            <a:avLst/>
          </a:prstGeom>
        </p:spPr>
      </p:pic>
      <p:pic>
        <p:nvPicPr>
          <p:cNvPr id="3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3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5">
            <a:alphaModFix amt="7000"/>
          </a:blip>
          <a:stretch/>
        </p:blipFill>
        <p:spPr>
          <a:xfrm>
            <a:off x="761238" y="2263330"/>
            <a:ext cx="762000" cy="762000"/>
          </a:xfrm>
          <a:prstGeom prst="rect">
            <a:avLst/>
          </a:prstGeom>
        </p:spPr>
      </p:pic>
      <p:pic>
        <p:nvPicPr>
          <p:cNvPr id="34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7">
            <a:alphaModFix amt="7000"/>
          </a:blip>
          <a:stretch/>
        </p:blipFill>
        <p:spPr>
          <a:xfrm>
            <a:off x="1520666" y="741426"/>
            <a:ext cx="762000" cy="1524000"/>
          </a:xfrm>
          <a:prstGeom prst="rect">
            <a:avLst/>
          </a:prstGeom>
        </p:spPr>
      </p:pic>
      <p:pic>
        <p:nvPicPr>
          <p:cNvPr id="344" name="pyramid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0">
            <a:alphaModFix amt="100000"/>
            <a:extLst>
              <a:ext uri="{3104BA59-AF0A-4A05-A49A-0520EF74F06B}">
                <asvg:svgBlip xmlns:r="http://schemas.openxmlformats.org/officeDocument/2006/relationships" xmlns:asvg="http://schemas.microsoft.com/office/drawing/2016/SVG/main" r:embed="rId49"/>
                <a14:useLocalDpi xmlns:a14="http://schemas.microsoft.com/office/drawing/2010/main" val="0"/>
              </a:ext>
            </a:extLst>
          </a:blip>
          <a:srcRect l="0" t="-356" r="0" b="-356"/>
          <a:stretch/>
        </p:blipFill>
        <p:spPr>
          <a:xfrm>
            <a:off x="1007936" y="3891153"/>
            <a:ext cx="16335375" cy="1333405"/>
          </a:xfrm>
          <a:prstGeom prst="rect">
            <a:avLst/>
          </a:prstGeom>
        </p:spPr>
      </p:pic>
      <p:sp>
        <p:nvSpPr>
          <p:cNvPr id="345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03090" y="5529262"/>
            <a:ext cx="23479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Replace</a:t>
            </a:r>
          </a:p>
        </p:txBody>
      </p:sp>
      <p:sp>
        <p:nvSpPr>
          <p:cNvPr id="34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03090" y="5967317"/>
            <a:ext cx="234791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Create a temporary solution in Dev containing changes</a:t>
            </a:r>
          </a:p>
        </p:txBody>
      </p:sp>
      <p:sp>
        <p:nvSpPr>
          <p:cNvPr id="349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793903" y="5529262"/>
            <a:ext cx="2347912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Developer Unpack</a:t>
            </a:r>
          </a:p>
        </p:txBody>
      </p:sp>
      <p:sp>
        <p:nvSpPr>
          <p:cNvPr id="351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793903" y="6367462"/>
            <a:ext cx="234791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Developer runs unpack and commits solution to local branch</a:t>
            </a:r>
          </a:p>
        </p:txBody>
      </p:sp>
      <p:sp>
        <p:nvSpPr>
          <p:cNvPr id="353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84715" y="5529262"/>
            <a:ext cx="2347912" cy="1209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Local commit and merge to master</a:t>
            </a:r>
          </a:p>
        </p:txBody>
      </p:sp>
      <p:sp>
        <p:nvSpPr>
          <p:cNvPr id="355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84715" y="6767512"/>
            <a:ext cx="234791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Developer merges local branch code into master branch</a:t>
            </a:r>
          </a:p>
        </p:txBody>
      </p:sp>
      <p:sp>
        <p:nvSpPr>
          <p:cNvPr id="357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75528" y="5529262"/>
            <a:ext cx="23479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Pack</a:t>
            </a:r>
          </a:p>
        </p:txBody>
      </p:sp>
      <p:sp>
        <p:nvSpPr>
          <p:cNvPr id="359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75528" y="5967317"/>
            <a:ext cx="2347912" cy="16668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Pack pipeline exports the solution and publishes to development environment</a:t>
            </a:r>
          </a:p>
        </p:txBody>
      </p:sp>
      <p:sp>
        <p:nvSpPr>
          <p:cNvPr id="361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866340" y="5529262"/>
            <a:ext cx="2347912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Publish to Development</a:t>
            </a:r>
          </a:p>
        </p:txBody>
      </p:sp>
      <p:sp>
        <p:nvSpPr>
          <p:cNvPr id="363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866340" y="6367462"/>
            <a:ext cx="234791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Exported solution becomes available in Dev for validation</a:t>
            </a:r>
          </a:p>
        </p:txBody>
      </p:sp>
      <p:sp>
        <p:nvSpPr>
          <p:cNvPr id="365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557153" y="5529262"/>
            <a:ext cx="2347912" cy="1209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Continuous Deployment stages</a:t>
            </a:r>
          </a:p>
        </p:txBody>
      </p:sp>
      <p:sp>
        <p:nvSpPr>
          <p:cNvPr id="367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557153" y="6767512"/>
            <a:ext cx="234791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CD pipeline stages artifacts to SIT, UAT, PrePROD, and PROD</a:t>
            </a:r>
          </a:p>
        </p:txBody>
      </p:sp>
      <p:sp>
        <p:nvSpPr>
          <p:cNvPr id="36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879824"/>
            <a:ext cx="16463962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Current environment-driven ALM: process and pipeline flow</a:t>
            </a:r>
          </a:p>
        </p:txBody>
      </p:sp>
      <p:sp>
        <p:nvSpPr>
          <p:cNvPr id="37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1749647"/>
            <a:ext cx="164639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Preserved flow and operational implications for Power Apps project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4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7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6">
            <a:alphaModFix amt="7000"/>
          </a:blip>
          <a:stretch/>
        </p:blipFill>
        <p:spPr>
          <a:xfrm>
            <a:off x="15974187" y="3356896"/>
            <a:ext cx="762000" cy="762000"/>
          </a:xfrm>
          <a:prstGeom prst="rect">
            <a:avLst/>
          </a:prstGeom>
        </p:spPr>
      </p:pic>
      <p:pic>
        <p:nvPicPr>
          <p:cNvPr id="37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8">
            <a:alphaModFix amt="7000"/>
          </a:blip>
          <a:stretch/>
        </p:blipFill>
        <p:spPr>
          <a:xfrm>
            <a:off x="16735425" y="2596039"/>
            <a:ext cx="1524000" cy="762000"/>
          </a:xfrm>
          <a:prstGeom prst="rect">
            <a:avLst/>
          </a:prstGeom>
        </p:spPr>
      </p:pic>
      <p:pic>
        <p:nvPicPr>
          <p:cNvPr id="3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0">
            <a:alphaModFix amt="7000"/>
          </a:blip>
          <a:stretch/>
        </p:blipFill>
        <p:spPr>
          <a:xfrm>
            <a:off x="16735425" y="1074134"/>
            <a:ext cx="800100" cy="1524000"/>
          </a:xfrm>
          <a:prstGeom prst="rect">
            <a:avLst/>
          </a:prstGeom>
        </p:spPr>
      </p:pic>
      <p:pic>
        <p:nvPicPr>
          <p:cNvPr id="3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2">
            <a:alphaModFix amt="7000"/>
          </a:blip>
          <a:stretch/>
        </p:blipFill>
        <p:spPr>
          <a:xfrm>
            <a:off x="15212854" y="2596039"/>
            <a:ext cx="762000" cy="762000"/>
          </a:xfrm>
          <a:prstGeom prst="rect">
            <a:avLst/>
          </a:prstGeom>
        </p:spPr>
      </p:pic>
      <p:pic>
        <p:nvPicPr>
          <p:cNvPr id="3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4">
            <a:alphaModFix amt="7000"/>
          </a:blip>
          <a:stretch/>
        </p:blipFill>
        <p:spPr>
          <a:xfrm>
            <a:off x="2282000" y="2234470"/>
            <a:ext cx="762000" cy="762000"/>
          </a:xfrm>
          <a:prstGeom prst="rect">
            <a:avLst/>
          </a:prstGeom>
        </p:spPr>
      </p:pic>
      <p:pic>
        <p:nvPicPr>
          <p:cNvPr id="3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6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38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8">
            <a:alphaModFix amt="7000"/>
          </a:blip>
          <a:stretch/>
        </p:blipFill>
        <p:spPr>
          <a:xfrm>
            <a:off x="761238" y="2263330"/>
            <a:ext cx="762000" cy="762000"/>
          </a:xfrm>
          <a:prstGeom prst="rect">
            <a:avLst/>
          </a:prstGeom>
        </p:spPr>
      </p:pic>
      <p:pic>
        <p:nvPicPr>
          <p:cNvPr id="3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0">
            <a:alphaModFix amt="7000"/>
          </a:blip>
          <a:stretch/>
        </p:blipFill>
        <p:spPr>
          <a:xfrm>
            <a:off x="1520666" y="741426"/>
            <a:ext cx="762000" cy="1524000"/>
          </a:xfrm>
          <a:prstGeom prst="rect">
            <a:avLst/>
          </a:prstGeom>
        </p:spPr>
      </p:pic>
      <p:pic>
        <p:nvPicPr>
          <p:cNvPr id="392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3">
            <a:alphaModFix amt="100000"/>
            <a:extLst>
              <a:ext uri="{7E298282-FE45-43D4-84EC-823DB8EBE805}">
                <asvg:svgBlip xmlns:r="http://schemas.openxmlformats.org/officeDocument/2006/relationships" xmlns:asvg="http://schemas.microsoft.com/office/drawing/2016/SVG/main" r:embed="rId72"/>
                <a14:useLocalDpi xmlns:a14="http://schemas.microsoft.com/office/drawing/2010/main" val="0"/>
              </a:ext>
            </a:extLst>
          </a:blip>
          <a:srcRect l="0" t="-55" r="0" b="-55"/>
          <a:stretch/>
        </p:blipFill>
        <p:spPr>
          <a:xfrm>
            <a:off x="912781" y="2624328"/>
            <a:ext cx="16430625" cy="6731984"/>
          </a:xfrm>
          <a:prstGeom prst="rect">
            <a:avLst/>
          </a:prstGeom>
        </p:spPr>
      </p:pic>
      <p:sp>
        <p:nvSpPr>
          <p:cNvPr id="393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3187256"/>
            <a:ext cx="57007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Dev branch</a:t>
            </a:r>
          </a:p>
        </p:txBody>
      </p:sp>
      <p:sp>
        <p:nvSpPr>
          <p:cNvPr id="394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3625310"/>
            <a:ext cx="57007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Primary development; deploy unmanaged solution to Dev; packaged managed solution promoted to SIT.</a:t>
            </a:r>
          </a:p>
        </p:txBody>
      </p:sp>
      <p:sp>
        <p:nvSpPr>
          <p:cNvPr id="39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67839" y="3746087"/>
            <a:ext cx="57102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Release branch</a:t>
            </a:r>
          </a:p>
        </p:txBody>
      </p:sp>
      <p:sp>
        <p:nvSpPr>
          <p:cNvPr id="396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67839" y="4184142"/>
            <a:ext cx="571023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Integration and stabilization; deploy managed solution to UAT from release branch.</a:t>
            </a:r>
          </a:p>
        </p:txBody>
      </p:sp>
      <p:sp>
        <p:nvSpPr>
          <p:cNvPr id="397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67839" y="6770942"/>
            <a:ext cx="57102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Main branch</a:t>
            </a:r>
          </a:p>
        </p:txBody>
      </p:sp>
      <p:sp>
        <p:nvSpPr>
          <p:cNvPr id="398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67839" y="7208996"/>
            <a:ext cx="571023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Production-ready code; deploy managed solution to PreProd and Prod from main.</a:t>
            </a:r>
          </a:p>
        </p:txBody>
      </p:sp>
      <p:sp>
        <p:nvSpPr>
          <p:cNvPr id="399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7683056"/>
            <a:ext cx="57007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Hotfix branch</a:t>
            </a:r>
          </a:p>
        </p:txBody>
      </p:sp>
      <p:sp>
        <p:nvSpPr>
          <p:cNvPr id="400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8121206"/>
            <a:ext cx="57007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Aligned with main for emergency fixes; deploy unmanaged fix to Dev2 then merge back to dev.</a:t>
            </a:r>
          </a:p>
        </p:txBody>
      </p:sp>
      <p:sp>
        <p:nvSpPr>
          <p:cNvPr id="401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5435727"/>
            <a:ext cx="57007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Governance and Automation</a:t>
            </a:r>
          </a:p>
        </p:txBody>
      </p:sp>
      <p:sp>
        <p:nvSpPr>
          <p:cNvPr id="402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5873877"/>
            <a:ext cx="57007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Enforce branch policies, protect main, automate packaging, versioning and promotion gates.</a:t>
            </a:r>
          </a:p>
        </p:txBody>
      </p:sp>
      <p:sp>
        <p:nvSpPr>
          <p:cNvPr id="40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879824"/>
            <a:ext cx="16463962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Branch-driven ALM: Branches and Deployment Mapping</a:t>
            </a:r>
          </a:p>
        </p:txBody>
      </p:sp>
      <p:sp>
        <p:nvSpPr>
          <p:cNvPr id="40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1749647"/>
            <a:ext cx="164639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Map branches to environments, emergency hotfix flow, and governance controls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1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9">
            <a:alphaModFix amt="7000"/>
          </a:blip>
          <a:stretch/>
        </p:blipFill>
        <p:spPr>
          <a:xfrm>
            <a:off x="15974187" y="3356896"/>
            <a:ext cx="762000" cy="762000"/>
          </a:xfrm>
          <a:prstGeom prst="rect">
            <a:avLst/>
          </a:prstGeom>
        </p:spPr>
      </p:pic>
      <p:pic>
        <p:nvPicPr>
          <p:cNvPr id="41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1">
            <a:alphaModFix amt="7000"/>
          </a:blip>
          <a:stretch/>
        </p:blipFill>
        <p:spPr>
          <a:xfrm>
            <a:off x="16735425" y="2596039"/>
            <a:ext cx="1524000" cy="762000"/>
          </a:xfrm>
          <a:prstGeom prst="rect">
            <a:avLst/>
          </a:prstGeom>
        </p:spPr>
      </p:pic>
      <p:pic>
        <p:nvPicPr>
          <p:cNvPr id="4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3">
            <a:alphaModFix amt="7000"/>
          </a:blip>
          <a:stretch/>
        </p:blipFill>
        <p:spPr>
          <a:xfrm>
            <a:off x="16735425" y="1074134"/>
            <a:ext cx="800100" cy="1524000"/>
          </a:xfrm>
          <a:prstGeom prst="rect">
            <a:avLst/>
          </a:prstGeom>
        </p:spPr>
      </p:pic>
      <p:pic>
        <p:nvPicPr>
          <p:cNvPr id="41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5">
            <a:alphaModFix amt="7000"/>
          </a:blip>
          <a:stretch/>
        </p:blipFill>
        <p:spPr>
          <a:xfrm>
            <a:off x="15212854" y="2596039"/>
            <a:ext cx="762000" cy="762000"/>
          </a:xfrm>
          <a:prstGeom prst="rect">
            <a:avLst/>
          </a:prstGeom>
        </p:spPr>
      </p:pic>
      <p:pic>
        <p:nvPicPr>
          <p:cNvPr id="41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7">
            <a:alphaModFix amt="7000"/>
          </a:blip>
          <a:stretch/>
        </p:blipFill>
        <p:spPr>
          <a:xfrm>
            <a:off x="2282000" y="2234470"/>
            <a:ext cx="762000" cy="762000"/>
          </a:xfrm>
          <a:prstGeom prst="rect">
            <a:avLst/>
          </a:prstGeom>
        </p:spPr>
      </p:pic>
      <p:pic>
        <p:nvPicPr>
          <p:cNvPr id="4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9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42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1">
            <a:alphaModFix amt="7000"/>
          </a:blip>
          <a:stretch/>
        </p:blipFill>
        <p:spPr>
          <a:xfrm>
            <a:off x="761238" y="2263330"/>
            <a:ext cx="762000" cy="762000"/>
          </a:xfrm>
          <a:prstGeom prst="rect">
            <a:avLst/>
          </a:prstGeom>
        </p:spPr>
      </p:pic>
      <p:pic>
        <p:nvPicPr>
          <p:cNvPr id="4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3">
            <a:alphaModFix amt="7000"/>
          </a:blip>
          <a:stretch/>
        </p:blipFill>
        <p:spPr>
          <a:xfrm>
            <a:off x="1520666" y="741426"/>
            <a:ext cx="762000" cy="1524000"/>
          </a:xfrm>
          <a:prstGeom prst="rect">
            <a:avLst/>
          </a:prstGeom>
        </p:spPr>
      </p:pic>
      <p:pic>
        <p:nvPicPr>
          <p:cNvPr id="426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6">
            <a:alphaModFix amt="100000"/>
            <a:extLst>
              <a:ext uri="{2A9CB366-6B1A-4B4F-B932-FE661B5A4808}">
                <asvg:svgBlip xmlns:r="http://schemas.openxmlformats.org/officeDocument/2006/relationships" xmlns:asvg="http://schemas.microsoft.com/office/drawing/2016/SVG/main" r:embed="rId95"/>
                <a14:useLocalDpi xmlns:a14="http://schemas.microsoft.com/office/drawing/2010/main" val="0"/>
              </a:ext>
            </a:extLst>
          </a:blip>
          <a:srcRect l="0" t="-26" r="0" b="-26"/>
          <a:stretch/>
        </p:blipFill>
        <p:spPr>
          <a:xfrm>
            <a:off x="5020437" y="2624328"/>
            <a:ext cx="8215217" cy="6731984"/>
          </a:xfrm>
          <a:prstGeom prst="rect">
            <a:avLst/>
          </a:prstGeom>
        </p:spPr>
      </p:pic>
      <p:sp>
        <p:nvSpPr>
          <p:cNvPr id="427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3029712"/>
            <a:ext cx="603408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Environments</a:t>
            </a:r>
          </a:p>
        </p:txBody>
      </p:sp>
      <p:sp>
        <p:nvSpPr>
          <p:cNvPr id="428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3467767"/>
            <a:ext cx="60340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Nodes for Dev, SIT, UAT, PrePROD, PROD to show flow and boundaries</a:t>
            </a:r>
          </a:p>
        </p:txBody>
      </p:sp>
      <p:sp>
        <p:nvSpPr>
          <p:cNvPr id="429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328940" y="3991451"/>
            <a:ext cx="60436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Pipelines</a:t>
            </a:r>
          </a:p>
        </p:txBody>
      </p:sp>
      <p:sp>
        <p:nvSpPr>
          <p:cNvPr id="430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328940" y="4429601"/>
            <a:ext cx="60436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Replace, Unpack and commit, Pack, then CD deployment stages to higher environments</a:t>
            </a:r>
          </a:p>
        </p:txBody>
      </p:sp>
      <p:sp>
        <p:nvSpPr>
          <p:cNvPr id="431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4953190"/>
            <a:ext cx="603408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Developer actions</a:t>
            </a:r>
          </a:p>
        </p:txBody>
      </p:sp>
      <p:sp>
        <p:nvSpPr>
          <p:cNvPr id="432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5391340"/>
            <a:ext cx="60340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Temporary solution created in Dev, local unpack and commit, merge to master branch</a:t>
            </a:r>
          </a:p>
        </p:txBody>
      </p:sp>
      <p:sp>
        <p:nvSpPr>
          <p:cNvPr id="433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328940" y="5915025"/>
            <a:ext cx="60436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Artifact handoff</a:t>
            </a:r>
          </a:p>
        </p:txBody>
      </p:sp>
      <p:sp>
        <p:nvSpPr>
          <p:cNvPr id="434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328940" y="6353080"/>
            <a:ext cx="60436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Pack pipeline exports artifacts consumed by CD pipeline for deployments</a:t>
            </a:r>
          </a:p>
        </p:txBody>
      </p:sp>
      <p:sp>
        <p:nvSpPr>
          <p:cNvPr id="435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6876669"/>
            <a:ext cx="603408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State changes and coupling</a:t>
            </a:r>
          </a:p>
        </p:txBody>
      </p:sp>
      <p:sp>
        <p:nvSpPr>
          <p:cNvPr id="436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7314724"/>
            <a:ext cx="60340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State change points in Dev and manual unpack/commit steps create coupling</a:t>
            </a:r>
          </a:p>
        </p:txBody>
      </p:sp>
      <p:sp>
        <p:nvSpPr>
          <p:cNvPr id="437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328940" y="7838408"/>
            <a:ext cx="60436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Automation targets</a:t>
            </a:r>
          </a:p>
        </p:txBody>
      </p:sp>
      <p:sp>
        <p:nvSpPr>
          <p:cNvPr id="438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328940" y="8276463"/>
            <a:ext cx="60436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Automate unpack/commit, artifact export, and Replace to reduce manual handoffs</a:t>
            </a:r>
          </a:p>
        </p:txBody>
      </p:sp>
      <p:sp>
        <p:nvSpPr>
          <p:cNvPr id="43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879824"/>
            <a:ext cx="16463962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Environment-driven ALM: current pipeline and risks</a:t>
            </a:r>
          </a:p>
        </p:txBody>
      </p:sp>
      <p:sp>
        <p:nvSpPr>
          <p:cNvPr id="44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1749647"/>
            <a:ext cx="164639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Dev temporary solutions, unpack/commit, pack, and CD to higher environments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0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2">
            <a:alphaModFix amt="7000"/>
          </a:blip>
          <a:stretch/>
        </p:blipFill>
        <p:spPr>
          <a:xfrm>
            <a:off x="15974187" y="3356896"/>
            <a:ext cx="762000" cy="762000"/>
          </a:xfrm>
          <a:prstGeom prst="rect">
            <a:avLst/>
          </a:prstGeom>
        </p:spPr>
      </p:pic>
      <p:pic>
        <p:nvPicPr>
          <p:cNvPr id="4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4">
            <a:alphaModFix amt="7000"/>
          </a:blip>
          <a:stretch/>
        </p:blipFill>
        <p:spPr>
          <a:xfrm>
            <a:off x="16735425" y="2596039"/>
            <a:ext cx="1524000" cy="762000"/>
          </a:xfrm>
          <a:prstGeom prst="rect">
            <a:avLst/>
          </a:prstGeom>
        </p:spPr>
      </p:pic>
      <p:pic>
        <p:nvPicPr>
          <p:cNvPr id="45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6">
            <a:alphaModFix amt="7000"/>
          </a:blip>
          <a:stretch/>
        </p:blipFill>
        <p:spPr>
          <a:xfrm>
            <a:off x="16735425" y="1074134"/>
            <a:ext cx="800100" cy="1524000"/>
          </a:xfrm>
          <a:prstGeom prst="rect">
            <a:avLst/>
          </a:prstGeom>
        </p:spPr>
      </p:pic>
      <p:pic>
        <p:nvPicPr>
          <p:cNvPr id="45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8">
            <a:alphaModFix amt="7000"/>
          </a:blip>
          <a:stretch/>
        </p:blipFill>
        <p:spPr>
          <a:xfrm>
            <a:off x="15212854" y="2596039"/>
            <a:ext cx="762000" cy="762000"/>
          </a:xfrm>
          <a:prstGeom prst="rect">
            <a:avLst/>
          </a:prstGeom>
        </p:spPr>
      </p:pic>
      <p:pic>
        <p:nvPicPr>
          <p:cNvPr id="4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0">
            <a:alphaModFix amt="7000"/>
          </a:blip>
          <a:stretch/>
        </p:blipFill>
        <p:spPr>
          <a:xfrm>
            <a:off x="2282000" y="2234470"/>
            <a:ext cx="762000" cy="762000"/>
          </a:xfrm>
          <a:prstGeom prst="rect">
            <a:avLst/>
          </a:prstGeom>
        </p:spPr>
      </p:pic>
      <p:pic>
        <p:nvPicPr>
          <p:cNvPr id="4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2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4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4">
            <a:alphaModFix amt="7000"/>
          </a:blip>
          <a:stretch/>
        </p:blipFill>
        <p:spPr>
          <a:xfrm>
            <a:off x="761238" y="2263330"/>
            <a:ext cx="762000" cy="762000"/>
          </a:xfrm>
          <a:prstGeom prst="rect">
            <a:avLst/>
          </a:prstGeom>
        </p:spPr>
      </p:pic>
      <p:pic>
        <p:nvPicPr>
          <p:cNvPr id="4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6">
            <a:alphaModFix amt="7000"/>
          </a:blip>
          <a:stretch/>
        </p:blipFill>
        <p:spPr>
          <a:xfrm>
            <a:off x="1520666" y="741426"/>
            <a:ext cx="762000" cy="1524000"/>
          </a:xfrm>
          <a:prstGeom prst="rect">
            <a:avLst/>
          </a:prstGeom>
        </p:spPr>
      </p:pic>
      <p:pic>
        <p:nvPicPr>
          <p:cNvPr id="462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9">
            <a:alphaModFix amt="100000"/>
            <a:extLst>
              <a:ext uri="{FEB6D121-6D98-49F2-B841-BE3E995D92C0}">
                <asvg:svgBlip xmlns:r="http://schemas.openxmlformats.org/officeDocument/2006/relationships" xmlns:asvg="http://schemas.microsoft.com/office/drawing/2016/SVG/main" r:embed="rId118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912763" y="2655540"/>
            <a:ext cx="16430625" cy="2695426"/>
          </a:xfrm>
          <a:prstGeom prst="rect">
            <a:avLst/>
          </a:prstGeom>
        </p:spPr>
      </p:pic>
      <p:pic>
        <p:nvPicPr>
          <p:cNvPr id="4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1">
            <a:alphaModFix amt="100000"/>
          </a:blip>
          <a:stretch/>
        </p:blipFill>
        <p:spPr>
          <a:xfrm>
            <a:off x="1977580" y="5581840"/>
            <a:ext cx="609600" cy="609600"/>
          </a:xfrm>
          <a:prstGeom prst="rect">
            <a:avLst/>
          </a:prstGeom>
        </p:spPr>
      </p:pic>
      <p:sp>
        <p:nvSpPr>
          <p:cNvPr id="464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143982" y="5680805"/>
            <a:ext cx="309562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160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01</a:t>
            </a:r>
          </a:p>
        </p:txBody>
      </p:sp>
      <p:sp>
        <p:nvSpPr>
          <p:cNvPr id="465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466" y="6351365"/>
            <a:ext cx="2462212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Repository and Branches</a:t>
            </a:r>
          </a:p>
        </p:txBody>
      </p:sp>
      <p:sp>
        <p:nvSpPr>
          <p:cNvPr id="466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466" y="7265575"/>
            <a:ext cx="2462212" cy="16668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Single repo with branches: dev, release, main, hotfix; show merge paths and protections.</a:t>
            </a:r>
          </a:p>
        </p:txBody>
      </p:sp>
      <p:pic>
        <p:nvPicPr>
          <p:cNvPr id="46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3">
            <a:alphaModFix amt="100000"/>
          </a:blip>
          <a:stretch/>
        </p:blipFill>
        <p:spPr>
          <a:xfrm>
            <a:off x="4715828" y="5581840"/>
            <a:ext cx="609600" cy="609600"/>
          </a:xfrm>
          <a:prstGeom prst="rect">
            <a:avLst/>
          </a:prstGeom>
        </p:spPr>
      </p:pic>
      <p:sp>
        <p:nvSpPr>
          <p:cNvPr id="468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853368" y="5680805"/>
            <a:ext cx="366712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160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02</a:t>
            </a:r>
          </a:p>
        </p:txBody>
      </p:sp>
      <p:sp>
        <p:nvSpPr>
          <p:cNvPr id="469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03809" y="6351365"/>
            <a:ext cx="2462212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CI Build and Packaging</a:t>
            </a:r>
          </a:p>
        </p:txBody>
      </p:sp>
      <p:sp>
        <p:nvSpPr>
          <p:cNvPr id="470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03809" y="7265575"/>
            <a:ext cx="2462212" cy="16668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Per-branch CI: build, pack, unpack, automated packaging and solution export validation.</a:t>
            </a:r>
          </a:p>
        </p:txBody>
      </p:sp>
      <p:pic>
        <p:nvPicPr>
          <p:cNvPr id="4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5">
            <a:alphaModFix amt="100000"/>
          </a:blip>
          <a:stretch/>
        </p:blipFill>
        <p:spPr>
          <a:xfrm>
            <a:off x="7454170" y="5581840"/>
            <a:ext cx="609600" cy="609600"/>
          </a:xfrm>
          <a:prstGeom prst="rect">
            <a:avLst/>
          </a:prstGeom>
        </p:spPr>
      </p:pic>
      <p:sp>
        <p:nvSpPr>
          <p:cNvPr id="472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88186" y="5680805"/>
            <a:ext cx="376238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160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03</a:t>
            </a:r>
          </a:p>
        </p:txBody>
      </p:sp>
      <p:sp>
        <p:nvSpPr>
          <p:cNvPr id="473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42151" y="6351365"/>
            <a:ext cx="2462212" cy="1209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Branch to Environment Promotions</a:t>
            </a:r>
          </a:p>
        </p:txBody>
      </p:sp>
      <p:sp>
        <p:nvSpPr>
          <p:cNvPr id="474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42151" y="7665625"/>
            <a:ext cx="2462212" cy="1657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Map branches to environments: dev to SIT (managed), release to UAT (managed), main to PreProd and Prod (managed).</a:t>
            </a:r>
          </a:p>
        </p:txBody>
      </p:sp>
      <p:pic>
        <p:nvPicPr>
          <p:cNvPr id="4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7">
            <a:alphaModFix amt="100000"/>
          </a:blip>
          <a:stretch/>
        </p:blipFill>
        <p:spPr>
          <a:xfrm>
            <a:off x="10192512" y="5581840"/>
            <a:ext cx="609600" cy="609600"/>
          </a:xfrm>
          <a:prstGeom prst="rect">
            <a:avLst/>
          </a:prstGeom>
        </p:spPr>
      </p:pic>
      <p:sp>
        <p:nvSpPr>
          <p:cNvPr id="476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317956" y="5680805"/>
            <a:ext cx="395288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160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04</a:t>
            </a:r>
          </a:p>
        </p:txBody>
      </p:sp>
      <p:sp>
        <p:nvSpPr>
          <p:cNvPr id="477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80493" y="6351365"/>
            <a:ext cx="2462212" cy="1209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Hotfix Flow and Unmanaged Deployments</a:t>
            </a:r>
          </a:p>
        </p:txBody>
      </p:sp>
      <p:sp>
        <p:nvSpPr>
          <p:cNvPr id="478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80493" y="7665625"/>
            <a:ext cx="2462212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Hotfix branch deploys unmanaged to Dev2; after fix merge hotfix to dev for consolidation.</a:t>
            </a:r>
          </a:p>
        </p:txBody>
      </p:sp>
      <p:pic>
        <p:nvPicPr>
          <p:cNvPr id="4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9">
            <a:alphaModFix amt="100000"/>
          </a:blip>
          <a:stretch/>
        </p:blipFill>
        <p:spPr>
          <a:xfrm>
            <a:off x="12930854" y="5581840"/>
            <a:ext cx="609600" cy="609600"/>
          </a:xfrm>
          <a:prstGeom prst="rect">
            <a:avLst/>
          </a:prstGeom>
        </p:spPr>
      </p:pic>
      <p:sp>
        <p:nvSpPr>
          <p:cNvPr id="480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058584" y="5680805"/>
            <a:ext cx="385762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160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05</a:t>
            </a:r>
          </a:p>
        </p:txBody>
      </p:sp>
      <p:sp>
        <p:nvSpPr>
          <p:cNvPr id="481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18836" y="6351365"/>
            <a:ext cx="2462212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Gating and Quality Checks</a:t>
            </a:r>
          </a:p>
        </p:txBody>
      </p:sp>
      <p:sp>
        <p:nvSpPr>
          <p:cNvPr id="482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18836" y="7265575"/>
            <a:ext cx="2462212" cy="16668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Gates: unit tests, solution export validation, smoke tests, gated promotions and branch protections.</a:t>
            </a:r>
          </a:p>
        </p:txBody>
      </p:sp>
      <p:pic>
        <p:nvPicPr>
          <p:cNvPr id="4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1">
            <a:alphaModFix amt="100000"/>
          </a:blip>
          <a:stretch/>
        </p:blipFill>
        <p:spPr>
          <a:xfrm>
            <a:off x="15669196" y="5581840"/>
            <a:ext cx="609600" cy="609600"/>
          </a:xfrm>
          <a:prstGeom prst="rect">
            <a:avLst/>
          </a:prstGeom>
        </p:spPr>
      </p:pic>
      <p:sp>
        <p:nvSpPr>
          <p:cNvPr id="484" name="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797498" y="5680805"/>
            <a:ext cx="385762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160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06</a:t>
            </a:r>
          </a:p>
        </p:txBody>
      </p:sp>
      <p:sp>
        <p:nvSpPr>
          <p:cNvPr id="485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757178" y="6351365"/>
            <a:ext cx="2462212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Versioning and Policies</a:t>
            </a:r>
          </a:p>
        </p:txBody>
      </p:sp>
      <p:sp>
        <p:nvSpPr>
          <p:cNvPr id="486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757178" y="7265575"/>
            <a:ext cx="2462212" cy="16668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Semantic versioning or solution version increments; enforce branch protections and promotion policies.</a:t>
            </a:r>
          </a:p>
        </p:txBody>
      </p:sp>
      <p:sp>
        <p:nvSpPr>
          <p:cNvPr id="48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879824"/>
            <a:ext cx="16463962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Branch-driven ALM: branch to environment pipeline map</a:t>
            </a:r>
          </a:p>
        </p:txBody>
      </p:sp>
      <p:sp>
        <p:nvSpPr>
          <p:cNvPr id="48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1749647"/>
            <a:ext cx="164639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Repos, branches, CI actions and promotion gates for Power Apps solutions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9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7">
            <a:alphaModFix amt="7000"/>
          </a:blip>
          <a:stretch/>
        </p:blipFill>
        <p:spPr>
          <a:xfrm>
            <a:off x="15974187" y="3356896"/>
            <a:ext cx="762000" cy="762000"/>
          </a:xfrm>
          <a:prstGeom prst="rect">
            <a:avLst/>
          </a:prstGeom>
        </p:spPr>
      </p:pic>
      <p:pic>
        <p:nvPicPr>
          <p:cNvPr id="49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9">
            <a:alphaModFix amt="7000"/>
          </a:blip>
          <a:stretch/>
        </p:blipFill>
        <p:spPr>
          <a:xfrm>
            <a:off x="16735425" y="2596039"/>
            <a:ext cx="1524000" cy="762000"/>
          </a:xfrm>
          <a:prstGeom prst="rect">
            <a:avLst/>
          </a:prstGeom>
        </p:spPr>
      </p:pic>
      <p:pic>
        <p:nvPicPr>
          <p:cNvPr id="4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1">
            <a:alphaModFix amt="7000"/>
          </a:blip>
          <a:stretch/>
        </p:blipFill>
        <p:spPr>
          <a:xfrm>
            <a:off x="16735425" y="1074134"/>
            <a:ext cx="800100" cy="1524000"/>
          </a:xfrm>
          <a:prstGeom prst="rect">
            <a:avLst/>
          </a:prstGeom>
        </p:spPr>
      </p:pic>
      <p:pic>
        <p:nvPicPr>
          <p:cNvPr id="5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3">
            <a:alphaModFix amt="7000"/>
          </a:blip>
          <a:stretch/>
        </p:blipFill>
        <p:spPr>
          <a:xfrm>
            <a:off x="15212854" y="2596039"/>
            <a:ext cx="762000" cy="762000"/>
          </a:xfrm>
          <a:prstGeom prst="rect">
            <a:avLst/>
          </a:prstGeom>
        </p:spPr>
      </p:pic>
      <p:pic>
        <p:nvPicPr>
          <p:cNvPr id="5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5">
            <a:alphaModFix amt="7000"/>
          </a:blip>
          <a:stretch/>
        </p:blipFill>
        <p:spPr>
          <a:xfrm>
            <a:off x="2282000" y="2234470"/>
            <a:ext cx="762000" cy="762000"/>
          </a:xfrm>
          <a:prstGeom prst="rect">
            <a:avLst/>
          </a:prstGeom>
        </p:spPr>
      </p:pic>
      <p:pic>
        <p:nvPicPr>
          <p:cNvPr id="5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7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5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9">
            <a:alphaModFix amt="7000"/>
          </a:blip>
          <a:stretch/>
        </p:blipFill>
        <p:spPr>
          <a:xfrm>
            <a:off x="761238" y="2263330"/>
            <a:ext cx="762000" cy="762000"/>
          </a:xfrm>
          <a:prstGeom prst="rect">
            <a:avLst/>
          </a:prstGeom>
        </p:spPr>
      </p:pic>
      <p:pic>
        <p:nvPicPr>
          <p:cNvPr id="50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1">
            <a:alphaModFix amt="7000"/>
          </a:blip>
          <a:stretch/>
        </p:blipFill>
        <p:spPr>
          <a:xfrm>
            <a:off x="1520666" y="741426"/>
            <a:ext cx="762000" cy="1524000"/>
          </a:xfrm>
          <a:prstGeom prst="rect">
            <a:avLst/>
          </a:prstGeom>
        </p:spPr>
      </p:pic>
      <p:pic>
        <p:nvPicPr>
          <p:cNvPr id="510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4">
            <a:alphaModFix amt="100000"/>
            <a:extLst>
              <a:ext uri="{B3B87D31-872A-4B4A-B591-C97E4E5DA9DB}">
                <asvg:svgBlip xmlns:r="http://schemas.openxmlformats.org/officeDocument/2006/relationships" xmlns:asvg="http://schemas.microsoft.com/office/drawing/2016/SVG/main" r:embed="rId153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912763" y="3634830"/>
            <a:ext cx="16430625" cy="1838176"/>
          </a:xfrm>
          <a:prstGeom prst="rect">
            <a:avLst/>
          </a:prstGeom>
        </p:spPr>
      </p:pic>
      <p:sp>
        <p:nvSpPr>
          <p:cNvPr id="511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466" y="5703570"/>
            <a:ext cx="2462212" cy="1209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Define branch policies and protect main</a:t>
            </a:r>
          </a:p>
        </p:txBody>
      </p:sp>
      <p:sp>
        <p:nvSpPr>
          <p:cNvPr id="51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5466" y="7017925"/>
            <a:ext cx="246221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Establish dev, release, main, hotfix naming and protect main branch</a:t>
            </a:r>
          </a:p>
        </p:txBody>
      </p:sp>
      <p:sp>
        <p:nvSpPr>
          <p:cNvPr id="513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03809" y="5703570"/>
            <a:ext cx="2462212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Update CI to build and tag</a:t>
            </a:r>
          </a:p>
        </p:txBody>
      </p:sp>
      <p:sp>
        <p:nvSpPr>
          <p:cNvPr id="514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03809" y="6617875"/>
            <a:ext cx="246221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Configure pipelines to build packages per branch and tag artifacts</a:t>
            </a:r>
          </a:p>
        </p:txBody>
      </p:sp>
      <p:sp>
        <p:nvSpPr>
          <p:cNvPr id="515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42151" y="5703570"/>
            <a:ext cx="2462212" cy="1209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Configure deployments and environments</a:t>
            </a:r>
          </a:p>
        </p:txBody>
      </p:sp>
      <p:sp>
        <p:nvSpPr>
          <p:cNvPr id="516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42151" y="7017925"/>
            <a:ext cx="2462212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Map dev to SIT (managed), release to UAT, main to PreProd and Prod</a:t>
            </a:r>
          </a:p>
        </p:txBody>
      </p:sp>
      <p:sp>
        <p:nvSpPr>
          <p:cNvPr id="517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80493" y="5703570"/>
            <a:ext cx="2462212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Implement Dev2 and hotfix flow</a:t>
            </a:r>
          </a:p>
        </p:txBody>
      </p:sp>
      <p:sp>
        <p:nvSpPr>
          <p:cNvPr id="518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80493" y="6617875"/>
            <a:ext cx="2462212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Enable emergency hotfix branch and require merges back to dev</a:t>
            </a:r>
          </a:p>
        </p:txBody>
      </p:sp>
      <p:sp>
        <p:nvSpPr>
          <p:cNvPr id="519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18836" y="5703570"/>
            <a:ext cx="2462212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Run parallel validation</a:t>
            </a:r>
          </a:p>
        </p:txBody>
      </p:sp>
      <p:sp>
        <p:nvSpPr>
          <p:cNvPr id="520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18836" y="6617875"/>
            <a:ext cx="2462212" cy="16668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Keep environment-driven pipelines read‑only while validating branch promotions</a:t>
            </a:r>
          </a:p>
        </p:txBody>
      </p:sp>
      <p:sp>
        <p:nvSpPr>
          <p:cNvPr id="521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757178" y="5703570"/>
            <a:ext cx="2462212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Cutover and monitor</a:t>
            </a:r>
          </a:p>
        </p:txBody>
      </p:sp>
      <p:sp>
        <p:nvSpPr>
          <p:cNvPr id="522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757178" y="6617875"/>
            <a:ext cx="2462212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Switch primary promotions to branch-driven and verify artifact provenance</a:t>
            </a:r>
          </a:p>
        </p:txBody>
      </p:sp>
      <p:sp>
        <p:nvSpPr>
          <p:cNvPr id="52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879824"/>
            <a:ext cx="16463962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Branch‑Driven ALM Migration and Hotfix Flow</a:t>
            </a:r>
          </a:p>
        </p:txBody>
      </p:sp>
      <p:sp>
        <p:nvSpPr>
          <p:cNvPr id="52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781" y="1749647"/>
            <a:ext cx="164639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Process steps, merge flows, testing gates, and rollback controls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7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30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0">
            <a:alphaModFix amt="100000"/>
          </a:blip>
          <a:stretch/>
        </p:blipFill>
        <p:spPr>
          <a:xfrm>
            <a:off x="6599682" y="0"/>
            <a:ext cx="476101" cy="6789241"/>
          </a:xfrm>
          <a:prstGeom prst="rect">
            <a:avLst/>
          </a:prstGeom>
        </p:spPr>
      </p:pic>
      <p:pic>
        <p:nvPicPr>
          <p:cNvPr id="53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2">
            <a:alphaModFix amt="100000"/>
          </a:blip>
          <a:stretch/>
        </p:blipFill>
        <p:spPr>
          <a:xfrm>
            <a:off x="6599682" y="7812691"/>
            <a:ext cx="476101" cy="2456259"/>
          </a:xfrm>
          <a:prstGeom prst="rect">
            <a:avLst/>
          </a:prstGeom>
        </p:spPr>
      </p:pic>
      <p:pic>
        <p:nvPicPr>
          <p:cNvPr id="5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4">
            <a:alphaModFix amt="100000"/>
          </a:blip>
          <a:stretch/>
        </p:blipFill>
        <p:spPr>
          <a:xfrm>
            <a:off x="8063061" y="1511200"/>
            <a:ext cx="9281815" cy="1145084"/>
          </a:xfrm>
          <a:prstGeom prst="rect">
            <a:avLst/>
          </a:prstGeom>
        </p:spPr>
      </p:pic>
      <p:pic>
        <p:nvPicPr>
          <p:cNvPr id="536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7">
            <a:alphaModFix amt="100000"/>
            <a:extLst>
              <a:ext uri="{F79C08B5-519F-48F7-A91A-EDEEBDB6968F}">
                <asvg:svgBlip xmlns:r="http://schemas.openxmlformats.org/officeDocument/2006/relationships" xmlns:asvg="http://schemas.microsoft.com/office/drawing/2016/SVG/main" r:embed="rId16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8367903" y="1760220"/>
            <a:ext cx="640080" cy="640080"/>
          </a:xfrm>
          <a:prstGeom prst="rect">
            <a:avLst/>
          </a:prstGeom>
        </p:spPr>
      </p:pic>
      <p:sp>
        <p:nvSpPr>
          <p:cNvPr id="538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74683" y="1709452"/>
            <a:ext cx="77962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Adopt </a:t>
            </a:r>
            <a:r>
              <a:rPr lang="en-US" sz="2100" b="1" spc="-38" dirty="0">
                <a:solidFill>
                  <a:srgbClr val="000000"/>
                </a:solidFill>
                <a:latin typeface="Poppins SemiBold" panose="00000700000000000000" pitchFamily="2" charset="0"/>
              </a:rPr>
              <a:t>branch-driven ALM</a:t>
            </a:r>
            <a:r>
              <a:rPr lang="en-US" sz="2100" spc="-38" dirty="0">
                <a:solidFill>
                  <a:srgbClr val="000000"/>
                </a:solidFill>
                <a:latin typeface="Poppins SemiBold" panose="00000700000000000000" pitchFamily="2" charset="0"/>
              </a:rPr>
              <a:t> with branch protections</a:t>
            </a:r>
          </a:p>
        </p:txBody>
      </p:sp>
      <p:sp>
        <p:nvSpPr>
          <p:cNvPr id="540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74683" y="2147411"/>
            <a:ext cx="7796212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Protect master and dev branches; require PRs and CI per branch</a:t>
            </a:r>
          </a:p>
        </p:txBody>
      </p:sp>
      <p:pic>
        <p:nvPicPr>
          <p:cNvPr id="54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9">
            <a:alphaModFix amt="100000"/>
          </a:blip>
          <a:stretch/>
        </p:blipFill>
        <p:spPr>
          <a:xfrm>
            <a:off x="8063198" y="2839784"/>
            <a:ext cx="9281815" cy="1145084"/>
          </a:xfrm>
          <a:prstGeom prst="rect">
            <a:avLst/>
          </a:prstGeom>
        </p:spPr>
      </p:pic>
      <p:pic>
        <p:nvPicPr>
          <p:cNvPr id="544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2">
            <a:alphaModFix amt="100000"/>
            <a:extLst>
              <a:ext uri="{44FC6393-5F31-483C-8C77-D4808045BA76}">
                <asvg:svgBlip xmlns:r="http://schemas.openxmlformats.org/officeDocument/2006/relationships" xmlns:asvg="http://schemas.microsoft.com/office/drawing/2016/SVG/main" r:embed="rId17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8367903" y="3088672"/>
            <a:ext cx="640080" cy="640080"/>
          </a:xfrm>
          <a:prstGeom prst="rect">
            <a:avLst/>
          </a:prstGeom>
        </p:spPr>
      </p:pic>
      <p:sp>
        <p:nvSpPr>
          <p:cNvPr id="546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74683" y="3037904"/>
            <a:ext cx="77962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Automate CI/CD per branch and solution packaging</a:t>
            </a:r>
          </a:p>
        </p:txBody>
      </p:sp>
      <p:sp>
        <p:nvSpPr>
          <p:cNvPr id="548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74683" y="3475863"/>
            <a:ext cx="7796212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Per-branch pipelines for pack, unpack, replace and artifact versioning</a:t>
            </a:r>
          </a:p>
        </p:txBody>
      </p:sp>
      <p:pic>
        <p:nvPicPr>
          <p:cNvPr id="55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4">
            <a:alphaModFix amt="100000"/>
          </a:blip>
          <a:stretch/>
        </p:blipFill>
        <p:spPr>
          <a:xfrm>
            <a:off x="8063061" y="4168081"/>
            <a:ext cx="9281815" cy="1545134"/>
          </a:xfrm>
          <a:prstGeom prst="rect">
            <a:avLst/>
          </a:prstGeom>
        </p:spPr>
      </p:pic>
      <p:pic>
        <p:nvPicPr>
          <p:cNvPr id="552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7">
            <a:alphaModFix amt="100000"/>
            <a:extLst>
              <a:ext uri="{4BFE40C3-A24A-4635-9EA4-3073AF9B1C54}">
                <asvg:svgBlip xmlns:r="http://schemas.openxmlformats.org/officeDocument/2006/relationships" xmlns:asvg="http://schemas.microsoft.com/office/drawing/2016/SVG/main" r:embed="rId17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8367903" y="4617244"/>
            <a:ext cx="640080" cy="640080"/>
          </a:xfrm>
          <a:prstGeom prst="rect">
            <a:avLst/>
          </a:prstGeom>
        </p:spPr>
      </p:pic>
      <p:sp>
        <p:nvSpPr>
          <p:cNvPr id="554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74683" y="4366260"/>
            <a:ext cx="7796212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Formalize hotfix workflow to Dev2 and enforce merge to dev</a:t>
            </a:r>
          </a:p>
        </p:txBody>
      </p:sp>
      <p:sp>
        <p:nvSpPr>
          <p:cNvPr id="556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74683" y="5204365"/>
            <a:ext cx="7796212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Hotfix to Dev2, then merge fixes back to dev to avoid drift</a:t>
            </a:r>
          </a:p>
        </p:txBody>
      </p:sp>
      <p:pic>
        <p:nvPicPr>
          <p:cNvPr id="5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9">
            <a:alphaModFix amt="100000"/>
          </a:blip>
          <a:stretch/>
        </p:blipFill>
        <p:spPr>
          <a:xfrm>
            <a:off x="8063198" y="5893880"/>
            <a:ext cx="9281815" cy="1145084"/>
          </a:xfrm>
          <a:prstGeom prst="rect">
            <a:avLst/>
          </a:prstGeom>
        </p:spPr>
      </p:pic>
      <p:pic>
        <p:nvPicPr>
          <p:cNvPr id="560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2">
            <a:alphaModFix amt="100000"/>
            <a:extLst>
              <a:ext uri="{B80B40A3-CC13-4D3D-83EE-F603D18A31E3}">
                <asvg:svgBlip xmlns:r="http://schemas.openxmlformats.org/officeDocument/2006/relationships" xmlns:asvg="http://schemas.microsoft.com/office/drawing/2016/SVG/main" r:embed="rId18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8367903" y="6142863"/>
            <a:ext cx="640080" cy="640080"/>
          </a:xfrm>
          <a:prstGeom prst="rect">
            <a:avLst/>
          </a:prstGeom>
        </p:spPr>
      </p:pic>
      <p:sp>
        <p:nvSpPr>
          <p:cNvPr id="562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74683" y="6092000"/>
            <a:ext cx="77962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Instrument telemetry and artifact provenance</a:t>
            </a:r>
          </a:p>
        </p:txBody>
      </p:sp>
      <p:sp>
        <p:nvSpPr>
          <p:cNvPr id="564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74683" y="6530054"/>
            <a:ext cx="7796212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Track who built what, where and when for traceability</a:t>
            </a:r>
          </a:p>
        </p:txBody>
      </p:sp>
      <p:pic>
        <p:nvPicPr>
          <p:cNvPr id="5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4">
            <a:alphaModFix amt="100000"/>
          </a:blip>
          <a:stretch/>
        </p:blipFill>
        <p:spPr>
          <a:xfrm>
            <a:off x="8063198" y="7222331"/>
            <a:ext cx="9281815" cy="1545134"/>
          </a:xfrm>
          <a:prstGeom prst="rect">
            <a:avLst/>
          </a:prstGeom>
        </p:spPr>
      </p:pic>
      <p:pic>
        <p:nvPicPr>
          <p:cNvPr id="568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7">
            <a:alphaModFix amt="100000"/>
            <a:extLst>
              <a:ext uri="{7B8EDDB3-A94D-4201-8A31-E73D1C6EC72E}">
                <asvg:svgBlip xmlns:r="http://schemas.openxmlformats.org/officeDocument/2006/relationships" xmlns:asvg="http://schemas.microsoft.com/office/drawing/2016/SVG/main" r:embed="rId18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8367903" y="7671340"/>
            <a:ext cx="640080" cy="640080"/>
          </a:xfrm>
          <a:prstGeom prst="rect">
            <a:avLst/>
          </a:prstGeom>
        </p:spPr>
      </p:pic>
      <p:sp>
        <p:nvSpPr>
          <p:cNvPr id="570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74683" y="7420451"/>
            <a:ext cx="7796212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Train developers on new pack/unpack flows and update runbooks</a:t>
            </a:r>
          </a:p>
        </p:txBody>
      </p:sp>
      <p:sp>
        <p:nvSpPr>
          <p:cNvPr id="572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74683" y="8258556"/>
            <a:ext cx="7796212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Hands-on training and updated runbooks for new processes</a:t>
            </a:r>
          </a:p>
        </p:txBody>
      </p:sp>
      <p:sp>
        <p:nvSpPr>
          <p:cNvPr id="57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0881" y="3621786"/>
            <a:ext cx="5243512" cy="2200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Recommendations, Risks, and Next Steps</a:t>
            </a:r>
          </a:p>
        </p:txBody>
      </p:sp>
      <p:sp>
        <p:nvSpPr>
          <p:cNvPr id="57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0881" y="5933408"/>
            <a:ext cx="524351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Pilot branch-driven ALM with protected branches, automated packaging, and formal hotfix flow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Exporter Version: 2.6.0.0, docId: 25018305, orderId: 10074186</dc:title>
  <dc:creator>Presentations.AI Exporter</dc:creator>
  <lastModifiedBy>Presentations.AI Exporter</lastModifiedBy>
  <revision>1</revision>
  <dcterms:created xsi:type="dcterms:W3CDTF">2025-12-09T16:47:42.0000000Z</dcterms:created>
  <dcterms:modified xsi:type="dcterms:W3CDTF">2025-12-09T16:47:42.0000000Z</dcterms:modified>
</coreProperties>
</file>